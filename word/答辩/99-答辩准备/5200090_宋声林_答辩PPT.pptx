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35.svg" ContentType="image/svg+xml"/>
  <Override PartName="/ppt/media/image37.svg" ContentType="image/svg+xml"/>
  <Override PartName="/ppt/media/image4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
  </p:notesMasterIdLst>
  <p:handoutMasterIdLst>
    <p:handoutMasterId r:id="rId37"/>
  </p:handoutMasterIdLst>
  <p:sldIdLst>
    <p:sldId id="256" r:id="rId3"/>
    <p:sldId id="258" r:id="rId5"/>
    <p:sldId id="257" r:id="rId6"/>
    <p:sldId id="348" r:id="rId7"/>
    <p:sldId id="374" r:id="rId8"/>
    <p:sldId id="265" r:id="rId9"/>
    <p:sldId id="352" r:id="rId10"/>
    <p:sldId id="269" r:id="rId11"/>
    <p:sldId id="361" r:id="rId12"/>
    <p:sldId id="354" r:id="rId13"/>
    <p:sldId id="356" r:id="rId14"/>
    <p:sldId id="357" r:id="rId15"/>
    <p:sldId id="358" r:id="rId16"/>
    <p:sldId id="359" r:id="rId17"/>
    <p:sldId id="375" r:id="rId18"/>
    <p:sldId id="376" r:id="rId19"/>
    <p:sldId id="300" r:id="rId20"/>
    <p:sldId id="362" r:id="rId21"/>
    <p:sldId id="363" r:id="rId22"/>
    <p:sldId id="364" r:id="rId23"/>
    <p:sldId id="377" r:id="rId24"/>
    <p:sldId id="378" r:id="rId25"/>
    <p:sldId id="379" r:id="rId26"/>
    <p:sldId id="273" r:id="rId27"/>
    <p:sldId id="266" r:id="rId28"/>
    <p:sldId id="368" r:id="rId29"/>
    <p:sldId id="369" r:id="rId30"/>
    <p:sldId id="380" r:id="rId31"/>
    <p:sldId id="381" r:id="rId32"/>
    <p:sldId id="332" r:id="rId33"/>
    <p:sldId id="280" r:id="rId34"/>
    <p:sldId id="371" r:id="rId35"/>
    <p:sldId id="271"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与目录" id="{1A7A81C5-FF27-43F6-8460-8E4788E2FC9E}">
          <p14:sldIdLst>
            <p14:sldId id="256"/>
            <p14:sldId id="258"/>
          </p14:sldIdLst>
        </p14:section>
        <p14:section name="1 研究背景与意义" id="{1c26416f-e267-492c-bf3e-d86eb3640f52}">
          <p14:sldIdLst>
            <p14:sldId id="257"/>
            <p14:sldId id="348"/>
            <p14:sldId id="374"/>
          </p14:sldIdLst>
        </p14:section>
        <p14:section name="2 研究现状" id="{182effb5-e91f-4b07-867d-1e1c3c592c97}">
          <p14:sldIdLst>
            <p14:sldId id="265"/>
            <p14:sldId id="352"/>
          </p14:sldIdLst>
        </p14:section>
        <p14:section name="3 研究内容" id="{9cf8ca03-58cd-41b0-819e-30db6a021c34}">
          <p14:sldIdLst>
            <p14:sldId id="269"/>
            <p14:sldId id="361"/>
            <p14:sldId id="354"/>
            <p14:sldId id="356"/>
            <p14:sldId id="357"/>
            <p14:sldId id="358"/>
            <p14:sldId id="359"/>
            <p14:sldId id="375"/>
            <p14:sldId id="376"/>
          </p14:sldIdLst>
        </p14:section>
        <p14:section name="4 实验设计与分析" id="{5c969d72-6a18-47e6-a00a-b236f854149b}">
          <p14:sldIdLst>
            <p14:sldId id="300"/>
            <p14:sldId id="362"/>
            <p14:sldId id="363"/>
            <p14:sldId id="364"/>
            <p14:sldId id="377"/>
            <p14:sldId id="378"/>
            <p14:sldId id="379"/>
          </p14:sldIdLst>
        </p14:section>
        <p14:section name="5 系统设计与实现" id="{D163E202-5DF5-496D-B50E-7F2699CA669E}">
          <p14:sldIdLst>
            <p14:sldId id="273"/>
            <p14:sldId id="266"/>
            <p14:sldId id="368"/>
            <p14:sldId id="369"/>
            <p14:sldId id="380"/>
            <p14:sldId id="381"/>
          </p14:sldIdLst>
        </p14:section>
        <p14:section name="6 总结与展望" id="{4190ba30-b017-4531-bce3-f3e931e2fe57}">
          <p14:sldIdLst>
            <p14:sldId id="332"/>
            <p14:sldId id="280"/>
            <p14:sldId id="371"/>
          </p14:sldIdLst>
        </p14:section>
        <p14:section name="汇报完毕" id="{9c82d893-8fd7-4904-89be-7bae2255a6ac}">
          <p14:sldIdLst>
            <p14:sldId id="271"/>
          </p14:sldIdLst>
        </p14:section>
      </p14:sectionLst>
    </p:ext>
    <p:ext uri="{EFAFB233-063F-42B5-8137-9DF3F51BA10A}">
      <p15:sldGuideLst xmlns:p15="http://schemas.microsoft.com/office/powerpoint/2012/main">
        <p15:guide id="1" orient="horz" pos="2160" userDrawn="1">
          <p15:clr>
            <a:srgbClr val="A4A3A4"/>
          </p15:clr>
        </p15:guide>
        <p15:guide id="2" pos="304" userDrawn="1">
          <p15:clr>
            <a:srgbClr val="A4A3A4"/>
          </p15:clr>
        </p15:guide>
        <p15:guide id="3" pos="7152" userDrawn="1">
          <p15:clr>
            <a:srgbClr val="A4A3A4"/>
          </p15:clr>
        </p15:guide>
        <p15:guide id="5" orient="horz" pos="4119" userDrawn="1">
          <p15:clr>
            <a:srgbClr val="A4A3A4"/>
          </p15:clr>
        </p15:guide>
        <p15:guide id="6" orient="horz" pos="16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46158" initials="4"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07264"/>
    <a:srgbClr val="B46127"/>
    <a:srgbClr val="E5ECE9"/>
    <a:srgbClr val="16583D"/>
    <a:srgbClr val="005478"/>
    <a:srgbClr val="9BB0A5"/>
    <a:srgbClr val="3C86AD"/>
    <a:srgbClr val="394B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559"/>
    <p:restoredTop sz="71760"/>
  </p:normalViewPr>
  <p:slideViewPr>
    <p:cSldViewPr snapToGrid="0" showGuides="1">
      <p:cViewPr>
        <p:scale>
          <a:sx n="50" d="100"/>
          <a:sy n="50" d="100"/>
        </p:scale>
        <p:origin x="764" y="4"/>
      </p:cViewPr>
      <p:guideLst>
        <p:guide orient="horz" pos="2160"/>
        <p:guide pos="304"/>
        <p:guide pos="7152"/>
        <p:guide orient="horz" pos="4119"/>
        <p:guide orient="horz" pos="1625"/>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0" d="100"/>
          <a:sy n="80" d="100"/>
        </p:scale>
        <p:origin x="3018"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105.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4BC51D-D6F2-4480-B390-3DCCECF9602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2B4D6-8786-47D8-B077-A326E41125B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E5D13-FF41-4EEB-9990-E60D28C985F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2A1525-66D1-4075-BF5B-54C75808F4D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各位老师下午好。</a:t>
            </a:r>
            <a:endParaRPr lang="en-US" altLang="zh-CN" dirty="0" smtClean="0"/>
          </a:p>
          <a:p>
            <a:r>
              <a:rPr lang="zh-CN" altLang="en-US" dirty="0" smtClean="0"/>
              <a:t>丁龙飞</a:t>
            </a:r>
            <a:endParaRPr lang="en-US" altLang="zh-CN" dirty="0" smtClean="0"/>
          </a:p>
          <a:p>
            <a:r>
              <a:rPr lang="zh-CN" altLang="en-US" dirty="0" smtClean="0"/>
              <a:t>题目</a:t>
            </a:r>
            <a:r>
              <a:rPr lang="en-US" altLang="zh-CN" dirty="0" smtClean="0"/>
              <a:t>:</a:t>
            </a:r>
            <a:r>
              <a:rPr lang="zh-CN" altLang="zh-CN" sz="1200" dirty="0" smtClean="0">
                <a:solidFill>
                  <a:schemeClr val="accent1"/>
                </a:solidFill>
                <a:latin typeface="黑体" panose="02010609060101010101" charset="-122"/>
                <a:ea typeface="黑体" panose="02010609060101010101" charset="-122"/>
              </a:rPr>
              <a:t>基于</a:t>
            </a:r>
            <a:r>
              <a:rPr lang="en-US" altLang="zh-CN" sz="1200" dirty="0" err="1" smtClean="0">
                <a:solidFill>
                  <a:schemeClr val="accent1"/>
                </a:solidFill>
                <a:latin typeface="黑体" panose="02010609060101010101" charset="-122"/>
                <a:ea typeface="黑体" panose="02010609060101010101" charset="-122"/>
              </a:rPr>
              <a:t>BACnet</a:t>
            </a:r>
            <a:r>
              <a:rPr lang="zh-CN" altLang="zh-CN" sz="1200" dirty="0" smtClean="0">
                <a:solidFill>
                  <a:schemeClr val="accent1"/>
                </a:solidFill>
                <a:latin typeface="黑体" panose="02010609060101010101" charset="-122"/>
                <a:ea typeface="黑体" panose="02010609060101010101" charset="-122"/>
              </a:rPr>
              <a:t>与</a:t>
            </a:r>
            <a:r>
              <a:rPr lang="en-US" altLang="zh-CN" sz="1200" dirty="0" smtClean="0">
                <a:solidFill>
                  <a:schemeClr val="accent1"/>
                </a:solidFill>
                <a:latin typeface="黑体" panose="02010609060101010101" charset="-122"/>
                <a:ea typeface="黑体" panose="02010609060101010101" charset="-122"/>
              </a:rPr>
              <a:t>DPDK</a:t>
            </a:r>
            <a:r>
              <a:rPr lang="zh-CN" altLang="zh-CN" sz="1200" dirty="0" smtClean="0">
                <a:solidFill>
                  <a:schemeClr val="accent1"/>
                </a:solidFill>
                <a:latin typeface="黑体" panose="02010609060101010101" charset="-122"/>
                <a:ea typeface="黑体" panose="02010609060101010101" charset="-122"/>
              </a:rPr>
              <a:t>的楼宇物联网系统的设计与实现</a:t>
            </a:r>
            <a:endParaRPr lang="en-US" altLang="zh-CN" sz="1200" dirty="0" smtClean="0">
              <a:solidFill>
                <a:schemeClr val="accent1"/>
              </a:solidFill>
              <a:latin typeface="黑体" panose="02010609060101010101" charset="-122"/>
              <a:ea typeface="黑体" panose="02010609060101010101"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我的导师是</a:t>
            </a:r>
            <a:r>
              <a:rPr lang="zh-CN" altLang="en-US" dirty="0" smtClean="0">
                <a:latin typeface="黑体" panose="02010609060101010101" charset="-122"/>
                <a:ea typeface="黑体" panose="02010609060101010101" charset="-122"/>
              </a:rPr>
              <a:t>陈志泊教授</a:t>
            </a:r>
            <a:endParaRPr lang="zh-CN" altLang="en-US" dirty="0" smtClean="0">
              <a:latin typeface="黑体" panose="02010609060101010101" charset="-122"/>
              <a:ea typeface="黑体" panose="02010609060101010101" charset="-122"/>
            </a:endParaRPr>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下面我将</a:t>
            </a:r>
            <a:r>
              <a:rPr lang="zh-CN" altLang="en-US" dirty="0" smtClean="0"/>
              <a:t>从</a:t>
            </a:r>
            <a:r>
              <a:rPr kumimoji="0" lang="zh-CN" altLang="en-US" sz="1200" b="0" i="0" u="none" strike="noStrike" kern="1200" cap="none" spc="400" normalizeH="0" baseline="0" noProof="0" dirty="0" smtClean="0">
                <a:ln>
                  <a:noFill/>
                </a:ln>
                <a:solidFill>
                  <a:schemeClr val="accent1"/>
                </a:solidFill>
                <a:effectLst/>
                <a:uLnTx/>
                <a:uFillTx/>
                <a:latin typeface="黑体" panose="02010609060101010101" charset="-122"/>
                <a:ea typeface="黑体" panose="02010609060101010101" charset="-122"/>
              </a:rPr>
              <a:t>研究背景及意义、研究现状、</a:t>
            </a:r>
            <a:r>
              <a:rPr lang="zh-CN" altLang="en-US" sz="1200" spc="400" dirty="0" smtClean="0">
                <a:solidFill>
                  <a:schemeClr val="accent1"/>
                </a:solidFill>
                <a:latin typeface="黑体" panose="02010609060101010101" charset="-122"/>
                <a:ea typeface="黑体" panose="02010609060101010101" charset="-122"/>
              </a:rPr>
              <a:t>研究方法</a:t>
            </a:r>
            <a:r>
              <a:rPr kumimoji="0" lang="zh-CN" altLang="en-US" sz="1200" b="0" i="0" u="none" strike="noStrike" kern="1200" cap="none" spc="400" normalizeH="0" baseline="0" noProof="0" dirty="0" smtClean="0">
                <a:ln>
                  <a:noFill/>
                </a:ln>
                <a:solidFill>
                  <a:schemeClr val="accent1"/>
                </a:solidFill>
                <a:effectLst/>
                <a:uLnTx/>
                <a:uFillTx/>
                <a:latin typeface="黑体" panose="02010609060101010101" charset="-122"/>
                <a:ea typeface="黑体" panose="02010609060101010101" charset="-122"/>
              </a:rPr>
              <a:t>、研究</a:t>
            </a:r>
            <a:r>
              <a:rPr lang="zh-CN" altLang="en-US" sz="1200" spc="400" dirty="0" smtClean="0">
                <a:solidFill>
                  <a:schemeClr val="accent1"/>
                </a:solidFill>
                <a:latin typeface="黑体" panose="02010609060101010101" charset="-122"/>
                <a:ea typeface="黑体" panose="02010609060101010101" charset="-122"/>
              </a:rPr>
              <a:t>工作说明、系统展示、总结与展望</a:t>
            </a:r>
            <a:endParaRPr kumimoji="0" lang="zh-CN" altLang="en-US" sz="1200" b="0" i="0" u="none" strike="noStrike" kern="1200" cap="none" spc="400" normalizeH="0" baseline="0" noProof="0" dirty="0" smtClean="0">
              <a:ln>
                <a:noFill/>
              </a:ln>
              <a:solidFill>
                <a:schemeClr val="accent1"/>
              </a:solidFill>
              <a:effectLst/>
              <a:uLnTx/>
              <a:uFillTx/>
              <a:latin typeface="黑体" panose="02010609060101010101" charset="-122"/>
              <a:ea typeface="黑体" panose="02010609060101010101"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p>
          <a:p>
            <a:r>
              <a:rPr lang="en-US" altLang="zh-CN" dirty="0" smtClean="0"/>
              <a:t>6</a:t>
            </a:r>
            <a:r>
              <a:rPr lang="zh-CN" altLang="en-US" dirty="0"/>
              <a:t>个方面来进行答辩。</a:t>
            </a:r>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a:t>古树名木是自然生态与历史文化的重要载体。当前管理中存在两个突出问题：一是图像与地理位置元数据割裂存储，缺乏统一检索索引；二是单模态图像检索难以区分形态相似的树种。深度学习技术的发展为解决上述问题提供了新思路。</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a:sym typeface="+mn-ea"/>
              </a:rPr>
              <a:t>本文提出融合图像与地理位置元数据的多模态哈希检索模型 </a:t>
            </a:r>
            <a:r>
              <a:rPr lang="en-US" altLang="zh-CN" dirty="0">
                <a:sym typeface="+mn-ea"/>
              </a:rPr>
              <a:t>DHLM，</a:t>
            </a:r>
            <a:r>
              <a:rPr lang="zh-CN" altLang="en-US" dirty="0">
                <a:sym typeface="+mn-ea"/>
              </a:rPr>
              <a:t>并构建配套检索系统，旨在提升林业管理部门的检索效率、降低人工成本。</a:t>
            </a:r>
            <a:endParaRPr lang="zh-CN" altLang="en-US" dirty="0">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研究现状可概括为三条线。</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第一，单模态深度哈希方法如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HashNet、DCH、MDSH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取得了显著进展，但缺乏对地理位置元数据的利用。</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第二，多模态融合技术多面向图像-文本场景，将地理位置元数据作为结构化独立模态的融合策略研究不足。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第三，</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Space2Vec、GeoCLIP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等方法聚焦地理定位任务，不涉及哈希码生成与高效检索。因此，面向古树名木的图像-地理位置元数据哈希检索仍存在研究空白。</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【2.1 设计动机：为什么提出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古树名木检索面临三个核心问题：</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1. 图像与地理位置元数据割裂存储，缺乏统一索引</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2. 单一图像模态难以区分形态相似的树种（如不同栎属树种外观相近）</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3. 现有深度哈希方法多为单模态，且未考虑地理位置元数据价值</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因此，本文的核心思路是：</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"将地理位置元数据作为辅助模态引入深度哈希框架，利用位置先验缓解</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形态相似树种的视觉歧义，同时通过二进制哈希码实现高效检索。"</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本文主要工作包括三点：</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第一，提出基于深度哈希学习的多模态检索模型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第二，在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和自建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数据集上开展多维度实验验证；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第三，基于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Vue+SpringBoot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研建古树名木多模态展示与检索系统。</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技术路线如图所示：首先开展模型设计，然后在大规模通用数据集上进行预训练与对比实验，最后在领域数据集上微调并部署到检索系统中。</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图像分支采用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ResNet-50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提取512维图像特征；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位置分支采用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LocationEncoder（MLP 2→128→128→256）</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编码256维位置特征；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融合后通过哈希层映射为128位二进制哈希码；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检索层支持以图搜图（</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以图搜位置（</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和以位置搜图（</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4</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论文3.2.1从网络架构角度归纳为四个核心部分，3.2.5损失函数是贯穿训练过程的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优化策略，不属于前向网络结构。但鉴于三损失联合与难例挖掘对模型性能影响显著，</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我在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PPT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14</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页中将其单列为一页进行说明，确保评审老师能完整了解模型设计。</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2</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：你论文写四个部分，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PPT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讲五个；图上没画</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文字却写了，是不是为了凑创新点临时加的内容？"</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论文3.2.1从网络结构角度定义四个核心部分，损失函数和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属于训练策略，不在前向架构中体现。</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PPT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为了评审老师能完整理解模型，将训练策略单独展开说明。</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论文图3.1和文字3.2.5严格对应，不存在临时添加。"</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编码层包含两个独立分支。图像分支采用在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ImageNet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上预训练的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ResNet-50，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去除分类头后通过全局平均池化和投影层输出 512 维图像特征向量。选择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ResNet-50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是为了在特征表达能力和计算效率之间取得平衡。位置分支设计了一个轻量化的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LocationEncoder，</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采用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结构 2→128→128→256，将二维位置坐标映射为 256 维位置特征向量。两个分支独立工作，分别输出图像与位置的特征向量，为后续多模态融合提供基础。</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【2.3 图像分支为什么用 </a:t>
            </a:r>
            <a:r>
              <a:rPr lang="en-US" altLang="zh-CN"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ResNet-50？】</a:t>
            </a:r>
            <a:endParaRPr lang="en-US" altLang="zh-CN"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ResNet-50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是经典的图像特征提取网络，在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ImageNet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上预训练，特征表达能力强</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- 50 层网络在精度和计算量之间平衡，适合本任务规模</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去除分类头后通过全局平均池化输出 512 维特征，可直接用于哈希学习</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与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HashNet、DCH、MDSH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等基线方法统一骨干网络，保证对比公平性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【2.4 位置分支为什么设计 </a:t>
            </a:r>
            <a:r>
              <a:rPr lang="en-US" altLang="zh-CN"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LocationEncoder？</a:t>
            </a:r>
            <a:r>
              <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为什么用 </a:t>
            </a:r>
            <a:r>
              <a:rPr lang="en-US" altLang="zh-CN"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MLP？】</a:t>
            </a:r>
            <a:endParaRPr lang="en-US" altLang="zh-CN"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为什么需要位置编码：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地理位置坐标是 2</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连续值（纬度、经度），无法直接输入深度神经网络</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需要将坐标映射到与图像特征兼容的高维语义空间</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为什么用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 2→128→128→256：</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输入维度低（2</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D），MLP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足够捕捉非线性映射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相比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Space2Vec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等多尺度正弦编码，</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可学习数据驱动的位置表示</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相比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Transformer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等序列模型，</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更适合结构化坐标输入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参数量可控，避免在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小数据集上过拟合</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如果被追问"有没有和 </a:t>
            </a:r>
            <a:r>
              <a:rPr lang="en-US" altLang="zh-CN"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Space2Vec </a:t>
            </a:r>
            <a:r>
              <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对比？"：</a:t>
            </a:r>
            <a:endPar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Space2Vec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是一种基于多尺度正弦余弦变换的固定位置编码方法，类似于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Transformer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的位置编码，不需要训练但编码模式固定。</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是可学习的多层感知机，能够从数据中自动学习位置表示。以北京颐和园坐标为例，</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Space2Vec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会按固定公式展开经纬度，</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而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会根据训练数据中的古树名木分布学习到这个位置附近有哪些树种、与哪些位置容易混淆等任务相关信息。</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因此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选择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作为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LocationEncoder，</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既保证了任务自适应性，又控制了模型复杂度。</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多模态融合层采用特征拼接方法，将 512 维图像特征与 256 维位置特征拼接为 768 维融合特征。为系统论证融合策略选择，本文在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验证集上对比了特征拼接、门控融合、逐元素相加和逐元素相乘四种方案。</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实验结果见表 3.7：特征拼接取得最优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0.741，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门控融合次之 0.738，二者差距仅 0.3 个百分点。考虑到门控网络引入的额外参数在小规模数据集上收益有限且易过拟合，而相加/相乘在模态语义未充分对齐时易造成信息抵消或放大失真，因此本文选用特征拼接作为主方案。这是数据驱动的工程取舍。</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老师问题：此处是老师最可能追问的地方，要讲清楚"为什么不是门控/注意力"？</a:t>
            </a:r>
            <a:endPar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【2.5 多模态融合为什么选特征拼接？】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理论分析：</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特征拼接：保留各模态完整信息，不引入额外参数，将模态关系学习交给后续哈希层</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逐元素相加/相乘：在语义未充分对齐时易造成信息抵消或放大失真</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门控融合：虽具动态调整能力，但门控网络引入额外参数，在小规模数据集收益有限</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实验验证：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表 3.7 显示：特征拼接 0.741 &gt; 门控 0.738 &gt; 相加 0.729 &gt; 相乘 0.712</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特征拼接与门控差距仅 0.3 个百分点，但门控参数量更大、风险更高</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因此选择特征拼接作为最优融合策略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哈希层的核心挑战是连续特征到离散哈希码的映射不可微。本文采用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FC-Tanh-Sign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三段式结构：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FC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将融合特征映射到 128 维；</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Tanh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在训练阶段输出[-1,1]连续值，保证梯度正常回传；</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Sign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在推理阶段将连续值量化为{+1,-1}二进制哈希码。同时引入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Quantization Loss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约束连续输出趋近于±1，减小训练与推理之间的量化鸿沟。哈希码长度选择 128 位，参考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HashNet、DCH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等基线，平衡检索精度与存储开销。</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模型采用三损失联合优化。</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作为主导损失，权重为 10/16，负责拉大类间距离；</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Contrastive Loss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权重为 5/16，辅助增强类内聚集；</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Quantization Loss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权重为 1/16，约束哈希层输出趋近±1。权重配比通过预实验搜索确定。</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此外，针对古树名木数据集的长尾分布，采用在线难例挖掘策略动态选择困难样本，缓解尾部类别训练不充分的问题。</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rPr>
              <a:t>孙老师可能问"三个权重为什么是 10:5:1"，要讲"主导-辅助-约束的分级设计原则"。</a:t>
            </a:r>
            <a:endParaRPr lang="zh-CN" altLang="en-US" dirty="0" smtClean="0">
              <a:solidFill>
                <a:schemeClr val="tx1"/>
              </a:solidFill>
              <a:highlight>
                <a:srgbClr val="FF0000"/>
              </a:highlight>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：长尾分布</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特性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uFillTx/>
                <a:latin typeface="黑体" panose="02010609060101010101" charset="-122"/>
                <a:ea typeface="黑体" panose="02010609060101010101" charset="-122"/>
                <a:cs typeface="黑体" panose="02010609060101010101" charset="-122"/>
                <a:sym typeface="+mn-ea"/>
              </a:rPr>
              <a:t>长尾分布特性：少数常见树种（如侧柏、油松）拥有大量样本记录，而多数珍稀树种样本稀少，类别间样本数量差异悬殊</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2</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：老师质疑图上没画</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是不是临时加上去的？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是在线难例挖掘策略，属于训练阶段的样本采样机制，不是网络结构组件，因此按照学术惯例不画在架构图中。论文3.2.5节对其有完整的形式化定义和</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作用机制说明——它通过在训练批次中动态选择困难样本，缓解古树名木数据集的类别不平衡问题。这与模型架构图展示前向推理数据流的功能是互补的。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：老师追问</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创新性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本身不是本文首创，但将其应用于古树名木检索的长尾分布场景，与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Loss+Contrastive Loss+Quantization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的三损失联合设计相配合，</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是针对古树名木数据特性的训练策略优化，实验表明对尾部树种检索性能有显著提升。</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检索层支持三种模式：以图搜图、以图搜位置和以位置搜图。在推理阶段，128 位二进制哈希码通过汉明距离进行相似度计算，单次检索耗时仅 0.8 毫秒，相比 512 维浮点余弦检索的 12.6 毫秒提升约 15.8 倍。系统还可采用哈希粗排加浮点精排的多级策略兼顾效率与精度。</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实验采用通用数据集预训练加领域数据集验证的分层策略。</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共 12,544 张图像、197 物种，按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7</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:2:1 划分为训练、验证、测试集，用于预训练和性能对比。自建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数据集 300 张、15 个树种，用于领域微调和系统演示。实验环境为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CentOS 7、RTX 4090、PyTorch 2.1.0。</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双向检索策略：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以图搜图）：图像查询→图像数据库，同物种视为相关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以图搜位置）：图像查询→返回数据库已知位置，&lt;1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视为相关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L2I（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以位置搜图）：位置坐标查询→图像数据库，&lt;1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视为相关"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红线提醒：-这是检索任务，不是分类任务，所以不用准确率/</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F1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值</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表 3.4 展示了单向检索性能对比。</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取得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0.741，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比最优基线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提升 5.6 个百分点。这个提升可分解为两部分：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DHLM-Image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单模态变体取得 0.713，优于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 2.8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个百分点，验证了联合损失与难例挖掘策略的核心设计贡献；完整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相比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DHLM-Image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再提升 2.8 个百分点，验证了地理位置元数据融合的贡献</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关键结论：</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 DHLM-Image（</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单模态）</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0.713，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优于最优基线</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 2.8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个百分点 → 验证联合损失+难例挖掘策略的有效性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 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双模态）</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0.741，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较</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DHLM-Image</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提升2.8个百分点→ 验证地理位置元数据融合的贡献</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 核心设计贡献 + 多模态增益= 总计+5.6%</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从实验结果可以看出，本文提出的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模型在所有评价指标上均优于三个基线方法，取得了较好的综合检索性能。</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达到0.741，相较于最优基线方法</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的0.685提升5.6个百分点；</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Precision@1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达到0.578，表明模型返回的第一个结果有57.8%的概率是正确的；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达到0.578，表明57.8%的查询在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Top-1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即命中目标类别；</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达到0.803，</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达到0.887，表明绝大多数查询能在前10位结果中成功检索到相关古树名木样本。</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只有300张，消融可信吗？</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核心对比在12,450张的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上完成，</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观察相对贡献趋势。</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表 3.5 评估了三种双向检索任务。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 mAP 0.741，I2L mAP 0.698，L2I mAP 0.672。I2L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绝对值低于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这符合多模态检索的固有难度，但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Recall@5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分别达到 0.765 和 0.748，能够满足实际应用需求。</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任务作为传统图像检索方向，</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达到0.741，与（1）节结果一致，验证了模型在图像特征判别上的有效性。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2</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为0.698，低于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任务（差距4.3个百分点）。这一性能差距源于三方面因素：首先，</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属于多模态检索（图像→位置），需要建立图像特征与位置特征的多模态映射，本身难度高于同模态的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检索；其次，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是“高维→低维”映射（512维图像特征→2维坐标），信息压缩导致判别性下降；最后，地理距离阈值（&lt;1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引入判定噪声——同类别古树名木在野外分布中可能存在空间分离，同一位置范围内也可能存在不同树种，导致位置相关性的判定比图像相似性更具挑战性。尽管如此，</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达到0.765，表明模型能够以较高概率在前五位结果中返回距离查询图像1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范围内的古树名木位置，验证了“以图搜位置”能力的有效性。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为0.672，是三种任务中最低的。这一结果符合预期：</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属于“低维→高维”检索（2维坐标→512维图像特征），从稀疏的位置信息推断丰富的图像内容本身具有更大的歧义性；同时，同一地理范围内可能存在多种古树名木，仅凭位置坐标难以精确区分。然而，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达到0.748表明，给定一个地理位置，模型能够有效检索出该位置附近的古树名木图像，满足“以位置搜图”的实际应用需求。</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a:sym typeface="+mn-ea"/>
              </a:rPr>
              <a:t>哈希码检索效率验证见</a:t>
            </a:r>
            <a:r>
              <a:rPr lang="zh-CN" altLang="en-US">
                <a:sym typeface="+mn-ea"/>
              </a:rPr>
              <a:t>详</a:t>
            </a:r>
            <a:r>
              <a:rPr lang="zh-CN" altLang="en-US">
                <a:sym typeface="+mn-ea"/>
              </a:rPr>
              <a:t>表</a:t>
            </a:r>
            <a:r>
              <a:rPr lang="en-US" altLang="zh-CN">
                <a:sym typeface="+mn-ea"/>
              </a:rPr>
              <a:t>3.5</a:t>
            </a:r>
            <a:r>
              <a:rPr lang="zh-CN" altLang="en-US">
                <a:sym typeface="+mn-ea"/>
              </a:rPr>
              <a:t>及其分析（</a:t>
            </a:r>
            <a:r>
              <a:rPr lang="zh-CN" altLang="en-US" dirty="0" smtClean="0">
                <a:uFillTx/>
                <a:latin typeface="黑体" panose="02010609060101010101" charset="-122"/>
                <a:ea typeface="黑体" panose="02010609060101010101" charset="-122"/>
                <a:cs typeface="黑体" panose="02010609060101010101" charset="-122"/>
                <a:sym typeface="+mn-ea"/>
              </a:rPr>
              <a:t>128位哈希码在精度损失可控（-2.9%）的前提下，大幅提升了检索效率与存储效率</a:t>
            </a:r>
            <a:r>
              <a:rPr lang="zh-CN" altLang="en-US">
                <a:sym typeface="+mn-ea"/>
              </a:rPr>
              <a: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融合层策略对比试验见表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3.6</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及其分析，篇幅问题</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这里不再重复展开。</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消融实验在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验证集上进行，样本量 2,509 张，统计更稳健。去除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Location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后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 0.713，下降 2.8 个百分点，说明地理位置元数据是核心模块；去除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后降至 0.726，下降 1.5 个百分点，验证了难例挖掘对长尾分布的优化作用；去除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Quantization Loss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后降至 0.735，下降 0.6 个百分点，说明该损失对减小训练-推理鸿沟具有重要作用。</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实验结果见上表3.7所示。在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验证集上，</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FULL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配置取得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0.741、P@1=0.578、R@5=0.803、R@10=0.887。</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w/o Location</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配置取得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mAP=0.713，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相比</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FULL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下降约2.8个百分点，同时</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降至0.548、</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降至0.862，表明地理位置元数据同时对头部命中率和尾部召回有显著影响，是多模态融合的核心模块。</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w/o 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mAP=0.726，</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下降约1.3个百分点，</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降至0.563、</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降至0.875，验证了在线难例挖掘策略对长尾分布类别不平衡问题的优化作用；在缺少难例挖掘时，模型对尾部类别的判别能力下降，导致头部命中率损失明显。</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w/o Quantization</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mAP=0.735，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下降约0.6个百分点，</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降至0.573、</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降至0.884；虽然绝对影响相对较小，但该损失对约束连续特征与离散哈希码的分布差异、减小训练-推理鸿沟具有重要作用，移除后哈希层输出偏离±1的程度增大，导致汉明距离检索精度略有下降。</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回应盲审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："样本量"的潜在质疑</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消融实验在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验证集（2509张）上进行，统计稳健性已得到保障。</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综上所述，实验验证了 </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 </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在检索精度、双向检索能力和模块贡献上的有效性。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详细介绍了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的整体架构，按照图像与位置特征编码层、多模态融合层、哈希层和检索层的层次关系，深入说明各模块的技术原理与实现细节，重点阐述了多路融合策略验证过程，包括多损失联合优化与在线难例挖掘策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为验证模型有效性，本章在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和自建</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数据集上开展实验，说明了数据预处理流程、评价指标定义和实验环境配置。</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最后通过与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HashNet、DCH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三个基线模型的对比实验，融合策略对比实验、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上的消融实验以及超参数敏感性分析，验证了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模型的有效性和优越性，为古树名木多模态展示与检索系统提供了算法支撑</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a:t>
            </a:r>
            <a:r>
              <a:rPr lang="zh-CN" altLang="en-US" dirty="0"/>
              <a:t>架构图：</a:t>
            </a:r>
            <a:endParaRPr lang="zh-CN" altLang="en-US" dirty="0"/>
          </a:p>
          <a:p>
            <a:r>
              <a:rPr lang="zh-CN" altLang="en-US" dirty="0"/>
              <a:t>系统基于 </a:t>
            </a:r>
            <a:r>
              <a:rPr lang="en-US" altLang="zh-CN" dirty="0"/>
              <a:t>B/S </a:t>
            </a:r>
            <a:r>
              <a:rPr lang="zh-CN" altLang="en-US" dirty="0"/>
              <a:t>架构和 </a:t>
            </a:r>
            <a:r>
              <a:rPr lang="en-US" altLang="zh-CN" dirty="0"/>
              <a:t>Vue+SpringBoot </a:t>
            </a:r>
            <a:r>
              <a:rPr lang="zh-CN" altLang="en-US" dirty="0"/>
              <a:t>前后端分离设计，集成 </a:t>
            </a:r>
            <a:r>
              <a:rPr lang="en-US" altLang="zh-CN" dirty="0"/>
              <a:t>DHLM </a:t>
            </a:r>
            <a:r>
              <a:rPr lang="zh-CN" altLang="en-US" dirty="0"/>
              <a:t>模型，实现数据上传、信息查询和多模态检索功能。</a:t>
            </a:r>
            <a:endParaRPr lang="zh-CN" altLang="en-US" dirty="0"/>
          </a:p>
          <a:p>
            <a:endParaRPr lang="zh-CN" altLang="en-US" dirty="0"/>
          </a:p>
          <a:p>
            <a:r>
              <a:rPr lang="zh-CN" altLang="en-US" dirty="0"/>
              <a:t>核心功能模块：</a:t>
            </a:r>
            <a:endParaRPr lang="zh-CN" altLang="en-US" dirty="0"/>
          </a:p>
          <a:p>
            <a:r>
              <a:rPr lang="zh-CN" altLang="en-US" dirty="0"/>
              <a:t>  ① 数据管理：古树名木信息上传、科属种级联查询、属性筛选</a:t>
            </a:r>
            <a:endParaRPr lang="zh-CN" altLang="en-US" dirty="0"/>
          </a:p>
          <a:p>
            <a:r>
              <a:rPr lang="zh-CN" altLang="en-US" dirty="0"/>
              <a:t>  ② 多模态哈希检索：集成</a:t>
            </a:r>
            <a:r>
              <a:rPr lang="en-US" altLang="zh-CN" dirty="0"/>
              <a:t>DHLM</a:t>
            </a:r>
            <a:r>
              <a:rPr lang="zh-CN" altLang="en-US" dirty="0"/>
              <a:t>模型，支持以图搜图、以图搜位置、以位置搜图</a:t>
            </a:r>
            <a:endParaRPr lang="zh-CN" altLang="en-US" dirty="0"/>
          </a:p>
          <a:p>
            <a:r>
              <a:rPr lang="zh-CN" altLang="en-US" dirty="0"/>
              <a:t>  ③ 用户管理：角色权限控制、资源管理"</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系统核心表包括用户表、图像表、树木表和权限角色表。树木表存储古树名称、经纬度、树龄、树高、科属种、保护级别等信息。</a:t>
            </a:r>
            <a:endParaRPr lang="zh-CN" altLang="en-US" dirty="0">
              <a:sym typeface="+mn-ea"/>
            </a:endParaRPr>
          </a:p>
          <a:p>
            <a:r>
              <a:rPr lang="zh-CN" altLang="en-US" dirty="0">
                <a:sym typeface="+mn-ea"/>
              </a:rPr>
              <a:t>系统整体的交互流程：</a:t>
            </a:r>
            <a:endParaRPr lang="zh-CN" altLang="en-US" dirty="0"/>
          </a:p>
          <a:p>
            <a:r>
              <a:rPr lang="zh-CN" altLang="en-US" dirty="0">
                <a:sym typeface="+mn-ea"/>
              </a:rPr>
              <a:t>用户上传查询图像/输入位置坐标 → 前端调用</a:t>
            </a:r>
            <a:r>
              <a:rPr lang="en-US" altLang="zh-CN" dirty="0">
                <a:sym typeface="+mn-ea"/>
              </a:rPr>
              <a:t>DHLM</a:t>
            </a:r>
            <a:r>
              <a:rPr lang="zh-CN" altLang="en-US" dirty="0">
                <a:sym typeface="+mn-ea"/>
              </a:rPr>
              <a:t>检索</a:t>
            </a:r>
            <a:r>
              <a:rPr lang="en-US" altLang="zh-CN" dirty="0">
                <a:sym typeface="+mn-ea"/>
              </a:rPr>
              <a:t>API →</a:t>
            </a:r>
            <a:r>
              <a:rPr lang="zh-CN" altLang="en-US" dirty="0">
                <a:sym typeface="+mn-ea"/>
              </a:rPr>
              <a:t>后端执行哈希编码与相似度计算 → 返回</a:t>
            </a:r>
            <a:r>
              <a:rPr lang="en-US" altLang="zh-CN" dirty="0">
                <a:sym typeface="+mn-ea"/>
              </a:rPr>
              <a:t>Top-K</a:t>
            </a:r>
            <a:r>
              <a:rPr lang="zh-CN" altLang="en-US" dirty="0">
                <a:sym typeface="+mn-ea"/>
              </a:rPr>
              <a:t>检索结果 → 前端可视化展示。</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系统提供科属种级联查询、树种名称查询、以图搜图、以图搜位置和以位置搜图等功能。</a:t>
            </a:r>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系统整体</a:t>
            </a:r>
            <a:r>
              <a:rPr lang="zh-CN" altLang="en-US" dirty="0">
                <a:sym typeface="+mn-ea"/>
              </a:rPr>
              <a:t>的交互流程：</a:t>
            </a:r>
            <a:endParaRPr lang="zh-CN" altLang="en-US" dirty="0"/>
          </a:p>
          <a:p>
            <a:r>
              <a:rPr lang="zh-CN" altLang="en-US" dirty="0">
                <a:sym typeface="+mn-ea"/>
              </a:rPr>
              <a:t> 用户上传查询图像/输入位置坐标 → 前端调用</a:t>
            </a:r>
            <a:r>
              <a:rPr lang="en-US" altLang="zh-CN" dirty="0">
                <a:sym typeface="+mn-ea"/>
              </a:rPr>
              <a:t>DHLM</a:t>
            </a:r>
            <a:r>
              <a:rPr lang="zh-CN" altLang="en-US" dirty="0">
                <a:sym typeface="+mn-ea"/>
              </a:rPr>
              <a:t>检索</a:t>
            </a:r>
            <a:r>
              <a:rPr lang="en-US" altLang="zh-CN" dirty="0">
                <a:sym typeface="+mn-ea"/>
              </a:rPr>
              <a:t>API →</a:t>
            </a:r>
            <a:r>
              <a:rPr lang="zh-CN" altLang="en-US" dirty="0">
                <a:sym typeface="+mn-ea"/>
              </a:rPr>
              <a:t>后端执行哈希编码与相似度计算 → 返回</a:t>
            </a:r>
            <a:r>
              <a:rPr lang="en-US" altLang="zh-CN" dirty="0">
                <a:sym typeface="+mn-ea"/>
              </a:rPr>
              <a:t>Top-K</a:t>
            </a:r>
            <a:r>
              <a:rPr lang="zh-CN" altLang="en-US" dirty="0">
                <a:sym typeface="+mn-ea"/>
              </a:rPr>
              <a:t>检索结果 → 前端可视化展示。</a:t>
            </a:r>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系统基于</a:t>
            </a:r>
            <a:r>
              <a:rPr lang="en-US" altLang="zh-CN" dirty="0">
                <a:sym typeface="+mn-ea"/>
              </a:rPr>
              <a:t>B/S</a:t>
            </a:r>
            <a:r>
              <a:rPr lang="zh-CN" altLang="en-US" dirty="0">
                <a:sym typeface="+mn-ea"/>
              </a:rPr>
              <a:t>架构，林业管理部门可通过浏览器上传古树照片或输入</a:t>
            </a:r>
            <a:r>
              <a:rPr lang="en-US" altLang="zh-CN" dirty="0">
                <a:sym typeface="+mn-ea"/>
              </a:rPr>
              <a:t>GPS</a:t>
            </a:r>
            <a:r>
              <a:rPr lang="zh-CN" altLang="en-US" dirty="0">
                <a:sym typeface="+mn-ea"/>
              </a:rPr>
              <a:t>坐标进行检索。</a:t>
            </a:r>
            <a:endParaRPr lang="zh-CN" altLang="en-US" dirty="0"/>
          </a:p>
          <a:p>
            <a:r>
              <a:rPr lang="en-US" altLang="zh-CN" dirty="0">
                <a:sym typeface="+mn-ea"/>
              </a:rPr>
              <a:t>BFATH</a:t>
            </a:r>
            <a:r>
              <a:rPr lang="zh-CN" altLang="en-US" dirty="0">
                <a:sym typeface="+mn-ea"/>
              </a:rPr>
              <a:t>当前覆盖京津冀地区15个典型树种300株古树，支持批量导入扩充数据集。</a:t>
            </a:r>
            <a:endParaRPr lang="zh-CN" altLang="en-US" dirty="0"/>
          </a:p>
          <a:p>
            <a:r>
              <a:rPr lang="zh-CN" altLang="en-US" dirty="0">
                <a:sym typeface="+mn-ea"/>
              </a:rPr>
              <a:t>系统核心价值在于降低古树名木信息检索的人工成本，提升保护管理效率</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本文主要贡献包括：第一，提出融合图像与地理位置元数据的 </a:t>
            </a:r>
            <a:r>
              <a:rPr lang="en-US" altLang="zh-CN"/>
              <a:t>DHLM </a:t>
            </a:r>
            <a:r>
              <a:rPr lang="zh-CN" altLang="en-US"/>
              <a:t>模型；第二，通过分层实验验证了模型有效性；第三，研建了古树名木多模态展示与检索系统。</a:t>
            </a:r>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未来可从自监督预训练、地理围栏编码、多随机种子验证和边缘部署等方面继续优化。</a:t>
            </a:r>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【高频答辩问题】</a:t>
            </a:r>
            <a:endParaRPr lang="zh-CN" altLang="en-US"/>
          </a:p>
          <a:p>
            <a:r>
              <a:rPr lang="en-US" altLang="zh-CN"/>
              <a:t>Q1：</a:t>
            </a:r>
            <a:r>
              <a:rPr lang="zh-CN" altLang="en-US"/>
              <a:t>你的以图搜位置到底是</a:t>
            </a:r>
            <a:r>
              <a:rPr lang="en-US" altLang="zh-CN"/>
              <a:t>Geo-localization</a:t>
            </a:r>
            <a:r>
              <a:rPr lang="zh-CN" altLang="en-US"/>
              <a:t>还是数据库检索？</a:t>
            </a:r>
            <a:endParaRPr lang="zh-CN" altLang="en-US"/>
          </a:p>
          <a:p>
            <a:r>
              <a:rPr lang="en-US" altLang="zh-CN"/>
              <a:t>A：</a:t>
            </a:r>
            <a:r>
              <a:rPr lang="zh-CN" altLang="en-US"/>
              <a:t>实质是数据库检索而非</a:t>
            </a:r>
            <a:r>
              <a:rPr lang="en-US" altLang="zh-CN"/>
              <a:t>Geo-localization——</a:t>
            </a:r>
            <a:r>
              <a:rPr lang="zh-CN" altLang="en-US"/>
              <a:t>给定查询图像，模型在数据库中检索视觉相似的古树记录，并返回这些记录的已知地理位置。</a:t>
            </a:r>
            <a:endParaRPr lang="en-US" altLang="zh-CN"/>
          </a:p>
          <a:p>
            <a:r>
              <a:rPr lang="en-US" altLang="zh-CN"/>
              <a:t>Q2：BFATH</a:t>
            </a:r>
            <a:r>
              <a:rPr lang="zh-CN" altLang="en-US"/>
              <a:t>只有300张样本，消融实验结论可信吗？</a:t>
            </a:r>
            <a:endParaRPr lang="zh-CN" altLang="en-US"/>
          </a:p>
          <a:p>
            <a:r>
              <a:rPr lang="en-US" altLang="zh-CN"/>
              <a:t>A：BFATH</a:t>
            </a:r>
            <a:r>
              <a:rPr lang="zh-CN" altLang="en-US"/>
              <a:t>是领域验证数据集。核心对比在12,450张的</a:t>
            </a:r>
            <a:r>
              <a:rPr lang="en-US" altLang="zh-CN"/>
              <a:t>iNaturalist 2018</a:t>
            </a:r>
            <a:r>
              <a:rPr lang="zh-CN" altLang="en-US"/>
              <a:t>上完成，统计稳健；</a:t>
            </a:r>
            <a:r>
              <a:rPr lang="en-US" altLang="zh-CN"/>
              <a:t>BFATH</a:t>
            </a:r>
            <a:r>
              <a:rPr lang="zh-CN" altLang="en-US"/>
              <a:t>观察相对贡献趋势，消融贡献排序（地理位置&gt;难例挖掘&gt;量化损失）稳定。</a:t>
            </a:r>
            <a:endParaRPr lang="en-US" altLang="zh-CN"/>
          </a:p>
          <a:p>
            <a:r>
              <a:rPr lang="en-US" altLang="zh-CN"/>
              <a:t>Q3：</a:t>
            </a:r>
            <a:r>
              <a:rPr lang="zh-CN" altLang="en-US"/>
              <a:t>为什么只选3个单模态基线，没有多模态基线对比？</a:t>
            </a:r>
            <a:endParaRPr lang="zh-CN" altLang="en-US"/>
          </a:p>
          <a:p>
            <a:r>
              <a:rPr lang="en-US" altLang="zh-CN"/>
              <a:t>A：</a:t>
            </a:r>
            <a:r>
              <a:rPr lang="zh-CN" altLang="en-US"/>
              <a:t>现有多模态哈希方法（</a:t>
            </a:r>
            <a:r>
              <a:rPr lang="en-US" altLang="zh-CN"/>
              <a:t>DCMH/SSAH）</a:t>
            </a:r>
            <a:r>
              <a:rPr lang="zh-CN" altLang="en-US"/>
              <a:t>的文本编码器针对离散文本设计，不适用于地理位置坐标。重新适配工程量较大，留作未来工作。本文构建</a:t>
            </a:r>
            <a:r>
              <a:rPr lang="en-US" altLang="zh-CN"/>
              <a:t>DHLM-Image</a:t>
            </a:r>
            <a:r>
              <a:rPr lang="zh-CN" altLang="en-US"/>
              <a:t>单模态变体作为公平对比基准。</a:t>
            </a:r>
            <a:endParaRPr lang="en-US" altLang="zh-CN"/>
          </a:p>
          <a:p>
            <a:r>
              <a:rPr lang="en-US" altLang="zh-CN"/>
              <a:t>Q4：</a:t>
            </a:r>
            <a:r>
              <a:rPr lang="zh-CN" altLang="en-US"/>
              <a:t>你的模型在林业实际管理中怎么用？</a:t>
            </a:r>
            <a:endParaRPr lang="zh-CN" altLang="en-US"/>
          </a:p>
          <a:p>
            <a:r>
              <a:rPr lang="en-US" altLang="zh-CN"/>
              <a:t>A：</a:t>
            </a:r>
            <a:r>
              <a:rPr lang="zh-CN" altLang="en-US"/>
              <a:t>系统基于</a:t>
            </a:r>
            <a:r>
              <a:rPr lang="en-US" altLang="zh-CN"/>
              <a:t>B/S</a:t>
            </a:r>
            <a:r>
              <a:rPr lang="zh-CN" altLang="en-US"/>
              <a:t>架构，林业管理部门可通过浏览器上传古树照片或输入</a:t>
            </a:r>
            <a:r>
              <a:rPr lang="en-US" altLang="zh-CN"/>
              <a:t>GPS</a:t>
            </a:r>
            <a:r>
              <a:rPr lang="zh-CN" altLang="en-US"/>
              <a:t>坐标进行检索。</a:t>
            </a:r>
            <a:r>
              <a:rPr lang="en-US" altLang="zh-CN"/>
              <a:t>BFATH</a:t>
            </a:r>
            <a:r>
              <a:rPr lang="zh-CN" altLang="en-US"/>
              <a:t>当前覆盖京津冀15个典型树种300株古树，支持批量导入扩充。核心价值在于降低检索人工成本，提升保护管理效率。</a:t>
            </a:r>
            <a:endParaRPr lang="en-US" altLang="zh-CN"/>
          </a:p>
          <a:p>
            <a:r>
              <a:rPr lang="en-US" altLang="zh-CN"/>
              <a:t>Q5：</a:t>
            </a:r>
            <a:r>
              <a:rPr lang="zh-CN" altLang="en-US"/>
              <a:t>固定种子</a:t>
            </a:r>
            <a:r>
              <a:rPr lang="en-US" altLang="zh-CN"/>
              <a:t>seed=42</a:t>
            </a:r>
            <a:r>
              <a:rPr lang="zh-CN" altLang="en-US"/>
              <a:t>单次运行，结果可靠吗？</a:t>
            </a:r>
            <a:endParaRPr lang="zh-CN" altLang="en-US"/>
          </a:p>
          <a:p>
            <a:r>
              <a:rPr lang="en-US" altLang="zh-CN"/>
              <a:t>A：</a:t>
            </a:r>
            <a:r>
              <a:rPr lang="zh-CN" altLang="en-US"/>
              <a:t>学位论文不是顶会投稿，单次运行可接受。所有方法使用相同种子、相同划分和相同评估代码，相对比较公平。核心结论（性能排序）已通过预实验多次验证。</a:t>
            </a:r>
            <a:endParaRPr lang="en-US" altLang="zh-CN"/>
          </a:p>
          <a:p>
            <a:r>
              <a:rPr lang="en-US" altLang="zh-CN"/>
              <a:t>Q6：</a:t>
            </a:r>
            <a:r>
              <a:rPr lang="zh-CN" altLang="en-US"/>
              <a:t>损失权重10:5:1怎么确定的？</a:t>
            </a:r>
            <a:endParaRPr lang="zh-CN" altLang="en-US"/>
          </a:p>
          <a:p>
            <a:r>
              <a:rPr lang="en-US" altLang="zh-CN"/>
              <a:t>A：</a:t>
            </a:r>
            <a:r>
              <a:rPr lang="zh-CN" altLang="en-US"/>
              <a:t>通过预实验探索确定，论文3.4.4节有敏感性分析。</a:t>
            </a:r>
            <a:r>
              <a:rPr lang="en-US" altLang="zh-CN"/>
              <a:t>Triplet Loss</a:t>
            </a:r>
            <a:r>
              <a:rPr lang="zh-CN" altLang="en-US"/>
              <a:t>主导（10/16），</a:t>
            </a:r>
            <a:r>
              <a:rPr lang="en-US" altLang="zh-CN"/>
              <a:t>Contrastive</a:t>
            </a:r>
            <a:r>
              <a:rPr lang="zh-CN" altLang="en-US"/>
              <a:t>辅助（5/16），</a:t>
            </a:r>
            <a:r>
              <a:rPr lang="en-US" altLang="zh-CN"/>
              <a:t>Quantization</a:t>
            </a:r>
            <a:r>
              <a:rPr lang="zh-CN" altLang="en-US"/>
              <a:t>轻约束（1/16）。</a:t>
            </a:r>
            <a:endParaRPr lang="en-US" altLang="zh-CN"/>
          </a:p>
          <a:p>
            <a:r>
              <a:rPr lang="en-US" altLang="zh-CN"/>
              <a:t>Q7：</a:t>
            </a:r>
            <a:r>
              <a:rPr lang="zh-CN" altLang="en-US"/>
              <a:t>特征拼接和门控融合只差0.3个百分点，拼接显著更优吗？</a:t>
            </a:r>
            <a:endParaRPr lang="zh-CN" altLang="en-US"/>
          </a:p>
          <a:p>
            <a:r>
              <a:rPr lang="en-US" altLang="zh-CN"/>
              <a:t>A：</a:t>
            </a:r>
            <a:r>
              <a:rPr lang="zh-CN" altLang="en-US"/>
              <a:t>差距虽小，但特征拼接不引入额外参数，在小数据集上更稳健；门控融合引入约131</a:t>
            </a:r>
            <a:r>
              <a:rPr lang="en-US" altLang="zh-CN"/>
              <a:t>k</a:t>
            </a:r>
            <a:r>
              <a:rPr lang="zh-CN" altLang="en-US"/>
              <a:t>参数，收益有限且增加过拟合风险。从复杂度-收益比看，拼接是最优工程选择。</a:t>
            </a:r>
            <a:endParaRPr lang="en-US" altLang="zh-CN"/>
          </a:p>
          <a:p>
            <a:r>
              <a:rPr lang="en-US" altLang="zh-CN"/>
              <a:t>Q8：I2L</a:t>
            </a:r>
            <a:r>
              <a:rPr lang="zh-CN" altLang="en-US"/>
              <a:t>的</a:t>
            </a:r>
            <a:r>
              <a:rPr lang="en-US" altLang="zh-CN"/>
              <a:t>mAP（0.698）</a:t>
            </a:r>
            <a:r>
              <a:rPr lang="zh-CN" altLang="en-US"/>
              <a:t>比</a:t>
            </a:r>
            <a:r>
              <a:rPr lang="en-US" altLang="zh-CN"/>
              <a:t>I2I（0.741）</a:t>
            </a:r>
            <a:r>
              <a:rPr lang="zh-CN" altLang="en-US"/>
              <a:t>低很多，多模态融合价值在哪？</a:t>
            </a:r>
            <a:endParaRPr lang="zh-CN" altLang="en-US"/>
          </a:p>
          <a:p>
            <a:r>
              <a:rPr lang="en-US" altLang="zh-CN"/>
              <a:t>A：I2L</a:t>
            </a:r>
            <a:r>
              <a:rPr lang="zh-CN" altLang="en-US"/>
              <a:t>是跨模态检索（图像→位置），本身难度高于同模态</a:t>
            </a:r>
            <a:r>
              <a:rPr lang="en-US" altLang="zh-CN"/>
              <a:t>I2I。</a:t>
            </a:r>
            <a:r>
              <a:rPr lang="zh-CN" altLang="en-US"/>
              <a:t>但相比单模态</a:t>
            </a:r>
            <a:r>
              <a:rPr lang="en-US" altLang="zh-CN"/>
              <a:t>DHLM-Image（0.713），</a:t>
            </a:r>
            <a:r>
              <a:rPr lang="zh-CN" altLang="en-US"/>
              <a:t>完整</a:t>
            </a:r>
            <a:r>
              <a:rPr lang="en-US" altLang="zh-CN"/>
              <a:t>DHLM</a:t>
            </a:r>
            <a:r>
              <a:rPr lang="zh-CN" altLang="en-US"/>
              <a:t>在</a:t>
            </a:r>
            <a:r>
              <a:rPr lang="en-US" altLang="zh-CN"/>
              <a:t>I2I</a:t>
            </a:r>
            <a:r>
              <a:rPr lang="zh-CN" altLang="en-US"/>
              <a:t>上提升到0.741，证明位置元数据反哺了图像检索；</a:t>
            </a:r>
            <a:r>
              <a:rPr lang="en-US" altLang="zh-CN"/>
              <a:t>I2L</a:t>
            </a:r>
            <a:r>
              <a:rPr lang="zh-CN" altLang="en-US"/>
              <a:t>和</a:t>
            </a:r>
            <a:r>
              <a:rPr lang="en-US" altLang="zh-CN"/>
              <a:t>L2I</a:t>
            </a:r>
            <a:r>
              <a:rPr lang="zh-CN" altLang="en-US"/>
              <a:t>是系统新增的能力维度，其价值在于扩展了检索场景，而非单纯追求</a:t>
            </a:r>
            <a:r>
              <a:rPr lang="en-US" altLang="zh-CN"/>
              <a:t>I2I</a:t>
            </a:r>
            <a:r>
              <a:rPr lang="zh-CN" altLang="en-US"/>
              <a:t>极限精度。</a:t>
            </a:r>
            <a:endParaRPr lang="en-US" altLang="zh-CN"/>
          </a:p>
          <a:p>
            <a:r>
              <a:rPr lang="en-US" altLang="zh-CN"/>
              <a:t>Q9：</a:t>
            </a:r>
            <a:r>
              <a:rPr lang="zh-CN" altLang="en-US"/>
              <a:t>为什么哈希码长度选128位？</a:t>
            </a:r>
            <a:endParaRPr lang="zh-CN" altLang="en-US"/>
          </a:p>
          <a:p>
            <a:r>
              <a:rPr lang="en-US" altLang="zh-CN"/>
              <a:t>A：</a:t>
            </a:r>
            <a:r>
              <a:rPr lang="zh-CN" altLang="en-US"/>
              <a:t>参考</a:t>
            </a:r>
            <a:r>
              <a:rPr lang="en-US" altLang="zh-CN"/>
              <a:t>HashNet/DCH</a:t>
            </a:r>
            <a:r>
              <a:rPr lang="zh-CN" altLang="en-US"/>
              <a:t>基线配置。64位表征不足，256位存储翻倍，128位平衡精度与存储。表3.5验证128位汉明距离检索仅损失2.9%精度，速度提升15.8倍。</a:t>
            </a:r>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34FB6C8-7C8F-4A07-82BA-70423D8EE85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10842" y="0"/>
            <a:ext cx="5419344" cy="6858000"/>
          </a:xfrm>
          <a:prstGeom prst="rect">
            <a:avLst/>
          </a:prstGeom>
        </p:spPr>
      </p:pic>
      <p:sp>
        <p:nvSpPr>
          <p:cNvPr id="7" name="矩形 6"/>
          <p:cNvSpPr/>
          <p:nvPr userDrawn="1"/>
        </p:nvSpPr>
        <p:spPr>
          <a:xfrm>
            <a:off x="-10842" y="0"/>
            <a:ext cx="5419344" cy="68580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ource Han Sans Light"/>
              <a:ea typeface="思源黑体 CN Light"/>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5334"/>
          <a:stretch>
            <a:fillRect/>
          </a:stretch>
        </p:blipFill>
        <p:spPr>
          <a:xfrm>
            <a:off x="0" y="8"/>
            <a:ext cx="12191999" cy="6857992"/>
          </a:xfrm>
          <a:prstGeom prst="rect">
            <a:avLst/>
          </a:prstGeom>
        </p:spPr>
      </p:pic>
      <p:sp>
        <p:nvSpPr>
          <p:cNvPr id="7" name="矩形 6"/>
          <p:cNvSpPr/>
          <p:nvPr userDrawn="1"/>
        </p:nvSpPr>
        <p:spPr>
          <a:xfrm>
            <a:off x="0" y="0"/>
            <a:ext cx="12192000" cy="6858000"/>
          </a:xfrm>
          <a:prstGeom prst="rect">
            <a:avLst/>
          </a:prstGeom>
          <a:solidFill>
            <a:schemeClr val="accent1">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mn-cs"/>
            </a:endParaRPr>
          </a:p>
        </p:txBody>
      </p:sp>
      <p:grpSp>
        <p:nvGrpSpPr>
          <p:cNvPr id="10" name="组合 9"/>
          <p:cNvGrpSpPr/>
          <p:nvPr userDrawn="1"/>
        </p:nvGrpSpPr>
        <p:grpSpPr>
          <a:xfrm>
            <a:off x="1485899" y="1530831"/>
            <a:ext cx="2564513" cy="3796338"/>
            <a:chOff x="1447799" y="1736725"/>
            <a:chExt cx="2564513" cy="3796338"/>
          </a:xfrm>
        </p:grpSpPr>
        <p:cxnSp>
          <p:nvCxnSpPr>
            <p:cNvPr id="19" name="直接连接符 18"/>
            <p:cNvCxnSpPr/>
            <p:nvPr/>
          </p:nvCxnSpPr>
          <p:spPr>
            <a:xfrm>
              <a:off x="2360092" y="4452724"/>
              <a:ext cx="4953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47799" y="1736725"/>
              <a:ext cx="2564513" cy="3796338"/>
              <a:chOff x="1447800" y="1736725"/>
              <a:chExt cx="2095500" cy="3102042"/>
            </a:xfrm>
          </p:grpSpPr>
          <p:cxnSp>
            <p:nvCxnSpPr>
              <p:cNvPr id="13" name="直接连接符 12"/>
              <p:cNvCxnSpPr/>
              <p:nvPr/>
            </p:nvCxnSpPr>
            <p:spPr>
              <a:xfrm>
                <a:off x="1447800" y="1736725"/>
                <a:ext cx="20955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447800" y="1736725"/>
                <a:ext cx="0" cy="31019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447800" y="4838767"/>
                <a:ext cx="20955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543300" y="1736725"/>
                <a:ext cx="0" cy="644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536950" y="4194175"/>
                <a:ext cx="0" cy="644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一个图表">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a:stretch>
            <a:fillRect/>
          </a:stretch>
        </p:blipFill>
        <p:spPr>
          <a:xfrm>
            <a:off x="0" y="1718"/>
            <a:ext cx="12191999" cy="6854571"/>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82600" y="1006475"/>
            <a:ext cx="11214100" cy="1050925"/>
          </a:xfrm>
        </p:spPr>
        <p:txBody>
          <a:bodyPr>
            <a:noAutofit/>
          </a:bodyPr>
          <a:lstStyle>
            <a:lvl1pPr marL="0" indent="0" algn="just">
              <a:lnSpc>
                <a:spcPct val="120000"/>
              </a:lnSpc>
              <a:spcBef>
                <a:spcPts val="600"/>
              </a:spcBef>
              <a:buNone/>
              <a:defRPr sz="1600">
                <a:solidFill>
                  <a:schemeClr val="tx1">
                    <a:lumMod val="75000"/>
                    <a:lumOff val="25000"/>
                  </a:schemeClr>
                </a:solidFill>
              </a:defRPr>
            </a:lvl1pPr>
          </a:lstStyle>
          <a:p>
            <a:pPr lvl="0"/>
            <a:endParaRPr lang="zh-CN" altLang="en-US" dirty="0"/>
          </a:p>
        </p:txBody>
      </p:sp>
      <p:sp>
        <p:nvSpPr>
          <p:cNvPr id="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pic>
        <p:nvPicPr>
          <p:cNvPr id="8" name="图片 7" descr="图片包含 游戏机, 房间, 食物, 画&#10;&#10;描述已自动生成"/>
          <p:cNvPicPr>
            <a:picLocks noChangeAspect="1"/>
          </p:cNvPicPr>
          <p:nvPr userDrawn="1"/>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pic>
        <p:nvPicPr>
          <p:cNvPr id="10" name="图片 9" descr="图片包含 游戏机, 树&#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2" name="内容占位符 11"/>
          <p:cNvSpPr>
            <a:spLocks noGrp="1"/>
          </p:cNvSpPr>
          <p:nvPr>
            <p:ph sz="quarter" idx="13" hasCustomPrompt="1"/>
          </p:nvPr>
        </p:nvSpPr>
        <p:spPr>
          <a:xfrm>
            <a:off x="2533650" y="2857500"/>
            <a:ext cx="7112000" cy="3295650"/>
          </a:xfrm>
        </p:spPr>
        <p:txBody>
          <a:bodyPr anchor="ctr"/>
          <a:lstStyle>
            <a:lvl1pPr marL="0" indent="0" algn="ctr">
              <a:buNone/>
              <a:defRPr/>
            </a:lvl1pPr>
          </a:lstStyle>
          <a:p>
            <a:pPr lvl="0"/>
            <a:r>
              <a:rPr lang="zh-CN" altLang="en-US" dirty="0"/>
              <a:t>插入你的图表</a:t>
            </a:r>
            <a:endParaRPr lang="zh-CN" altLang="en-US" dirty="0"/>
          </a:p>
        </p:txBody>
      </p:sp>
      <p:sp>
        <p:nvSpPr>
          <p:cNvPr id="15" name="内容占位符 14"/>
          <p:cNvSpPr>
            <a:spLocks noGrp="1"/>
          </p:cNvSpPr>
          <p:nvPr>
            <p:ph sz="quarter" idx="14" hasCustomPrompt="1"/>
          </p:nvPr>
        </p:nvSpPr>
        <p:spPr>
          <a:xfrm>
            <a:off x="2533650" y="2260599"/>
            <a:ext cx="71247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7" name="直接连接符 16"/>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个图表">
    <p:spTree>
      <p:nvGrpSpPr>
        <p:cNvPr id="1" name=""/>
        <p:cNvGrpSpPr/>
        <p:nvPr/>
      </p:nvGrpSpPr>
      <p:grpSpPr>
        <a:xfrm>
          <a:off x="0" y="0"/>
          <a:ext cx="0" cy="0"/>
          <a:chOff x="0" y="0"/>
          <a:chExt cx="0" cy="0"/>
        </a:xfrm>
      </p:grpSpPr>
      <p:pic>
        <p:nvPicPr>
          <p:cNvPr id="17" name="图片 16"/>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82600" y="1006475"/>
            <a:ext cx="11214100" cy="1050925"/>
          </a:xfrm>
        </p:spPr>
        <p:txBody>
          <a:bodyPr>
            <a:noAutofit/>
          </a:bodyPr>
          <a:lstStyle>
            <a:lvl1pPr marL="0" indent="0" algn="just">
              <a:lnSpc>
                <a:spcPct val="120000"/>
              </a:lnSpc>
              <a:spcBef>
                <a:spcPts val="600"/>
              </a:spcBef>
              <a:buNone/>
              <a:defRPr sz="1600">
                <a:solidFill>
                  <a:schemeClr val="tx1">
                    <a:lumMod val="75000"/>
                    <a:lumOff val="25000"/>
                  </a:schemeClr>
                </a:solidFill>
              </a:defRPr>
            </a:lvl1pPr>
          </a:lstStyle>
          <a:p>
            <a:pPr lvl="0"/>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2" name="内容占位符 11"/>
          <p:cNvSpPr>
            <a:spLocks noGrp="1"/>
          </p:cNvSpPr>
          <p:nvPr>
            <p:ph sz="quarter" idx="13" hasCustomPrompt="1"/>
          </p:nvPr>
        </p:nvSpPr>
        <p:spPr>
          <a:xfrm>
            <a:off x="482600" y="2857500"/>
            <a:ext cx="5613400" cy="3295650"/>
          </a:xfrm>
        </p:spPr>
        <p:txBody>
          <a:bodyPr anchor="ctr"/>
          <a:lstStyle>
            <a:lvl1pPr marL="0" indent="0" algn="ctr">
              <a:buNone/>
              <a:defRPr/>
            </a:lvl1pPr>
          </a:lstStyle>
          <a:p>
            <a:pPr lvl="0"/>
            <a:r>
              <a:rPr lang="zh-CN" altLang="en-US" dirty="0"/>
              <a:t>插入你的图表</a:t>
            </a:r>
            <a:endParaRPr lang="zh-CN" altLang="en-US" dirty="0"/>
          </a:p>
        </p:txBody>
      </p:sp>
      <p:sp>
        <p:nvSpPr>
          <p:cNvPr id="11" name="内容占位符 11"/>
          <p:cNvSpPr>
            <a:spLocks noGrp="1"/>
          </p:cNvSpPr>
          <p:nvPr>
            <p:ph sz="quarter" idx="14" hasCustomPrompt="1"/>
          </p:nvPr>
        </p:nvSpPr>
        <p:spPr>
          <a:xfrm>
            <a:off x="6096000" y="2857500"/>
            <a:ext cx="5613400" cy="3295650"/>
          </a:xfrm>
        </p:spPr>
        <p:txBody>
          <a:bodyPr anchor="ctr"/>
          <a:lstStyle>
            <a:lvl1pPr marL="0" indent="0" algn="ctr">
              <a:buNone/>
              <a:defRPr/>
            </a:lvl1pPr>
          </a:lstStyle>
          <a:p>
            <a:pPr lvl="0"/>
            <a:r>
              <a:rPr lang="zh-CN" altLang="en-US" dirty="0"/>
              <a:t>插入你的图表</a:t>
            </a:r>
            <a:endParaRPr lang="zh-CN" altLang="en-US" dirty="0"/>
          </a:p>
        </p:txBody>
      </p:sp>
      <p:sp>
        <p:nvSpPr>
          <p:cNvPr id="13" name="内容占位符 14"/>
          <p:cNvSpPr>
            <a:spLocks noGrp="1"/>
          </p:cNvSpPr>
          <p:nvPr>
            <p:ph sz="quarter" idx="15" hasCustomPrompt="1"/>
          </p:nvPr>
        </p:nvSpPr>
        <p:spPr>
          <a:xfrm>
            <a:off x="476250" y="2260599"/>
            <a:ext cx="56134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sp>
        <p:nvSpPr>
          <p:cNvPr id="14" name="内容占位符 14"/>
          <p:cNvSpPr>
            <a:spLocks noGrp="1"/>
          </p:cNvSpPr>
          <p:nvPr>
            <p:ph sz="quarter" idx="16" hasCustomPrompt="1"/>
          </p:nvPr>
        </p:nvSpPr>
        <p:spPr>
          <a:xfrm>
            <a:off x="6083302" y="2260599"/>
            <a:ext cx="56134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pic>
        <p:nvPicPr>
          <p:cNvPr id="18" name="图片 17"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个图表">
    <p:spTree>
      <p:nvGrpSpPr>
        <p:cNvPr id="1" name=""/>
        <p:cNvGrpSpPr/>
        <p:nvPr/>
      </p:nvGrpSpPr>
      <p:grpSpPr>
        <a:xfrm>
          <a:off x="0" y="0"/>
          <a:ext cx="0" cy="0"/>
          <a:chOff x="0" y="0"/>
          <a:chExt cx="0" cy="0"/>
        </a:xfrm>
      </p:grpSpPr>
      <p:pic>
        <p:nvPicPr>
          <p:cNvPr id="17" name="图片 16"/>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82600" y="1006475"/>
            <a:ext cx="11214100" cy="1050925"/>
          </a:xfrm>
        </p:spPr>
        <p:txBody>
          <a:bodyPr>
            <a:noAutofit/>
          </a:bodyPr>
          <a:lstStyle>
            <a:lvl1pPr marL="0" indent="0" algn="just">
              <a:lnSpc>
                <a:spcPct val="120000"/>
              </a:lnSpc>
              <a:spcBef>
                <a:spcPts val="600"/>
              </a:spcBef>
              <a:buNone/>
              <a:defRPr sz="1600">
                <a:solidFill>
                  <a:schemeClr val="tx1">
                    <a:lumMod val="75000"/>
                    <a:lumOff val="25000"/>
                  </a:schemeClr>
                </a:solidFill>
              </a:defRPr>
            </a:lvl1pPr>
          </a:lstStyle>
          <a:p>
            <a:pPr lvl="0"/>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2" name="内容占位符 11"/>
          <p:cNvSpPr>
            <a:spLocks noGrp="1"/>
          </p:cNvSpPr>
          <p:nvPr>
            <p:ph sz="quarter" idx="13" hasCustomPrompt="1"/>
          </p:nvPr>
        </p:nvSpPr>
        <p:spPr>
          <a:xfrm>
            <a:off x="482600" y="2857500"/>
            <a:ext cx="3580353" cy="3295650"/>
          </a:xfrm>
        </p:spPr>
        <p:txBody>
          <a:bodyPr anchor="ctr"/>
          <a:lstStyle>
            <a:lvl1pPr marL="0" indent="0" algn="ctr">
              <a:buNone/>
              <a:defRPr/>
            </a:lvl1pPr>
          </a:lstStyle>
          <a:p>
            <a:pPr lvl="0"/>
            <a:r>
              <a:rPr lang="zh-CN" altLang="en-US" dirty="0"/>
              <a:t>插入你的图表</a:t>
            </a:r>
            <a:endParaRPr lang="zh-CN" altLang="en-US" dirty="0"/>
          </a:p>
        </p:txBody>
      </p:sp>
      <p:sp>
        <p:nvSpPr>
          <p:cNvPr id="13" name="内容占位符 14"/>
          <p:cNvSpPr>
            <a:spLocks noGrp="1"/>
          </p:cNvSpPr>
          <p:nvPr>
            <p:ph sz="quarter" idx="15" hasCustomPrompt="1"/>
          </p:nvPr>
        </p:nvSpPr>
        <p:spPr>
          <a:xfrm>
            <a:off x="476250" y="2260599"/>
            <a:ext cx="3580353"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sp>
        <p:nvSpPr>
          <p:cNvPr id="18" name="内容占位符 11"/>
          <p:cNvSpPr>
            <a:spLocks noGrp="1"/>
          </p:cNvSpPr>
          <p:nvPr>
            <p:ph sz="quarter" idx="16" hasCustomPrompt="1"/>
          </p:nvPr>
        </p:nvSpPr>
        <p:spPr>
          <a:xfrm>
            <a:off x="4309884" y="2857500"/>
            <a:ext cx="3580353" cy="3295650"/>
          </a:xfrm>
        </p:spPr>
        <p:txBody>
          <a:bodyPr anchor="ctr"/>
          <a:lstStyle>
            <a:lvl1pPr marL="0" indent="0" algn="ctr">
              <a:buNone/>
              <a:defRPr/>
            </a:lvl1pPr>
          </a:lstStyle>
          <a:p>
            <a:pPr lvl="0"/>
            <a:r>
              <a:rPr lang="zh-CN" altLang="en-US" dirty="0"/>
              <a:t>插入你的图表</a:t>
            </a:r>
            <a:endParaRPr lang="zh-CN" altLang="en-US" dirty="0"/>
          </a:p>
        </p:txBody>
      </p:sp>
      <p:sp>
        <p:nvSpPr>
          <p:cNvPr id="19" name="内容占位符 14"/>
          <p:cNvSpPr>
            <a:spLocks noGrp="1"/>
          </p:cNvSpPr>
          <p:nvPr>
            <p:ph sz="quarter" idx="17" hasCustomPrompt="1"/>
          </p:nvPr>
        </p:nvSpPr>
        <p:spPr>
          <a:xfrm>
            <a:off x="4303534" y="2260599"/>
            <a:ext cx="3580353"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sp>
        <p:nvSpPr>
          <p:cNvPr id="20" name="内容占位符 11"/>
          <p:cNvSpPr>
            <a:spLocks noGrp="1"/>
          </p:cNvSpPr>
          <p:nvPr>
            <p:ph sz="quarter" idx="18" hasCustomPrompt="1"/>
          </p:nvPr>
        </p:nvSpPr>
        <p:spPr>
          <a:xfrm>
            <a:off x="8116347" y="2857500"/>
            <a:ext cx="3580353" cy="3295650"/>
          </a:xfrm>
        </p:spPr>
        <p:txBody>
          <a:bodyPr anchor="ctr"/>
          <a:lstStyle>
            <a:lvl1pPr marL="0" indent="0" algn="ctr">
              <a:buNone/>
              <a:defRPr/>
            </a:lvl1pPr>
          </a:lstStyle>
          <a:p>
            <a:pPr lvl="0"/>
            <a:r>
              <a:rPr lang="zh-CN" altLang="en-US" dirty="0"/>
              <a:t>插入你的图表</a:t>
            </a:r>
            <a:endParaRPr lang="zh-CN" altLang="en-US" dirty="0"/>
          </a:p>
        </p:txBody>
      </p:sp>
      <p:sp>
        <p:nvSpPr>
          <p:cNvPr id="21" name="内容占位符 14"/>
          <p:cNvSpPr>
            <a:spLocks noGrp="1"/>
          </p:cNvSpPr>
          <p:nvPr>
            <p:ph sz="quarter" idx="19" hasCustomPrompt="1"/>
          </p:nvPr>
        </p:nvSpPr>
        <p:spPr>
          <a:xfrm>
            <a:off x="8109997" y="2260599"/>
            <a:ext cx="3580353"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pic>
        <p:nvPicPr>
          <p:cNvPr id="22" name="图片 21"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左右版式">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641350" y="2209780"/>
            <a:ext cx="4664075" cy="3629025"/>
          </a:xfrm>
        </p:spPr>
        <p:txBody>
          <a:bodyPr>
            <a:normAutofit/>
          </a:bodyPr>
          <a:lstStyle>
            <a:lvl1pPr marL="0" indent="0" algn="just">
              <a:lnSpc>
                <a:spcPct val="120000"/>
              </a:lnSpc>
              <a:spcBef>
                <a:spcPts val="600"/>
              </a:spcBef>
              <a:buNone/>
              <a:defRPr sz="1800">
                <a:solidFill>
                  <a:schemeClr val="tx1">
                    <a:lumMod val="75000"/>
                    <a:lumOff val="25000"/>
                  </a:schemeClr>
                </a:solidFill>
              </a:defRPr>
            </a:lvl1pPr>
          </a:lstStyle>
          <a:p>
            <a:pPr lvl="0"/>
            <a:r>
              <a:rPr lang="zh-CN" altLang="en-US" dirty="0"/>
              <a:t>输入正文</a:t>
            </a:r>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1" name="内容占位符 11"/>
          <p:cNvSpPr>
            <a:spLocks noGrp="1"/>
          </p:cNvSpPr>
          <p:nvPr>
            <p:ph sz="quarter" idx="14" hasCustomPrompt="1"/>
          </p:nvPr>
        </p:nvSpPr>
        <p:spPr>
          <a:xfrm>
            <a:off x="6089651" y="2209799"/>
            <a:ext cx="5613400" cy="3629025"/>
          </a:xfrm>
        </p:spPr>
        <p:txBody>
          <a:bodyPr anchor="ctr"/>
          <a:lstStyle>
            <a:lvl1pPr marL="0" indent="0" algn="ctr">
              <a:buNone/>
              <a:defRPr/>
            </a:lvl1pPr>
          </a:lstStyle>
          <a:p>
            <a:pPr lvl="0"/>
            <a:r>
              <a:rPr lang="zh-CN" altLang="en-US" dirty="0"/>
              <a:t>插入你的图表</a:t>
            </a:r>
            <a:endParaRPr lang="zh-CN" altLang="en-US" dirty="0"/>
          </a:p>
        </p:txBody>
      </p:sp>
      <p:sp>
        <p:nvSpPr>
          <p:cNvPr id="14" name="内容占位符 14"/>
          <p:cNvSpPr>
            <a:spLocks noGrp="1"/>
          </p:cNvSpPr>
          <p:nvPr>
            <p:ph sz="quarter" idx="16" hasCustomPrompt="1"/>
          </p:nvPr>
        </p:nvSpPr>
        <p:spPr>
          <a:xfrm>
            <a:off x="6089651" y="1608137"/>
            <a:ext cx="56134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sp>
        <p:nvSpPr>
          <p:cNvPr id="17" name="内容占位符 2"/>
          <p:cNvSpPr>
            <a:spLocks noGrp="1"/>
          </p:cNvSpPr>
          <p:nvPr>
            <p:ph idx="17" hasCustomPrompt="1"/>
          </p:nvPr>
        </p:nvSpPr>
        <p:spPr>
          <a:xfrm>
            <a:off x="641350" y="1601788"/>
            <a:ext cx="4664075" cy="530226"/>
          </a:xfrm>
        </p:spPr>
        <p:txBody>
          <a:bodyPr anchor="ctr">
            <a:normAutofit/>
          </a:bodyPr>
          <a:lstStyle>
            <a:lvl1pPr marL="285750" indent="-285750">
              <a:lnSpc>
                <a:spcPct val="120000"/>
              </a:lnSpc>
              <a:spcBef>
                <a:spcPts val="600"/>
              </a:spcBef>
              <a:buFont typeface="Wingdings" panose="05000000000000000000" pitchFamily="2" charset="2"/>
              <a:buChar char="l"/>
              <a:defRPr sz="2400">
                <a:solidFill>
                  <a:schemeClr val="accent1"/>
                </a:solidFill>
                <a:latin typeface="+mj-ea"/>
                <a:ea typeface="+mj-ea"/>
              </a:defRPr>
            </a:lvl1pPr>
          </a:lstStyle>
          <a:p>
            <a:pPr lvl="0"/>
            <a:r>
              <a:rPr lang="zh-CN" altLang="en-US" dirty="0"/>
              <a:t>结论</a:t>
            </a:r>
            <a:endParaRPr lang="zh-CN" altLang="en-US" dirty="0"/>
          </a:p>
        </p:txBody>
      </p:sp>
      <p:pic>
        <p:nvPicPr>
          <p:cNvPr id="12" name="图片 11"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pic>
        <p:nvPicPr>
          <p:cNvPr id="9" name="图片 8"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34FB6C8-7C8F-4A07-82BA-70423D8EE85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4FB6C8-7C8F-4A07-82BA-70423D8EE85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8.jpeg"/><Relationship Id="rId10" Type="http://schemas.openxmlformats.org/officeDocument/2006/relationships/notesSlide" Target="../notesSlides/notesSlide1.xml"/><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7" Type="http://schemas.openxmlformats.org/officeDocument/2006/relationships/notesSlide" Target="../notesSlides/notesSlide4.xml"/><Relationship Id="rId16" Type="http://schemas.openxmlformats.org/officeDocument/2006/relationships/slideLayout" Target="../slideLayouts/slideLayout5.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image" Target="../media/image10.svg"/><Relationship Id="rId11" Type="http://schemas.openxmlformats.org/officeDocument/2006/relationships/image" Target="../media/image9.png"/><Relationship Id="rId10" Type="http://schemas.openxmlformats.org/officeDocument/2006/relationships/tags" Target="../tags/tag16.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6" Type="http://schemas.openxmlformats.org/officeDocument/2006/relationships/notesSlide" Target="../notesSlides/notesSlide5.xml"/><Relationship Id="rId15" Type="http://schemas.openxmlformats.org/officeDocument/2006/relationships/slideLayout" Target="../slideLayouts/slideLayout5.xml"/><Relationship Id="rId14" Type="http://schemas.openxmlformats.org/officeDocument/2006/relationships/tags" Target="../tags/tag31.xml"/><Relationship Id="rId13" Type="http://schemas.openxmlformats.org/officeDocument/2006/relationships/image" Target="../media/image12.svg"/><Relationship Id="rId12" Type="http://schemas.openxmlformats.org/officeDocument/2006/relationships/image" Target="../media/image11.png"/><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0" Type="http://schemas.openxmlformats.org/officeDocument/2006/relationships/notesSlide" Target="../notesSlides/notesSlide7.xml"/><Relationship Id="rId1" Type="http://schemas.openxmlformats.org/officeDocument/2006/relationships/tags" Target="../tags/tag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tags" Target="../tags/tag42.xml"/><Relationship Id="rId21" Type="http://schemas.openxmlformats.org/officeDocument/2006/relationships/notesSlide" Target="../notesSlides/notesSlide9.xml"/><Relationship Id="rId20" Type="http://schemas.openxmlformats.org/officeDocument/2006/relationships/slideLayout" Target="../slideLayouts/slideLayout5.xml"/><Relationship Id="rId2" Type="http://schemas.openxmlformats.org/officeDocument/2006/relationships/tags" Target="../tags/tag41.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5.xml"/><Relationship Id="rId4" Type="http://schemas.openxmlformats.org/officeDocument/2006/relationships/tags" Target="../tags/tag54.xml"/><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tags" Target="../tags/tag53.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5.xml"/><Relationship Id="rId3" Type="http://schemas.openxmlformats.org/officeDocument/2006/relationships/tags" Target="../tags/tag56.xml"/><Relationship Id="rId2" Type="http://schemas.openxmlformats.org/officeDocument/2006/relationships/image" Target="../media/image21.png"/><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5.xml"/><Relationship Id="rId3" Type="http://schemas.openxmlformats.org/officeDocument/2006/relationships/tags" Target="../tags/tag58.xml"/><Relationship Id="rId2" Type="http://schemas.openxmlformats.org/officeDocument/2006/relationships/image" Target="../media/image22.png"/><Relationship Id="rId1" Type="http://schemas.openxmlformats.org/officeDocument/2006/relationships/tags" Target="../tags/tag57.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5.xml"/><Relationship Id="rId4" Type="http://schemas.openxmlformats.org/officeDocument/2006/relationships/tags" Target="../tags/tag60.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tags" Target="../tags/tag59.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5.xml"/><Relationship Id="rId3" Type="http://schemas.openxmlformats.org/officeDocument/2006/relationships/tags" Target="../tags/tag62.xml"/><Relationship Id="rId2" Type="http://schemas.openxmlformats.org/officeDocument/2006/relationships/image" Target="../media/image25.png"/><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5.xml"/><Relationship Id="rId4" Type="http://schemas.openxmlformats.org/officeDocument/2006/relationships/tags" Target="../tags/tag64.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tags" Target="../tags/tag63.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5.xml"/><Relationship Id="rId3" Type="http://schemas.openxmlformats.org/officeDocument/2006/relationships/tags" Target="../tags/tag66.xml"/><Relationship Id="rId2" Type="http://schemas.openxmlformats.org/officeDocument/2006/relationships/image" Target="../media/image28.png"/><Relationship Id="rId1" Type="http://schemas.openxmlformats.org/officeDocument/2006/relationships/tags" Target="../tags/tag6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image" Target="../media/image18.svg"/><Relationship Id="rId6" Type="http://schemas.openxmlformats.org/officeDocument/2006/relationships/image" Target="../media/image30.png"/><Relationship Id="rId5" Type="http://schemas.openxmlformats.org/officeDocument/2006/relationships/tags" Target="../tags/tag69.xml"/><Relationship Id="rId4" Type="http://schemas.openxmlformats.org/officeDocument/2006/relationships/image" Target="../media/image16.svg"/><Relationship Id="rId3" Type="http://schemas.openxmlformats.org/officeDocument/2006/relationships/image" Target="../media/image29.png"/><Relationship Id="rId2" Type="http://schemas.openxmlformats.org/officeDocument/2006/relationships/tags" Target="../tags/tag68.xml"/><Relationship Id="rId14" Type="http://schemas.openxmlformats.org/officeDocument/2006/relationships/notesSlide" Target="../notesSlides/notesSlide18.xml"/><Relationship Id="rId13" Type="http://schemas.openxmlformats.org/officeDocument/2006/relationships/slideLayout" Target="../slideLayouts/slideLayout5.xml"/><Relationship Id="rId12" Type="http://schemas.openxmlformats.org/officeDocument/2006/relationships/tags" Target="../tags/tag72.xml"/><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tags" Target="../tags/tag67.xml"/></Relationships>
</file>

<file path=ppt/slides/_rels/slide19.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image" Target="../media/image18.svg"/><Relationship Id="rId6" Type="http://schemas.openxmlformats.org/officeDocument/2006/relationships/image" Target="../media/image30.png"/><Relationship Id="rId5" Type="http://schemas.openxmlformats.org/officeDocument/2006/relationships/tags" Target="../tags/tag75.xml"/><Relationship Id="rId4" Type="http://schemas.openxmlformats.org/officeDocument/2006/relationships/image" Target="../media/image16.svg"/><Relationship Id="rId3" Type="http://schemas.openxmlformats.org/officeDocument/2006/relationships/image" Target="../media/image29.png"/><Relationship Id="rId2" Type="http://schemas.openxmlformats.org/officeDocument/2006/relationships/tags" Target="../tags/tag74.xml"/><Relationship Id="rId11" Type="http://schemas.openxmlformats.org/officeDocument/2006/relationships/notesSlide" Target="../notesSlides/notesSlide19.xml"/><Relationship Id="rId10" Type="http://schemas.openxmlformats.org/officeDocument/2006/relationships/slideLayout" Target="../slideLayouts/slideLayout5.xml"/><Relationship Id="rId1" Type="http://schemas.openxmlformats.org/officeDocument/2006/relationships/tags" Target="../tags/tag73.xml"/></Relationships>
</file>

<file path=ppt/slides/_rels/slide20.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image" Target="../media/image33.png"/><Relationship Id="rId7" Type="http://schemas.openxmlformats.org/officeDocument/2006/relationships/image" Target="../media/image18.svg"/><Relationship Id="rId6" Type="http://schemas.openxmlformats.org/officeDocument/2006/relationships/image" Target="../media/image30.png"/><Relationship Id="rId5" Type="http://schemas.openxmlformats.org/officeDocument/2006/relationships/tags" Target="../tags/tag80.xml"/><Relationship Id="rId4" Type="http://schemas.openxmlformats.org/officeDocument/2006/relationships/image" Target="../media/image16.svg"/><Relationship Id="rId3" Type="http://schemas.openxmlformats.org/officeDocument/2006/relationships/image" Target="../media/image29.png"/><Relationship Id="rId2" Type="http://schemas.openxmlformats.org/officeDocument/2006/relationships/tags" Target="../tags/tag79.xml"/><Relationship Id="rId11" Type="http://schemas.openxmlformats.org/officeDocument/2006/relationships/notesSlide" Target="../notesSlides/notesSlide20.xml"/><Relationship Id="rId10" Type="http://schemas.openxmlformats.org/officeDocument/2006/relationships/slideLayout" Target="../slideLayouts/slideLayout5.xml"/><Relationship Id="rId1" Type="http://schemas.openxmlformats.org/officeDocument/2006/relationships/tags" Target="../tags/tag78.xml"/></Relationships>
</file>

<file path=ppt/slides/_rels/slide21.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image" Target="../media/image38.png"/><Relationship Id="rId7" Type="http://schemas.openxmlformats.org/officeDocument/2006/relationships/image" Target="../media/image37.svg"/><Relationship Id="rId6" Type="http://schemas.openxmlformats.org/officeDocument/2006/relationships/image" Target="../media/image36.png"/><Relationship Id="rId5" Type="http://schemas.openxmlformats.org/officeDocument/2006/relationships/tags" Target="../tags/tag84.xml"/><Relationship Id="rId4" Type="http://schemas.openxmlformats.org/officeDocument/2006/relationships/image" Target="../media/image35.svg"/><Relationship Id="rId3" Type="http://schemas.openxmlformats.org/officeDocument/2006/relationships/image" Target="../media/image34.png"/><Relationship Id="rId2" Type="http://schemas.openxmlformats.org/officeDocument/2006/relationships/tags" Target="../tags/tag83.xml"/><Relationship Id="rId11" Type="http://schemas.openxmlformats.org/officeDocument/2006/relationships/notesSlide" Target="../notesSlides/notesSlide21.xml"/><Relationship Id="rId10" Type="http://schemas.openxmlformats.org/officeDocument/2006/relationships/slideLayout" Target="../slideLayouts/slideLayout5.xml"/><Relationship Id="rId1" Type="http://schemas.openxmlformats.org/officeDocument/2006/relationships/tags" Target="../tags/tag82.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5.xml"/><Relationship Id="rId5" Type="http://schemas.openxmlformats.org/officeDocument/2006/relationships/tags" Target="../tags/tag89.xml"/><Relationship Id="rId4" Type="http://schemas.openxmlformats.org/officeDocument/2006/relationships/image" Target="../media/image39.png"/><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5.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8.xml"/><Relationship Id="rId4" Type="http://schemas.openxmlformats.org/officeDocument/2006/relationships/tags" Target="../tags/tag94.xml"/><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95.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8.xml"/><Relationship Id="rId3" Type="http://schemas.openxmlformats.org/officeDocument/2006/relationships/tags" Target="../tags/tag96.xml"/><Relationship Id="rId2" Type="http://schemas.openxmlformats.org/officeDocument/2006/relationships/image" Target="../media/image44.png"/><Relationship Id="rId1" Type="http://schemas.openxmlformats.org/officeDocument/2006/relationships/image" Target="../media/image43.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8.xml"/><Relationship Id="rId3" Type="http://schemas.openxmlformats.org/officeDocument/2006/relationships/tags" Target="../tags/tag97.xml"/><Relationship Id="rId2" Type="http://schemas.openxmlformats.org/officeDocument/2006/relationships/image" Target="../media/image46.png"/><Relationship Id="rId1" Type="http://schemas.openxmlformats.org/officeDocument/2006/relationships/image" Target="../media/image45.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8.xml"/><Relationship Id="rId2" Type="http://schemas.openxmlformats.org/officeDocument/2006/relationships/tags" Target="../tags/tag98.xml"/><Relationship Id="rId1" Type="http://schemas.openxmlformats.org/officeDocument/2006/relationships/image" Target="../media/image4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8.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8.xml"/><Relationship Id="rId2" Type="http://schemas.openxmlformats.org/officeDocument/2006/relationships/tags" Target="../tags/tag104.xml"/><Relationship Id="rId1" Type="http://schemas.openxmlformats.org/officeDocument/2006/relationships/tags" Target="../tags/tag103.xml"/></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9.xml"/><Relationship Id="rId5" Type="http://schemas.openxmlformats.org/officeDocument/2006/relationships/image" Target="../media/image8.jpeg"/><Relationship Id="rId4" Type="http://schemas.openxmlformats.org/officeDocument/2006/relationships/image" Target="../media/image51.jpeg"/><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片包含 户外, 建筑, 树, 公寓&#10;&#10;描述已自动生成"/>
          <p:cNvPicPr>
            <a:picLocks noChangeAspect="1"/>
          </p:cNvPicPr>
          <p:nvPr/>
        </p:nvPicPr>
        <p:blipFill rotWithShape="1">
          <a:blip r:embed="rId1">
            <a:extLst>
              <a:ext uri="{28A0092B-C50C-407E-A947-70E740481C1C}">
                <a14:useLocalDpi xmlns:a14="http://schemas.microsoft.com/office/drawing/2010/main" val="0"/>
              </a:ext>
            </a:extLst>
          </a:blip>
          <a:srcRect t="34032" b="21050"/>
          <a:stretch>
            <a:fillRect/>
          </a:stretch>
        </p:blipFill>
        <p:spPr>
          <a:xfrm>
            <a:off x="0" y="0"/>
            <a:ext cx="12192000" cy="3080458"/>
          </a:xfrm>
          <a:prstGeom prst="rect">
            <a:avLst/>
          </a:prstGeom>
        </p:spPr>
      </p:pic>
      <p:pic>
        <p:nvPicPr>
          <p:cNvPr id="4" name="图片 3" descr="图片包含 游戏机, 房间, 食物, 画&#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5930" y="616658"/>
            <a:ext cx="1928966" cy="1928966"/>
          </a:xfrm>
          <a:prstGeom prst="ellipse">
            <a:avLst/>
          </a:prstGeom>
        </p:spPr>
      </p:pic>
      <p:sp>
        <p:nvSpPr>
          <p:cNvPr id="13" name="灯片编号占位符 1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19" name="文本框 18"/>
          <p:cNvSpPr txBox="1"/>
          <p:nvPr/>
        </p:nvSpPr>
        <p:spPr>
          <a:xfrm>
            <a:off x="262255" y="3286125"/>
            <a:ext cx="11763375" cy="629285"/>
          </a:xfrm>
          <a:prstGeom prst="rect">
            <a:avLst/>
          </a:prstGeom>
          <a:noFill/>
        </p:spPr>
        <p:txBody>
          <a:bodyPr wrap="square" rtlCol="0">
            <a:noAutofit/>
          </a:bodyPr>
          <a:lstStyle/>
          <a:p>
            <a:pPr indent="0" algn="dist" fontAlgn="auto" latinLnBrk="1"/>
            <a:r>
              <a:rPr lang="zh-CN" altLang="zh-CN" sz="2800" dirty="0">
                <a:solidFill>
                  <a:schemeClr val="accent1"/>
                </a:solidFill>
                <a:latin typeface="黑体" panose="02010609060101010101" charset="-122"/>
                <a:ea typeface="黑体" panose="02010609060101010101" charset="-122"/>
              </a:rPr>
              <a:t>融合图像与地理位置元数据的古树名木多模态哈希检索方法研究与应用</a:t>
            </a:r>
            <a:endParaRPr lang="zh-CN" altLang="zh-CN" sz="2800" dirty="0">
              <a:solidFill>
                <a:schemeClr val="accent1"/>
              </a:solidFill>
              <a:latin typeface="黑体" panose="02010609060101010101" charset="-122"/>
              <a:ea typeface="黑体" panose="02010609060101010101" charset="-122"/>
            </a:endParaRPr>
          </a:p>
        </p:txBody>
      </p:sp>
      <p:grpSp>
        <p:nvGrpSpPr>
          <p:cNvPr id="6" name="组合 5"/>
          <p:cNvGrpSpPr/>
          <p:nvPr>
            <p:custDataLst>
              <p:tags r:id="rId3"/>
            </p:custDataLst>
          </p:nvPr>
        </p:nvGrpSpPr>
        <p:grpSpPr>
          <a:xfrm>
            <a:off x="1286467" y="4840513"/>
            <a:ext cx="2273210" cy="463012"/>
            <a:chOff x="1767755" y="5835880"/>
            <a:chExt cx="2273210" cy="463012"/>
          </a:xfrm>
        </p:grpSpPr>
        <p:sp>
          <p:nvSpPr>
            <p:cNvPr id="30" name="矩形: 圆角 29"/>
            <p:cNvSpPr/>
            <p:nvPr>
              <p:custDataLst>
                <p:tags r:id="rId4"/>
              </p:custDataLst>
            </p:nvPr>
          </p:nvSpPr>
          <p:spPr>
            <a:xfrm>
              <a:off x="1767755" y="5835880"/>
              <a:ext cx="2273210" cy="463012"/>
            </a:xfrm>
            <a:prstGeom prst="roundRect">
              <a:avLst>
                <a:gd name="adj" fmla="val 2215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3" name="文本框 22"/>
            <p:cNvSpPr txBox="1"/>
            <p:nvPr>
              <p:custDataLst>
                <p:tags r:id="rId5"/>
              </p:custDataLst>
            </p:nvPr>
          </p:nvSpPr>
          <p:spPr>
            <a:xfrm>
              <a:off x="1824140" y="5883236"/>
              <a:ext cx="2160442" cy="368300"/>
            </a:xfrm>
            <a:prstGeom prst="rect">
              <a:avLst/>
            </a:prstGeom>
            <a:noFill/>
          </p:spPr>
          <p:txBody>
            <a:bodyPr wrap="square" rtlCol="0" anchor="ctr">
              <a:spAutoFit/>
            </a:bodyPr>
            <a:lstStyle/>
            <a:p>
              <a:pPr algn="ctr"/>
              <a:r>
                <a:rPr lang="zh-CN" altLang="en-US" dirty="0">
                  <a:solidFill>
                    <a:schemeClr val="bg1"/>
                  </a:solidFill>
                  <a:latin typeface="黑体" panose="02010609060101010101" charset="-122"/>
                  <a:ea typeface="黑体" panose="02010609060101010101" charset="-122"/>
                </a:rPr>
                <a:t>答辩人</a:t>
              </a:r>
              <a:r>
                <a:rPr lang="zh-CN" altLang="en-US" dirty="0" smtClean="0">
                  <a:solidFill>
                    <a:schemeClr val="bg1"/>
                  </a:solidFill>
                  <a:latin typeface="黑体" panose="02010609060101010101" charset="-122"/>
                  <a:ea typeface="黑体" panose="02010609060101010101" charset="-122"/>
                </a:rPr>
                <a:t>：宋</a:t>
              </a:r>
              <a:r>
                <a:rPr lang="zh-CN" altLang="en-US" dirty="0" smtClean="0">
                  <a:solidFill>
                    <a:schemeClr val="bg1"/>
                  </a:solidFill>
                  <a:latin typeface="黑体" panose="02010609060101010101" charset="-122"/>
                  <a:ea typeface="黑体" panose="02010609060101010101" charset="-122"/>
                </a:rPr>
                <a:t>声林</a:t>
              </a:r>
              <a:endParaRPr lang="zh-CN" altLang="en-US" dirty="0" smtClean="0">
                <a:solidFill>
                  <a:schemeClr val="bg1"/>
                </a:solidFill>
                <a:latin typeface="黑体" panose="02010609060101010101" charset="-122"/>
                <a:ea typeface="黑体" panose="02010609060101010101" charset="-122"/>
              </a:endParaRPr>
            </a:p>
          </p:txBody>
        </p:sp>
      </p:grpSp>
      <p:grpSp>
        <p:nvGrpSpPr>
          <p:cNvPr id="2" name="组合 1"/>
          <p:cNvGrpSpPr/>
          <p:nvPr>
            <p:custDataLst>
              <p:tags r:id="rId6"/>
            </p:custDataLst>
          </p:nvPr>
        </p:nvGrpSpPr>
        <p:grpSpPr>
          <a:xfrm>
            <a:off x="8514755" y="4840513"/>
            <a:ext cx="2552076" cy="463012"/>
            <a:chOff x="4873792" y="5835880"/>
            <a:chExt cx="2053147" cy="463012"/>
          </a:xfrm>
        </p:grpSpPr>
        <p:sp>
          <p:nvSpPr>
            <p:cNvPr id="31" name="矩形: 圆角 30"/>
            <p:cNvSpPr/>
            <p:nvPr>
              <p:custDataLst>
                <p:tags r:id="rId7"/>
              </p:custDataLst>
            </p:nvPr>
          </p:nvSpPr>
          <p:spPr>
            <a:xfrm>
              <a:off x="4985965" y="5835880"/>
              <a:ext cx="1828800" cy="463012"/>
            </a:xfrm>
            <a:prstGeom prst="roundRect">
              <a:avLst>
                <a:gd name="adj" fmla="val 2215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4" name="文本框 23"/>
            <p:cNvSpPr txBox="1"/>
            <p:nvPr>
              <p:custDataLst>
                <p:tags r:id="rId8"/>
              </p:custDataLst>
            </p:nvPr>
          </p:nvSpPr>
          <p:spPr>
            <a:xfrm>
              <a:off x="4873792" y="5883871"/>
              <a:ext cx="2053147" cy="368300"/>
            </a:xfrm>
            <a:prstGeom prst="rect">
              <a:avLst/>
            </a:prstGeom>
            <a:noFill/>
          </p:spPr>
          <p:txBody>
            <a:bodyPr wrap="square" rtlCol="0" anchor="ctr">
              <a:spAutoFit/>
            </a:bodyPr>
            <a:lstStyle>
              <a:defPPr>
                <a:defRPr lang="zh-CN"/>
              </a:defPPr>
              <a:lvl1pPr algn="ctr">
                <a:defRPr>
                  <a:solidFill>
                    <a:schemeClr val="bg1"/>
                  </a:solidFill>
                </a:defRPr>
              </a:lvl1pPr>
            </a:lstStyle>
            <a:p>
              <a:r>
                <a:rPr lang="zh-CN" altLang="en-US" dirty="0">
                  <a:latin typeface="黑体" panose="02010609060101010101" charset="-122"/>
                  <a:ea typeface="黑体" panose="02010609060101010101" charset="-122"/>
                </a:rPr>
                <a:t>指导老师</a:t>
              </a:r>
              <a:r>
                <a:rPr lang="zh-CN" altLang="en-US" dirty="0" smtClean="0">
                  <a:latin typeface="黑体" panose="02010609060101010101" charset="-122"/>
                  <a:ea typeface="黑体" panose="02010609060101010101" charset="-122"/>
                </a:rPr>
                <a:t>：田</a:t>
              </a:r>
              <a:r>
                <a:rPr lang="zh-CN" altLang="en-US" dirty="0" smtClean="0">
                  <a:latin typeface="黑体" panose="02010609060101010101" charset="-122"/>
                  <a:ea typeface="黑体" panose="02010609060101010101" charset="-122"/>
                </a:rPr>
                <a:t>萱</a:t>
              </a:r>
              <a:endParaRPr lang="zh-CN" altLang="en-US" dirty="0" smtClean="0">
                <a:latin typeface="黑体" panose="02010609060101010101" charset="-122"/>
                <a:ea typeface="黑体" panose="02010609060101010101" charset="-122"/>
              </a:endParaRPr>
            </a:p>
          </p:txBody>
        </p:sp>
      </p:grpSp>
      <p:sp>
        <p:nvSpPr>
          <p:cNvPr id="26" name="文本框 25"/>
          <p:cNvSpPr txBox="1"/>
          <p:nvPr/>
        </p:nvSpPr>
        <p:spPr>
          <a:xfrm>
            <a:off x="226060" y="3903345"/>
            <a:ext cx="11637645" cy="812800"/>
          </a:xfrm>
          <a:prstGeom prst="rect">
            <a:avLst/>
          </a:prstGeom>
          <a:noFill/>
        </p:spPr>
        <p:txBody>
          <a:bodyPr wrap="square" rtlCol="0">
            <a:noAutofit/>
          </a:bodyPr>
          <a:lstStyle/>
          <a:p>
            <a:pPr algn="ctr"/>
            <a:r>
              <a:rPr lang="en-US" altLang="zh-CN" sz="2000" dirty="0">
                <a:solidFill>
                  <a:schemeClr val="accent3"/>
                </a:solidFill>
                <a:latin typeface="Times New Roman" panose="02020603050405020304" charset="0"/>
                <a:cs typeface="Times New Roman" panose="02020603050405020304" charset="0"/>
              </a:rPr>
              <a:t>Research and Application of Ancient and Famous Tree Multimodal Hashing Method Based on Fused Image and Location Metadata</a:t>
            </a:r>
            <a:endParaRPr lang="en-US" altLang="zh-CN" sz="2000" dirty="0">
              <a:solidFill>
                <a:schemeClr val="accent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6544305" y="706200"/>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01</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7" name="文本框 16"/>
          <p:cNvSpPr txBox="1"/>
          <p:nvPr/>
        </p:nvSpPr>
        <p:spPr>
          <a:xfrm>
            <a:off x="7501890" y="756920"/>
            <a:ext cx="353822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研究背景及意义</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5" name="椭圆 4"/>
          <p:cNvSpPr/>
          <p:nvPr/>
        </p:nvSpPr>
        <p:spPr>
          <a:xfrm>
            <a:off x="6544306" y="1666054"/>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02</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5" name="文本框 14"/>
          <p:cNvSpPr txBox="1"/>
          <p:nvPr/>
        </p:nvSpPr>
        <p:spPr>
          <a:xfrm>
            <a:off x="7502159" y="1716854"/>
            <a:ext cx="3163825"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研究现状</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7" name="椭圆 6"/>
          <p:cNvSpPr/>
          <p:nvPr/>
        </p:nvSpPr>
        <p:spPr>
          <a:xfrm>
            <a:off x="6544306" y="2625908"/>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03</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文本框 12"/>
          <p:cNvSpPr txBox="1"/>
          <p:nvPr/>
        </p:nvSpPr>
        <p:spPr>
          <a:xfrm>
            <a:off x="7502159" y="2676708"/>
            <a:ext cx="3673842"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研究</a:t>
            </a: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内容</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9" name="椭圆 8"/>
          <p:cNvSpPr/>
          <p:nvPr/>
        </p:nvSpPr>
        <p:spPr>
          <a:xfrm>
            <a:off x="6544306" y="3585762"/>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04</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1" name="文本框 10"/>
          <p:cNvSpPr txBox="1"/>
          <p:nvPr/>
        </p:nvSpPr>
        <p:spPr>
          <a:xfrm>
            <a:off x="7501890" y="3636645"/>
            <a:ext cx="440182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实验设计与分析</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24" name="椭圆 23"/>
          <p:cNvSpPr/>
          <p:nvPr/>
        </p:nvSpPr>
        <p:spPr>
          <a:xfrm>
            <a:off x="6544306" y="4545616"/>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05</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5" name="文本框 24"/>
          <p:cNvSpPr txBox="1"/>
          <p:nvPr/>
        </p:nvSpPr>
        <p:spPr>
          <a:xfrm>
            <a:off x="7502159" y="4596416"/>
            <a:ext cx="3673842"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spc="400" dirty="0">
                <a:solidFill>
                  <a:schemeClr val="accent1"/>
                </a:solidFill>
                <a:latin typeface="黑体" panose="02010609060101010101" charset="-122"/>
                <a:ea typeface="黑体" panose="02010609060101010101" charset="-122"/>
              </a:rPr>
              <a:t>系统设计与</a:t>
            </a:r>
            <a:r>
              <a:rPr lang="zh-CN" altLang="en-US" sz="3200" spc="400" dirty="0">
                <a:solidFill>
                  <a:schemeClr val="accent1"/>
                </a:solidFill>
                <a:latin typeface="黑体" panose="02010609060101010101" charset="-122"/>
                <a:ea typeface="黑体" panose="02010609060101010101" charset="-122"/>
              </a:rPr>
              <a:t>实现</a:t>
            </a:r>
            <a:endParaRPr lang="zh-CN" altLang="en-US" sz="3200" spc="400" dirty="0">
              <a:solidFill>
                <a:schemeClr val="accent1"/>
              </a:solidFill>
              <a:latin typeface="黑体" panose="02010609060101010101" charset="-122"/>
              <a:ea typeface="黑体" panose="02010609060101010101" charset="-122"/>
            </a:endParaRPr>
          </a:p>
        </p:txBody>
      </p:sp>
      <p:sp>
        <p:nvSpPr>
          <p:cNvPr id="32" name="椭圆 31"/>
          <p:cNvSpPr/>
          <p:nvPr/>
        </p:nvSpPr>
        <p:spPr>
          <a:xfrm>
            <a:off x="6544306" y="5505470"/>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06</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33" name="文本框 32"/>
          <p:cNvSpPr txBox="1"/>
          <p:nvPr/>
        </p:nvSpPr>
        <p:spPr>
          <a:xfrm>
            <a:off x="7502159" y="5556270"/>
            <a:ext cx="3673842"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spc="400" dirty="0">
                <a:solidFill>
                  <a:schemeClr val="accent1"/>
                </a:solidFill>
                <a:latin typeface="黑体" panose="02010609060101010101" charset="-122"/>
                <a:ea typeface="黑体" panose="02010609060101010101" charset="-122"/>
              </a:rPr>
              <a:t>总结与展望</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grpSp>
        <p:nvGrpSpPr>
          <p:cNvPr id="14" name="组合 13"/>
          <p:cNvGrpSpPr/>
          <p:nvPr/>
        </p:nvGrpSpPr>
        <p:grpSpPr>
          <a:xfrm>
            <a:off x="1447797" y="2197100"/>
            <a:ext cx="2603500" cy="1790700"/>
            <a:chOff x="1778000" y="2197100"/>
            <a:chExt cx="2603500" cy="1790700"/>
          </a:xfrm>
        </p:grpSpPr>
        <p:sp>
          <p:nvSpPr>
            <p:cNvPr id="16" name="文本框 15"/>
            <p:cNvSpPr txBox="1"/>
            <p:nvPr/>
          </p:nvSpPr>
          <p:spPr>
            <a:xfrm>
              <a:off x="2090118" y="2413337"/>
              <a:ext cx="1987202"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rPr>
                <a:t>目录</a:t>
              </a:r>
              <a:endParaRPr kumimoji="0" lang="zh-CN" altLang="en-US" sz="6000" b="0" i="0" u="none" strike="noStrike" kern="120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endParaRPr>
            </a:p>
          </p:txBody>
        </p:sp>
        <p:sp>
          <p:nvSpPr>
            <p:cNvPr id="18" name="文本框 17"/>
            <p:cNvSpPr txBox="1"/>
            <p:nvPr/>
          </p:nvSpPr>
          <p:spPr>
            <a:xfrm>
              <a:off x="2147888" y="3429000"/>
              <a:ext cx="1871663"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CONTENTS</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9" name="矩形 18"/>
            <p:cNvSpPr/>
            <p:nvPr/>
          </p:nvSpPr>
          <p:spPr>
            <a:xfrm>
              <a:off x="1778000" y="2197100"/>
              <a:ext cx="2603500" cy="17907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278380" y="2772093"/>
            <a:ext cx="4608195"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研究背景及意义</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7" name="文本框 6"/>
          <p:cNvSpPr txBox="1"/>
          <p:nvPr/>
        </p:nvSpPr>
        <p:spPr>
          <a:xfrm>
            <a:off x="2334260" y="3662680"/>
            <a:ext cx="4615815" cy="30670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50" normalizeH="0" baseline="0" noProof="0" dirty="0">
                <a:ln>
                  <a:noFill/>
                </a:ln>
                <a:solidFill>
                  <a:prstClr val="white"/>
                </a:solidFill>
                <a:effectLst/>
                <a:uLnTx/>
                <a:uFillTx/>
                <a:latin typeface="Times New Roman" panose="02020603050405020304" charset="0"/>
                <a:ea typeface="+mj-ea"/>
                <a:cs typeface="Times New Roman" panose="02020603050405020304" charset="0"/>
              </a:rPr>
              <a:t>RESEARCH BACKGROUND AND SIGNIFICANCE</a:t>
            </a:r>
            <a:endParaRPr kumimoji="0" lang="en-US" altLang="zh-CN" sz="1400" b="0" i="0" u="none" strike="noStrike" kern="1200" cap="none" spc="50" normalizeH="0" baseline="0" noProof="0" dirty="0">
              <a:ln>
                <a:noFill/>
              </a:ln>
              <a:solidFill>
                <a:prstClr val="white"/>
              </a:solidFill>
              <a:effectLst/>
              <a:uLnTx/>
              <a:uFillTx/>
              <a:latin typeface="Times New Roman" panose="02020603050405020304" charset="0"/>
              <a:ea typeface="+mj-ea"/>
              <a:cs typeface="Times New Roman" panose="02020603050405020304" charset="0"/>
            </a:endParaRPr>
          </a:p>
        </p:txBody>
      </p:sp>
      <p:sp>
        <p:nvSpPr>
          <p:cNvPr id="8" name="文本框 7"/>
          <p:cNvSpPr txBox="1"/>
          <p:nvPr/>
        </p:nvSpPr>
        <p:spPr>
          <a:xfrm>
            <a:off x="7177758" y="422917"/>
            <a:ext cx="3509294" cy="67403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rPr>
              <a:t>1</a:t>
            </a:r>
            <a:endParaRPr kumimoji="0" lang="zh-CN" altLang="en-US"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9" name="文本框 8"/>
          <p:cNvSpPr txBox="1"/>
          <p:nvPr/>
        </p:nvSpPr>
        <p:spPr>
          <a:xfrm rot="5400000">
            <a:off x="8815787" y="2229472"/>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charset="0"/>
                <a:ea typeface="等线 Light" panose="02010600030101010101" pitchFamily="2" charset="-122"/>
                <a:cs typeface="Times New Roman" panose="02020603050405020304" charset="0"/>
              </a:rPr>
              <a:t>PART ONE</a:t>
            </a:r>
            <a:endParaRPr kumimoji="0" lang="en-US" altLang="zh-CN" sz="1600" b="0" i="0" u="none" strike="noStrike" kern="1200" cap="none" spc="0" normalizeH="0" baseline="0" noProof="0" dirty="0">
              <a:ln>
                <a:noFill/>
              </a:ln>
              <a:solidFill>
                <a:prstClr val="white"/>
              </a:solidFill>
              <a:effectLst/>
              <a:uLnTx/>
              <a:uFillTx/>
              <a:latin typeface="Times New Roman" panose="02020603050405020304" charset="0"/>
              <a:ea typeface="等线 Light" panose="02010600030101010101" pitchFamily="2"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研究背景</a:t>
            </a:r>
            <a:endParaRPr lang="zh-CN" altLang="en-US"/>
          </a:p>
        </p:txBody>
      </p:sp>
      <p:sp>
        <p:nvSpPr>
          <p:cNvPr id="2" name="圆角矩形 8"/>
          <p:cNvSpPr/>
          <p:nvPr>
            <p:custDataLst>
              <p:tags r:id="rId2"/>
            </p:custDataLst>
          </p:nvPr>
        </p:nvSpPr>
        <p:spPr>
          <a:xfrm>
            <a:off x="4921301" y="1169290"/>
            <a:ext cx="2145071" cy="2145071"/>
          </a:xfrm>
          <a:prstGeom prst="roundRect">
            <a:avLst>
              <a:gd name="adj" fmla="val 50000"/>
            </a:avLst>
          </a:prstGeom>
          <a:solidFill>
            <a:schemeClr val="accent1"/>
          </a:solidFill>
          <a:ln>
            <a:noFill/>
          </a:ln>
          <a:effectLst>
            <a:outerShdw blurRad="1270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6" name="弧形 5"/>
          <p:cNvSpPr/>
          <p:nvPr>
            <p:custDataLst>
              <p:tags r:id="rId3"/>
            </p:custDataLst>
          </p:nvPr>
        </p:nvSpPr>
        <p:spPr>
          <a:xfrm>
            <a:off x="4758572" y="1006560"/>
            <a:ext cx="2470145" cy="2470145"/>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0" name="弧形 9"/>
          <p:cNvSpPr/>
          <p:nvPr>
            <p:custDataLst>
              <p:tags r:id="rId4"/>
            </p:custDataLst>
          </p:nvPr>
        </p:nvSpPr>
        <p:spPr>
          <a:xfrm flipH="1" flipV="1">
            <a:off x="4758572" y="1006560"/>
            <a:ext cx="2470145" cy="2470145"/>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3" name="圆角矩形 1"/>
          <p:cNvSpPr/>
          <p:nvPr>
            <p:custDataLst>
              <p:tags r:id="rId5"/>
            </p:custDataLst>
          </p:nvPr>
        </p:nvSpPr>
        <p:spPr>
          <a:xfrm>
            <a:off x="5035085" y="1283074"/>
            <a:ext cx="1916794" cy="1916794"/>
          </a:xfrm>
          <a:prstGeom prst="roundRect">
            <a:avLst>
              <a:gd name="adj" fmla="val 50000"/>
            </a:avLst>
          </a:prstGeom>
          <a:gradFill>
            <a:gsLst>
              <a:gs pos="0">
                <a:schemeClr val="accent1">
                  <a:lumMod val="20000"/>
                  <a:lumOff val="80000"/>
                </a:schemeClr>
              </a:gs>
              <a:gs pos="66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7" name="矩形 6"/>
          <p:cNvSpPr/>
          <p:nvPr>
            <p:custDataLst>
              <p:tags r:id="rId6"/>
            </p:custDataLst>
          </p:nvPr>
        </p:nvSpPr>
        <p:spPr>
          <a:xfrm>
            <a:off x="872534" y="2138230"/>
            <a:ext cx="2835164" cy="1525689"/>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我国重视生态文明建设，古树名木是自然生态与历史文化的重要载体，保护古树名木对保持生物多样性、传承文化遗产具有重要意义。</a:t>
            </a:r>
            <a:endParaRPr lang="zh-CN" altLang="en-US" sz="1600" dirty="0">
              <a:solidFill>
                <a:schemeClr val="tx1">
                  <a:lumMod val="85000"/>
                  <a:lumOff val="15000"/>
                </a:schemeClr>
              </a:solidFill>
              <a:latin typeface="+mn-ea"/>
              <a:cs typeface="+mn-ea"/>
              <a:sym typeface="+mn-ea"/>
            </a:endParaRPr>
          </a:p>
        </p:txBody>
      </p:sp>
      <p:sp>
        <p:nvSpPr>
          <p:cNvPr id="8" name="矩形: 圆角 3"/>
          <p:cNvSpPr/>
          <p:nvPr>
            <p:custDataLst>
              <p:tags r:id="rId7"/>
            </p:custDataLst>
          </p:nvPr>
        </p:nvSpPr>
        <p:spPr>
          <a:xfrm>
            <a:off x="744543" y="1282926"/>
            <a:ext cx="3027159" cy="792826"/>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80000" tIns="0" bIns="0" numCol="1" spcCol="0" rtlCol="0" fromWordArt="0" anchor="ctr" anchorCtr="0" forceAA="0" compatLnSpc="1">
            <a:noAutofit/>
          </a:bodyPr>
          <a:lstStyle/>
          <a:p>
            <a:pPr>
              <a:spcBef>
                <a:spcPct val="0"/>
              </a:spcBef>
              <a:spcAft>
                <a:spcPct val="0"/>
              </a:spcAft>
            </a:pPr>
            <a:r>
              <a:rPr lang="zh-CN" altLang="en-US" sz="2400" b="1">
                <a:solidFill>
                  <a:schemeClr val="tx1">
                    <a:lumMod val="95000"/>
                    <a:lumOff val="5000"/>
                  </a:schemeClr>
                </a:solidFill>
                <a:latin typeface="+mn-ea"/>
                <a:cs typeface="+mn-ea"/>
                <a:sym typeface="+mn-ea"/>
              </a:rPr>
              <a:t>政策与生态价值</a:t>
            </a:r>
            <a:endParaRPr lang="zh-CN" altLang="en-US" sz="2400" b="1">
              <a:solidFill>
                <a:schemeClr val="tx1">
                  <a:lumMod val="95000"/>
                  <a:lumOff val="5000"/>
                </a:schemeClr>
              </a:solidFill>
              <a:latin typeface="+mn-ea"/>
              <a:cs typeface="+mn-ea"/>
              <a:sym typeface="+mn-ea"/>
            </a:endParaRPr>
          </a:p>
        </p:txBody>
      </p:sp>
      <p:sp>
        <p:nvSpPr>
          <p:cNvPr id="11" name="矩形 10"/>
          <p:cNvSpPr/>
          <p:nvPr>
            <p:custDataLst>
              <p:tags r:id="rId8"/>
            </p:custDataLst>
          </p:nvPr>
        </p:nvSpPr>
        <p:spPr>
          <a:xfrm>
            <a:off x="7496810" y="2089785"/>
            <a:ext cx="3950970" cy="122364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图像与地理位置元数据割裂存储，缺乏统一索引；</a:t>
            </a:r>
            <a:r>
              <a:rPr lang="zh-CN" altLang="en-US" sz="1400" dirty="0">
                <a:solidFill>
                  <a:schemeClr val="tx1">
                    <a:lumMod val="85000"/>
                    <a:lumOff val="15000"/>
                  </a:schemeClr>
                </a:solidFill>
                <a:latin typeface="+mn-ea"/>
                <a:cs typeface="+mn-ea"/>
                <a:sym typeface="+mn-ea"/>
              </a:rPr>
              <a:t>单模态检索难以全面表征古树特征，检索精度不足；</a:t>
            </a:r>
            <a:endParaRPr lang="zh-CN" altLang="en-US" sz="1400" dirty="0">
              <a:solidFill>
                <a:schemeClr val="tx1">
                  <a:lumMod val="85000"/>
                  <a:lumOff val="15000"/>
                </a:schemeClr>
              </a:solidFill>
              <a:latin typeface="+mn-ea"/>
              <a:cs typeface="+mn-ea"/>
              <a:sym typeface="+mn-ea"/>
            </a:endParaRPr>
          </a:p>
          <a:p>
            <a:pPr algn="l">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多模态异构数据存在表示差异，语义对齐困难。</a:t>
            </a:r>
            <a:endParaRPr lang="zh-CN" altLang="en-US" sz="1400" dirty="0">
              <a:solidFill>
                <a:schemeClr val="tx1">
                  <a:lumMod val="85000"/>
                  <a:lumOff val="15000"/>
                </a:schemeClr>
              </a:solidFill>
              <a:latin typeface="+mn-ea"/>
              <a:cs typeface="+mn-ea"/>
              <a:sym typeface="+mn-ea"/>
            </a:endParaRPr>
          </a:p>
        </p:txBody>
      </p:sp>
      <p:sp>
        <p:nvSpPr>
          <p:cNvPr id="14" name="矩形: 圆角 13"/>
          <p:cNvSpPr/>
          <p:nvPr>
            <p:custDataLst>
              <p:tags r:id="rId9"/>
            </p:custDataLst>
          </p:nvPr>
        </p:nvSpPr>
        <p:spPr>
          <a:xfrm flipH="1">
            <a:off x="7563175" y="1240581"/>
            <a:ext cx="3027159" cy="792826"/>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0000" tIns="0" rIns="180000" bIns="0" numCol="1" spcCol="0" rtlCol="0" fromWordArt="0" anchor="ctr" anchorCtr="0" forceAA="0" compatLnSpc="1">
            <a:noAutofit/>
          </a:bodyPr>
          <a:lstStyle/>
          <a:p>
            <a:pPr algn="r">
              <a:spcBef>
                <a:spcPct val="0"/>
              </a:spcBef>
              <a:spcAft>
                <a:spcPct val="0"/>
              </a:spcAft>
            </a:pPr>
            <a:r>
              <a:rPr lang="zh-CN" altLang="en-US" sz="2400" b="1" dirty="0">
                <a:solidFill>
                  <a:schemeClr val="tx1">
                    <a:lumMod val="95000"/>
                    <a:lumOff val="5000"/>
                  </a:schemeClr>
                </a:solidFill>
                <a:latin typeface="+mn-ea"/>
                <a:cs typeface="+mn-ea"/>
                <a:sym typeface="+mn-ea"/>
              </a:rPr>
              <a:t>深度学习技术挑战</a:t>
            </a:r>
            <a:endParaRPr lang="zh-CN" altLang="en-US" sz="2400" b="1" dirty="0">
              <a:solidFill>
                <a:schemeClr val="tx1">
                  <a:lumMod val="95000"/>
                  <a:lumOff val="5000"/>
                </a:schemeClr>
              </a:solidFill>
              <a:latin typeface="+mn-ea"/>
              <a:cs typeface="+mn-ea"/>
              <a:sym typeface="+mn-ea"/>
            </a:endParaRPr>
          </a:p>
        </p:txBody>
      </p:sp>
      <p:pic>
        <p:nvPicPr>
          <p:cNvPr id="15" name="图形 14"/>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5362452" y="1611077"/>
            <a:ext cx="1261316" cy="1261316"/>
          </a:xfrm>
          <a:prstGeom prst="rect">
            <a:avLst/>
          </a:prstGeom>
          <a:effectLst>
            <a:outerShdw blurRad="190500" dist="38100" dir="2700000" algn="tl" rotWithShape="0">
              <a:schemeClr val="accent1">
                <a:lumMod val="50000"/>
                <a:alpha val="40000"/>
              </a:schemeClr>
            </a:outerShdw>
          </a:effectLst>
        </p:spPr>
      </p:pic>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矩形 3"/>
          <p:cNvSpPr/>
          <p:nvPr>
            <p:custDataLst>
              <p:tags r:id="rId13"/>
            </p:custDataLst>
          </p:nvPr>
        </p:nvSpPr>
        <p:spPr>
          <a:xfrm>
            <a:off x="4567555" y="4812030"/>
            <a:ext cx="2929255" cy="198183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传统人工调查方式效率低、成本高、精度不足，难以满足古树名木精细化检索管理需求；图像与地理位置元数据割裂存储，难以建立统一检索索引。</a:t>
            </a:r>
            <a:endParaRPr lang="zh-CN" altLang="en-US" sz="1600" dirty="0">
              <a:solidFill>
                <a:schemeClr val="tx1">
                  <a:lumMod val="85000"/>
                  <a:lumOff val="15000"/>
                </a:schemeClr>
              </a:solidFill>
              <a:latin typeface="+mn-ea"/>
              <a:cs typeface="+mn-ea"/>
              <a:sym typeface="+mn-ea"/>
            </a:endParaRPr>
          </a:p>
        </p:txBody>
      </p:sp>
      <p:sp>
        <p:nvSpPr>
          <p:cNvPr id="5" name="矩形: 圆角 3"/>
          <p:cNvSpPr/>
          <p:nvPr>
            <p:custDataLst>
              <p:tags r:id="rId14"/>
            </p:custDataLst>
          </p:nvPr>
        </p:nvSpPr>
        <p:spPr>
          <a:xfrm>
            <a:off x="4567243" y="3834059"/>
            <a:ext cx="2996089" cy="784689"/>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80000" tIns="0" bIns="0" numCol="1" spcCol="0" rtlCol="0" fromWordArt="0" anchor="ctr" anchorCtr="0" forceAA="0" compatLnSpc="1">
            <a:noAutofit/>
          </a:bodyPr>
          <a:lstStyle/>
          <a:p>
            <a:pPr>
              <a:spcBef>
                <a:spcPct val="0"/>
              </a:spcBef>
              <a:spcAft>
                <a:spcPct val="0"/>
              </a:spcAft>
            </a:pPr>
            <a:r>
              <a:rPr lang="zh-CN" altLang="en-US" sz="2400" b="1">
                <a:solidFill>
                  <a:schemeClr val="tx1">
                    <a:lumMod val="95000"/>
                    <a:lumOff val="5000"/>
                  </a:schemeClr>
                </a:solidFill>
                <a:latin typeface="+mn-ea"/>
                <a:cs typeface="+mn-ea"/>
                <a:sym typeface="+mn-ea"/>
              </a:rPr>
              <a:t>管理现状痛点</a:t>
            </a:r>
            <a:endParaRPr lang="zh-CN" altLang="en-US" sz="2400" b="1">
              <a:solidFill>
                <a:schemeClr val="tx1">
                  <a:lumMod val="95000"/>
                  <a:lumOff val="5000"/>
                </a:schemeClr>
              </a:solidFill>
              <a:latin typeface="+mn-ea"/>
              <a:cs typeface="+mn-ea"/>
              <a:sym typeface="+mn-ea"/>
            </a:endParaRPr>
          </a:p>
        </p:txBody>
      </p:sp>
    </p:spTree>
    <p:custDataLst>
      <p:tags r:id="rId1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研究意义</a:t>
            </a:r>
            <a:endParaRPr lang="zh-CN" altLang="en-US"/>
          </a:p>
        </p:txBody>
      </p:sp>
      <p:sp>
        <p:nvSpPr>
          <p:cNvPr id="2" name="圆角矩形 8"/>
          <p:cNvSpPr/>
          <p:nvPr>
            <p:custDataLst>
              <p:tags r:id="rId2"/>
            </p:custDataLst>
          </p:nvPr>
        </p:nvSpPr>
        <p:spPr>
          <a:xfrm>
            <a:off x="5034007" y="2207115"/>
            <a:ext cx="2123055" cy="2123055"/>
          </a:xfrm>
          <a:prstGeom prst="roundRect">
            <a:avLst>
              <a:gd name="adj" fmla="val 50000"/>
            </a:avLst>
          </a:prstGeom>
          <a:solidFill>
            <a:schemeClr val="accent1"/>
          </a:solidFill>
          <a:ln>
            <a:noFill/>
          </a:ln>
          <a:effectLst>
            <a:outerShdw blurRad="1270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6" name="弧形 5"/>
          <p:cNvSpPr/>
          <p:nvPr>
            <p:custDataLst>
              <p:tags r:id="rId3"/>
            </p:custDataLst>
          </p:nvPr>
        </p:nvSpPr>
        <p:spPr>
          <a:xfrm>
            <a:off x="4872948" y="2046055"/>
            <a:ext cx="2444792" cy="2444792"/>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0" name="弧形 9"/>
          <p:cNvSpPr/>
          <p:nvPr>
            <p:custDataLst>
              <p:tags r:id="rId4"/>
            </p:custDataLst>
          </p:nvPr>
        </p:nvSpPr>
        <p:spPr>
          <a:xfrm flipH="1" flipV="1">
            <a:off x="4872948" y="2046055"/>
            <a:ext cx="2444792" cy="2444792"/>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2" name="圆角矩形 33"/>
          <p:cNvSpPr/>
          <p:nvPr>
            <p:custDataLst>
              <p:tags r:id="rId5"/>
            </p:custDataLst>
          </p:nvPr>
        </p:nvSpPr>
        <p:spPr>
          <a:xfrm>
            <a:off x="4311756" y="1485492"/>
            <a:ext cx="3566773" cy="3566773"/>
          </a:xfrm>
          <a:prstGeom prst="roundRect">
            <a:avLst>
              <a:gd name="adj" fmla="val 50000"/>
            </a:avLst>
          </a:prstGeom>
          <a:noFill/>
          <a:ln w="28575">
            <a:gradFill>
              <a:gsLst>
                <a:gs pos="84000">
                  <a:schemeClr val="accent1">
                    <a:lumMod val="20000"/>
                    <a:lumOff val="80000"/>
                    <a:alpha val="0"/>
                  </a:schemeClr>
                </a:gs>
                <a:gs pos="16000">
                  <a:schemeClr val="accent1">
                    <a:lumMod val="20000"/>
                    <a:lumOff val="80000"/>
                    <a:alpha val="0"/>
                  </a:schemeClr>
                </a:gs>
                <a:gs pos="100000">
                  <a:schemeClr val="accent1">
                    <a:lumMod val="60000"/>
                    <a:lumOff val="40000"/>
                    <a:alpha val="50000"/>
                  </a:schemeClr>
                </a:gs>
                <a:gs pos="0">
                  <a:schemeClr val="accent1">
                    <a:lumMod val="60000"/>
                    <a:lumOff val="40000"/>
                    <a:alpha val="50000"/>
                  </a:schemeClr>
                </a:gs>
              </a:gsLst>
              <a:lin ang="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13" name="圆角矩形 1"/>
          <p:cNvSpPr/>
          <p:nvPr>
            <p:custDataLst>
              <p:tags r:id="rId6"/>
            </p:custDataLst>
          </p:nvPr>
        </p:nvSpPr>
        <p:spPr>
          <a:xfrm>
            <a:off x="5146623" y="2319731"/>
            <a:ext cx="1897121" cy="1897121"/>
          </a:xfrm>
          <a:prstGeom prst="roundRect">
            <a:avLst>
              <a:gd name="adj" fmla="val 50000"/>
            </a:avLst>
          </a:prstGeom>
          <a:gradFill>
            <a:gsLst>
              <a:gs pos="0">
                <a:schemeClr val="accent1">
                  <a:lumMod val="20000"/>
                  <a:lumOff val="80000"/>
                </a:schemeClr>
              </a:gs>
              <a:gs pos="66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7" name="矩形 6"/>
          <p:cNvSpPr/>
          <p:nvPr>
            <p:custDataLst>
              <p:tags r:id="rId7"/>
            </p:custDataLst>
          </p:nvPr>
        </p:nvSpPr>
        <p:spPr>
          <a:xfrm>
            <a:off x="932180" y="3181985"/>
            <a:ext cx="2807970" cy="198501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本文提出融合图像与地理位置元数据的多模态哈希检索模型（</a:t>
            </a:r>
            <a:r>
              <a:rPr lang="en-US" altLang="zh-CN" sz="1600" dirty="0">
                <a:solidFill>
                  <a:schemeClr val="tx1">
                    <a:lumMod val="85000"/>
                    <a:lumOff val="15000"/>
                  </a:schemeClr>
                </a:solidFill>
                <a:latin typeface="+mn-ea"/>
                <a:cs typeface="+mn-ea"/>
                <a:sym typeface="+mn-ea"/>
              </a:rPr>
              <a:t>DHLM</a:t>
            </a:r>
            <a:r>
              <a:rPr lang="zh-CN" altLang="en-US" sz="1600" dirty="0">
                <a:solidFill>
                  <a:schemeClr val="tx1">
                    <a:lumMod val="85000"/>
                    <a:lumOff val="15000"/>
                  </a:schemeClr>
                </a:solidFill>
                <a:latin typeface="+mn-ea"/>
                <a:cs typeface="+mn-ea"/>
                <a:sym typeface="+mn-ea"/>
              </a:rPr>
              <a:t>）</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为古树名木的图像</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地理位置元数据</a:t>
            </a:r>
            <a:r>
              <a:rPr lang="zh-CN" altLang="en-US" sz="1600" dirty="0">
                <a:solidFill>
                  <a:schemeClr val="tx1">
                    <a:lumMod val="85000"/>
                    <a:lumOff val="15000"/>
                  </a:schemeClr>
                </a:solidFill>
                <a:latin typeface="+mn-ea"/>
                <a:cs typeface="+mn-ea"/>
                <a:sym typeface="+mn-ea"/>
              </a:rPr>
              <a:t>的多模态哈希检索提供新思路。</a:t>
            </a:r>
            <a:endParaRPr lang="zh-CN" altLang="en-US" sz="1600" dirty="0">
              <a:solidFill>
                <a:schemeClr val="tx1">
                  <a:lumMod val="85000"/>
                  <a:lumOff val="15000"/>
                </a:schemeClr>
              </a:solidFill>
              <a:latin typeface="+mn-ea"/>
              <a:cs typeface="+mn-ea"/>
              <a:sym typeface="+mn-ea"/>
            </a:endParaRPr>
          </a:p>
        </p:txBody>
      </p:sp>
      <p:sp>
        <p:nvSpPr>
          <p:cNvPr id="8" name="矩形: 圆角 3"/>
          <p:cNvSpPr/>
          <p:nvPr>
            <p:custDataLst>
              <p:tags r:id="rId8"/>
            </p:custDataLst>
          </p:nvPr>
        </p:nvSpPr>
        <p:spPr>
          <a:xfrm>
            <a:off x="743908" y="2335459"/>
            <a:ext cx="2996089" cy="784689"/>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80000" tIns="0" bIns="0" numCol="1" spcCol="0" rtlCol="0" fromWordArt="0" anchor="ctr" anchorCtr="0" forceAA="0" compatLnSpc="1">
            <a:noAutofit/>
          </a:bodyPr>
          <a:lstStyle/>
          <a:p>
            <a:pPr>
              <a:spcBef>
                <a:spcPct val="0"/>
              </a:spcBef>
              <a:spcAft>
                <a:spcPct val="0"/>
              </a:spcAft>
            </a:pPr>
            <a:r>
              <a:rPr lang="zh-CN" altLang="en-US" sz="2400" b="1">
                <a:solidFill>
                  <a:schemeClr val="tx1">
                    <a:lumMod val="95000"/>
                    <a:lumOff val="5000"/>
                  </a:schemeClr>
                </a:solidFill>
                <a:latin typeface="+mn-ea"/>
                <a:cs typeface="+mn-ea"/>
                <a:sym typeface="+mn-ea"/>
              </a:rPr>
              <a:t>研究意义</a:t>
            </a:r>
            <a:endParaRPr lang="zh-CN" altLang="en-US" sz="2400" b="1">
              <a:solidFill>
                <a:schemeClr val="tx1">
                  <a:lumMod val="95000"/>
                  <a:lumOff val="5000"/>
                </a:schemeClr>
              </a:solidFill>
              <a:latin typeface="+mn-ea"/>
              <a:cs typeface="+mn-ea"/>
              <a:sym typeface="+mn-ea"/>
            </a:endParaRPr>
          </a:p>
        </p:txBody>
      </p:sp>
      <p:sp>
        <p:nvSpPr>
          <p:cNvPr id="11" name="矩形 10"/>
          <p:cNvSpPr/>
          <p:nvPr>
            <p:custDataLst>
              <p:tags r:id="rId9"/>
            </p:custDataLst>
          </p:nvPr>
        </p:nvSpPr>
        <p:spPr>
          <a:xfrm>
            <a:off x="8230235" y="3175635"/>
            <a:ext cx="3216910" cy="151003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构建古树名木多模态检索系统，提升林业管理部门的检索效率，降低人工成本。</a:t>
            </a:r>
            <a:endParaRPr lang="zh-CN" altLang="en-US" sz="1600" dirty="0">
              <a:solidFill>
                <a:schemeClr val="tx1">
                  <a:lumMod val="85000"/>
                  <a:lumOff val="15000"/>
                </a:schemeClr>
              </a:solidFill>
              <a:latin typeface="+mn-ea"/>
              <a:cs typeface="+mn-ea"/>
              <a:sym typeface="+mn-ea"/>
            </a:endParaRPr>
          </a:p>
        </p:txBody>
      </p:sp>
      <p:sp>
        <p:nvSpPr>
          <p:cNvPr id="14" name="矩形: 圆角 13"/>
          <p:cNvSpPr/>
          <p:nvPr>
            <p:custDataLst>
              <p:tags r:id="rId10"/>
            </p:custDataLst>
          </p:nvPr>
        </p:nvSpPr>
        <p:spPr>
          <a:xfrm flipH="1">
            <a:off x="8154952" y="2335459"/>
            <a:ext cx="2996089" cy="784689"/>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0000" tIns="0" rIns="180000" bIns="0" numCol="1" spcCol="0" rtlCol="0" fromWordArt="0" anchor="ctr" anchorCtr="0" forceAA="0" compatLnSpc="1">
            <a:noAutofit/>
          </a:bodyPr>
          <a:lstStyle/>
          <a:p>
            <a:pPr algn="l">
              <a:spcBef>
                <a:spcPct val="0"/>
              </a:spcBef>
              <a:spcAft>
                <a:spcPct val="0"/>
              </a:spcAft>
            </a:pPr>
            <a:r>
              <a:rPr lang="zh-CN" altLang="en-US" sz="2400" b="1" dirty="0">
                <a:solidFill>
                  <a:schemeClr val="tx1">
                    <a:lumMod val="95000"/>
                    <a:lumOff val="5000"/>
                  </a:schemeClr>
                </a:solidFill>
                <a:latin typeface="+mn-ea"/>
                <a:cs typeface="+mn-ea"/>
                <a:sym typeface="+mn-ea"/>
              </a:rPr>
              <a:t>应用</a:t>
            </a:r>
            <a:r>
              <a:rPr lang="zh-CN" altLang="en-US" sz="2400" b="1" dirty="0">
                <a:solidFill>
                  <a:schemeClr val="tx1">
                    <a:lumMod val="95000"/>
                    <a:lumOff val="5000"/>
                  </a:schemeClr>
                </a:solidFill>
                <a:latin typeface="+mn-ea"/>
                <a:cs typeface="+mn-ea"/>
                <a:sym typeface="+mn-ea"/>
              </a:rPr>
              <a:t>意义</a:t>
            </a:r>
            <a:endParaRPr lang="zh-CN" altLang="en-US" sz="2400" b="1" dirty="0">
              <a:solidFill>
                <a:schemeClr val="tx1">
                  <a:lumMod val="95000"/>
                  <a:lumOff val="5000"/>
                </a:schemeClr>
              </a:solidFill>
              <a:latin typeface="+mn-ea"/>
              <a:cs typeface="+mn-ea"/>
              <a:sym typeface="+mn-ea"/>
            </a:endParaRPr>
          </a:p>
        </p:txBody>
      </p:sp>
      <p:pic>
        <p:nvPicPr>
          <p:cNvPr id="15" name="图形 14"/>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5470630" y="2644367"/>
            <a:ext cx="1248370" cy="1248370"/>
          </a:xfrm>
          <a:prstGeom prst="rect">
            <a:avLst/>
          </a:prstGeom>
          <a:effectLst>
            <a:outerShdw blurRad="190500" dist="38100" dir="2700000" algn="tl" rotWithShape="0">
              <a:schemeClr val="accent1">
                <a:lumMod val="50000"/>
                <a:alpha val="40000"/>
              </a:schemeClr>
            </a:outerShdw>
          </a:effectLst>
        </p:spPr>
      </p:pic>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7" name="矩形 6"/>
          <p:cNvSpPr/>
          <p:nvPr/>
        </p:nvSpPr>
        <p:spPr>
          <a:xfrm>
            <a:off x="2278528" y="2771805"/>
            <a:ext cx="4731871"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研究现状</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8" name="文本框 7"/>
          <p:cNvSpPr txBox="1"/>
          <p:nvPr/>
        </p:nvSpPr>
        <p:spPr>
          <a:xfrm>
            <a:off x="2334343" y="3662830"/>
            <a:ext cx="4676055" cy="306705"/>
          </a:xfrm>
          <a:prstGeom prst="rect">
            <a:avLst/>
          </a:prstGeom>
          <a:noFill/>
        </p:spPr>
        <p:txBody>
          <a:bodyPr wrap="square" rtlCol="0">
            <a:spAutoFit/>
          </a:bodyPr>
          <a:lstStyle/>
          <a:p>
            <a:pPr lvl="0" algn="dist">
              <a:defRPr/>
            </a:pPr>
            <a:r>
              <a:rPr lang="en-US" altLang="zh-CN" sz="1400" dirty="0">
                <a:solidFill>
                  <a:schemeClr val="bg1"/>
                </a:solidFill>
                <a:latin typeface="Times New Roman" panose="02020603050405020304" charset="0"/>
                <a:ea typeface="+mj-ea"/>
                <a:cs typeface="Times New Roman" panose="02020603050405020304" charset="0"/>
              </a:rPr>
              <a:t> RESEARCH STATUS</a:t>
            </a:r>
            <a:endParaRPr lang="en-US" altLang="zh-CN" sz="1400" spc="50" dirty="0">
              <a:solidFill>
                <a:schemeClr val="bg1"/>
              </a:solidFill>
              <a:latin typeface="Times New Roman" panose="02020603050405020304" charset="0"/>
              <a:ea typeface="+mj-ea"/>
              <a:cs typeface="Times New Roman" panose="02020603050405020304" charset="0"/>
            </a:endParaRPr>
          </a:p>
        </p:txBody>
      </p:sp>
      <p:sp>
        <p:nvSpPr>
          <p:cNvPr id="9" name="文本框 8"/>
          <p:cNvSpPr txBox="1"/>
          <p:nvPr/>
        </p:nvSpPr>
        <p:spPr>
          <a:xfrm>
            <a:off x="7501115" y="422917"/>
            <a:ext cx="2862580" cy="65855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rPr>
              <a:t>2</a:t>
            </a:r>
            <a:endPar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10" name="文本框 9"/>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TWO</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研究现状</a:t>
            </a:r>
            <a:endParaRPr lang="zh-CN" altLang="en-US"/>
          </a:p>
        </p:txBody>
      </p:sp>
      <p:sp>
        <p:nvSpPr>
          <p:cNvPr id="2" name="圆角矩形 2"/>
          <p:cNvSpPr/>
          <p:nvPr>
            <p:custDataLst>
              <p:tags r:id="rId2"/>
            </p:custDataLst>
          </p:nvPr>
        </p:nvSpPr>
        <p:spPr>
          <a:xfrm>
            <a:off x="695325" y="1483535"/>
            <a:ext cx="10801350" cy="1423119"/>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1600" kern="0">
                <a:ln>
                  <a:noFill/>
                  <a:prstDash val="sysDot"/>
                </a:ln>
                <a:solidFill>
                  <a:schemeClr val="tx1">
                    <a:lumMod val="85000"/>
                    <a:lumOff val="15000"/>
                  </a:schemeClr>
                </a:solidFill>
                <a:uFillTx/>
                <a:latin typeface="+mn-ea"/>
                <a:sym typeface="+mn-ea"/>
              </a:rPr>
              <a:t>单模态深度哈希：</a:t>
            </a:r>
            <a:r>
              <a:rPr lang="en-US" altLang="zh-CN" sz="1600" kern="0">
                <a:ln>
                  <a:noFill/>
                  <a:prstDash val="sysDot"/>
                </a:ln>
                <a:solidFill>
                  <a:schemeClr val="tx1">
                    <a:lumMod val="85000"/>
                    <a:lumOff val="15000"/>
                  </a:schemeClr>
                </a:solidFill>
                <a:uFillTx/>
                <a:latin typeface="+mn-ea"/>
                <a:sym typeface="+mn-ea"/>
              </a:rPr>
              <a:t>HashNet(2017, AAAI)</a:t>
            </a:r>
            <a:r>
              <a:rPr lang="zh-CN" altLang="en-US" sz="1600" kern="0">
                <a:ln>
                  <a:noFill/>
                  <a:prstDash val="sysDot"/>
                </a:ln>
                <a:solidFill>
                  <a:schemeClr val="tx1">
                    <a:lumMod val="85000"/>
                    <a:lumOff val="15000"/>
                  </a:schemeClr>
                </a:solidFill>
                <a:uFillTx/>
                <a:latin typeface="+mn-ea"/>
                <a:sym typeface="+mn-ea"/>
              </a:rPr>
              <a:t>提出连续松弛策略，</a:t>
            </a:r>
            <a:r>
              <a:rPr lang="en-US" altLang="zh-CN" sz="1600" kern="0">
                <a:ln>
                  <a:noFill/>
                  <a:prstDash val="sysDot"/>
                </a:ln>
                <a:solidFill>
                  <a:schemeClr val="tx1">
                    <a:lumMod val="85000"/>
                    <a:lumOff val="15000"/>
                  </a:schemeClr>
                </a:solidFill>
                <a:uFillTx/>
                <a:latin typeface="+mn-ea"/>
                <a:sym typeface="+mn-ea"/>
              </a:rPr>
              <a:t>DCH(2018, CVPR)</a:t>
            </a:r>
            <a:r>
              <a:rPr lang="zh-CN" altLang="en-US" sz="1600" kern="0">
                <a:ln>
                  <a:noFill/>
                  <a:prstDash val="sysDot"/>
                </a:ln>
                <a:solidFill>
                  <a:schemeClr val="tx1">
                    <a:lumMod val="85000"/>
                    <a:lumOff val="15000"/>
                  </a:schemeClr>
                </a:solidFill>
                <a:uFillTx/>
                <a:latin typeface="+mn-ea"/>
                <a:sym typeface="+mn-ea"/>
              </a:rPr>
              <a:t>引入</a:t>
            </a:r>
            <a:r>
              <a:rPr lang="en-US" altLang="zh-CN" sz="1600" kern="0">
                <a:ln>
                  <a:noFill/>
                  <a:prstDash val="sysDot"/>
                </a:ln>
                <a:solidFill>
                  <a:schemeClr val="tx1">
                    <a:lumMod val="85000"/>
                    <a:lumOff val="15000"/>
                  </a:schemeClr>
                </a:solidFill>
                <a:uFillTx/>
                <a:latin typeface="+mn-ea"/>
                <a:sym typeface="+mn-ea"/>
              </a:rPr>
              <a:t>Cauchy</a:t>
            </a:r>
            <a:r>
              <a:rPr lang="zh-CN" altLang="en-US" sz="1600" kern="0">
                <a:ln>
                  <a:noFill/>
                  <a:prstDash val="sysDot"/>
                </a:ln>
                <a:solidFill>
                  <a:schemeClr val="tx1">
                    <a:lumMod val="85000"/>
                    <a:lumOff val="15000"/>
                  </a:schemeClr>
                </a:solidFill>
                <a:uFillTx/>
                <a:latin typeface="+mn-ea"/>
                <a:sym typeface="+mn-ea"/>
              </a:rPr>
              <a:t>分布与动态难例挖掘，</a:t>
            </a:r>
            <a:r>
              <a:rPr lang="en-US" altLang="zh-CN" sz="1600" kern="0">
                <a:ln>
                  <a:noFill/>
                  <a:prstDash val="sysDot"/>
                </a:ln>
                <a:solidFill>
                  <a:schemeClr val="tx1">
                    <a:lumMod val="85000"/>
                    <a:lumOff val="15000"/>
                  </a:schemeClr>
                </a:solidFill>
                <a:uFillTx/>
                <a:latin typeface="+mn-ea"/>
                <a:sym typeface="+mn-ea"/>
              </a:rPr>
              <a:t>MDSH(2023, ACM MM)</a:t>
            </a:r>
            <a:r>
              <a:rPr lang="zh-CN" altLang="en-US" sz="1600" kern="0">
                <a:ln>
                  <a:noFill/>
                  <a:prstDash val="sysDot"/>
                </a:ln>
                <a:solidFill>
                  <a:schemeClr val="tx1">
                    <a:lumMod val="85000"/>
                    <a:lumOff val="15000"/>
                  </a:schemeClr>
                </a:solidFill>
                <a:uFillTx/>
                <a:latin typeface="+mn-ea"/>
                <a:sym typeface="+mn-ea"/>
              </a:rPr>
              <a:t>实现多尺度深度监督。多模态哈希：</a:t>
            </a:r>
            <a:r>
              <a:rPr lang="en-US" altLang="zh-CN" sz="1600" kern="0">
                <a:ln>
                  <a:noFill/>
                  <a:prstDash val="sysDot"/>
                </a:ln>
                <a:solidFill>
                  <a:schemeClr val="tx1">
                    <a:lumMod val="85000"/>
                    <a:lumOff val="15000"/>
                  </a:schemeClr>
                </a:solidFill>
                <a:uFillTx/>
                <a:latin typeface="+mn-ea"/>
                <a:sym typeface="+mn-ea"/>
              </a:rPr>
              <a:t>DCMH、SSAH</a:t>
            </a:r>
            <a:r>
              <a:rPr lang="zh-CN" altLang="en-US" sz="1600" kern="0">
                <a:ln>
                  <a:noFill/>
                  <a:prstDash val="sysDot"/>
                </a:ln>
                <a:solidFill>
                  <a:schemeClr val="tx1">
                    <a:lumMod val="85000"/>
                    <a:lumOff val="15000"/>
                  </a:schemeClr>
                </a:solidFill>
                <a:uFillTx/>
                <a:latin typeface="+mn-ea"/>
                <a:sym typeface="+mn-ea"/>
              </a:rPr>
              <a:t>等将深度哈希扩展至图像-文本场景。不足：现有方法主要面向通用图像-文本检索，</a:t>
            </a:r>
            <a:r>
              <a:rPr lang="zh-CN" altLang="en-US" sz="1600" b="1" kern="0">
                <a:ln>
                  <a:noFill/>
                  <a:prstDash val="sysDot"/>
                </a:ln>
                <a:solidFill>
                  <a:schemeClr val="tx1">
                    <a:lumMod val="85000"/>
                    <a:lumOff val="15000"/>
                  </a:schemeClr>
                </a:solidFill>
                <a:uFillTx/>
                <a:latin typeface="+mn-ea"/>
                <a:sym typeface="+mn-ea"/>
              </a:rPr>
              <a:t>缺乏针对古树名木的图像-地理位置元数据哈希方法</a:t>
            </a:r>
            <a:r>
              <a:rPr lang="zh-CN" altLang="en-US" sz="1600" kern="0">
                <a:ln>
                  <a:noFill/>
                  <a:prstDash val="sysDot"/>
                </a:ln>
                <a:solidFill>
                  <a:schemeClr val="tx1">
                    <a:lumMod val="85000"/>
                    <a:lumOff val="15000"/>
                  </a:schemeClr>
                </a:solidFill>
                <a:uFillTx/>
                <a:latin typeface="+mn-ea"/>
                <a:sym typeface="+mn-ea"/>
              </a:rPr>
              <a:t>。</a:t>
            </a:r>
            <a:endParaRPr lang="zh-CN" altLang="en-US" sz="1600" kern="0">
              <a:ln>
                <a:noFill/>
                <a:prstDash val="sysDot"/>
              </a:ln>
              <a:solidFill>
                <a:schemeClr val="tx1">
                  <a:lumMod val="85000"/>
                  <a:lumOff val="15000"/>
                </a:schemeClr>
              </a:solidFill>
              <a:uFillTx/>
              <a:latin typeface="+mn-ea"/>
              <a:sym typeface="+mn-ea"/>
            </a:endParaRPr>
          </a:p>
        </p:txBody>
      </p:sp>
      <p:sp>
        <p:nvSpPr>
          <p:cNvPr id="4" name="圆角矩形 9"/>
          <p:cNvSpPr/>
          <p:nvPr>
            <p:custDataLst>
              <p:tags r:id="rId3"/>
            </p:custDataLst>
          </p:nvPr>
        </p:nvSpPr>
        <p:spPr>
          <a:xfrm>
            <a:off x="926479" y="1430827"/>
            <a:ext cx="706797" cy="87635"/>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5"/>
          <p:cNvSpPr/>
          <p:nvPr>
            <p:custDataLst>
              <p:tags r:id="rId4"/>
            </p:custDataLst>
          </p:nvPr>
        </p:nvSpPr>
        <p:spPr>
          <a:xfrm>
            <a:off x="695325" y="3214647"/>
            <a:ext cx="10801350" cy="1423119"/>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1600" kern="0">
                <a:ln>
                  <a:noFill/>
                  <a:prstDash val="sysDot"/>
                </a:ln>
                <a:solidFill>
                  <a:schemeClr val="tx1">
                    <a:lumMod val="85000"/>
                    <a:lumOff val="15000"/>
                  </a:schemeClr>
                </a:solidFill>
                <a:uFillTx/>
                <a:latin typeface="+mn-ea"/>
                <a:sym typeface="+mn-ea"/>
              </a:rPr>
              <a:t>多模态融合技术：多模态融合策略包括特征层融合、决策层融合与混合融合。双线性池化可捕捉模态间交互，交叉注意力实现细粒度对齐。不足：现有融合方法多针对图像-文本，</a:t>
            </a:r>
            <a:r>
              <a:rPr lang="zh-CN" altLang="en-US" sz="1600" b="1" kern="0">
                <a:ln>
                  <a:noFill/>
                  <a:prstDash val="sysDot"/>
                </a:ln>
                <a:solidFill>
                  <a:schemeClr val="tx1">
                    <a:lumMod val="85000"/>
                    <a:lumOff val="15000"/>
                  </a:schemeClr>
                </a:solidFill>
                <a:uFillTx/>
                <a:latin typeface="+mn-ea"/>
                <a:sym typeface="+mn-ea"/>
              </a:rPr>
              <a:t>地理位置元数据作为结构化独立模态的融合策略研究不足</a:t>
            </a:r>
            <a:r>
              <a:rPr lang="zh-CN" altLang="en-US" sz="1600" kern="0">
                <a:ln>
                  <a:noFill/>
                  <a:prstDash val="sysDot"/>
                </a:ln>
                <a:solidFill>
                  <a:schemeClr val="tx1">
                    <a:lumMod val="85000"/>
                    <a:lumOff val="15000"/>
                  </a:schemeClr>
                </a:solidFill>
                <a:uFillTx/>
                <a:latin typeface="+mn-ea"/>
                <a:sym typeface="+mn-ea"/>
              </a:rPr>
              <a:t>。</a:t>
            </a:r>
            <a:endParaRPr lang="zh-CN" altLang="en-US" sz="1600" kern="0">
              <a:ln>
                <a:noFill/>
                <a:prstDash val="sysDot"/>
              </a:ln>
              <a:solidFill>
                <a:schemeClr val="tx1">
                  <a:lumMod val="85000"/>
                  <a:lumOff val="15000"/>
                </a:schemeClr>
              </a:solidFill>
              <a:uFillTx/>
              <a:latin typeface="+mn-ea"/>
              <a:sym typeface="+mn-ea"/>
            </a:endParaRPr>
          </a:p>
        </p:txBody>
      </p:sp>
      <p:sp>
        <p:nvSpPr>
          <p:cNvPr id="8" name="圆角矩形 10"/>
          <p:cNvSpPr/>
          <p:nvPr>
            <p:custDataLst>
              <p:tags r:id="rId5"/>
            </p:custDataLst>
          </p:nvPr>
        </p:nvSpPr>
        <p:spPr>
          <a:xfrm>
            <a:off x="927114" y="3161939"/>
            <a:ext cx="706797" cy="87635"/>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6"/>
          <p:cNvSpPr/>
          <p:nvPr>
            <p:custDataLst>
              <p:tags r:id="rId6"/>
            </p:custDataLst>
          </p:nvPr>
        </p:nvSpPr>
        <p:spPr>
          <a:xfrm>
            <a:off x="695325" y="4945759"/>
            <a:ext cx="10801350" cy="1423119"/>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1600" kern="0">
                <a:ln>
                  <a:noFill/>
                  <a:prstDash val="sysDot"/>
                </a:ln>
                <a:solidFill>
                  <a:schemeClr val="tx1">
                    <a:lumMod val="85000"/>
                    <a:lumOff val="15000"/>
                  </a:schemeClr>
                </a:solidFill>
                <a:uFillTx/>
                <a:latin typeface="+mn-ea"/>
                <a:sym typeface="+mn-ea"/>
              </a:rPr>
              <a:t>位置编码与地理信息检索：</a:t>
            </a:r>
            <a:r>
              <a:rPr lang="en-US" altLang="zh-CN" sz="1600" kern="0">
                <a:ln>
                  <a:noFill/>
                  <a:prstDash val="sysDot"/>
                </a:ln>
                <a:solidFill>
                  <a:schemeClr val="tx1">
                    <a:lumMod val="85000"/>
                    <a:lumOff val="15000"/>
                  </a:schemeClr>
                </a:solidFill>
                <a:uFillTx/>
                <a:latin typeface="+mn-ea"/>
                <a:sym typeface="+mn-ea"/>
              </a:rPr>
              <a:t>Space2Vec(2019)</a:t>
            </a:r>
            <a:r>
              <a:rPr lang="zh-CN" altLang="en-US" sz="1600" kern="0">
                <a:ln>
                  <a:noFill/>
                  <a:prstDash val="sysDot"/>
                </a:ln>
                <a:solidFill>
                  <a:schemeClr val="tx1">
                    <a:lumMod val="85000"/>
                    <a:lumOff val="15000"/>
                  </a:schemeClr>
                </a:solidFill>
                <a:uFillTx/>
                <a:latin typeface="+mn-ea"/>
                <a:sym typeface="+mn-ea"/>
              </a:rPr>
              <a:t>使用多尺度正弦编码将地理坐标映射为高维向量；</a:t>
            </a:r>
            <a:r>
              <a:rPr lang="en-US" altLang="zh-CN" sz="1600" kern="0">
                <a:ln>
                  <a:noFill/>
                  <a:prstDash val="sysDot"/>
                </a:ln>
                <a:solidFill>
                  <a:schemeClr val="tx1">
                    <a:lumMod val="85000"/>
                    <a:lumOff val="15000"/>
                  </a:schemeClr>
                </a:solidFill>
                <a:uFillTx/>
                <a:latin typeface="+mn-ea"/>
                <a:sym typeface="+mn-ea"/>
              </a:rPr>
              <a:t>GeoCLIP(2023)</a:t>
            </a:r>
            <a:r>
              <a:rPr lang="zh-CN" altLang="en-US" sz="1600" kern="0">
                <a:ln>
                  <a:noFill/>
                  <a:prstDash val="sysDot"/>
                </a:ln>
                <a:solidFill>
                  <a:schemeClr val="tx1">
                    <a:lumMod val="85000"/>
                    <a:lumOff val="15000"/>
                  </a:schemeClr>
                </a:solidFill>
                <a:uFillTx/>
                <a:latin typeface="+mn-ea"/>
                <a:sym typeface="+mn-ea"/>
              </a:rPr>
              <a:t>通过对比学习实现图像与地理位置的全局对齐。不足：上述方法聚焦地理定位(</a:t>
            </a:r>
            <a:r>
              <a:rPr lang="en-US" altLang="zh-CN" sz="1600" kern="0">
                <a:ln>
                  <a:noFill/>
                  <a:prstDash val="sysDot"/>
                </a:ln>
                <a:solidFill>
                  <a:schemeClr val="tx1">
                    <a:lumMod val="85000"/>
                    <a:lumOff val="15000"/>
                  </a:schemeClr>
                </a:solidFill>
                <a:uFillTx/>
                <a:latin typeface="+mn-ea"/>
                <a:sym typeface="+mn-ea"/>
              </a:rPr>
              <a:t>Geo-localization)</a:t>
            </a:r>
            <a:r>
              <a:rPr lang="zh-CN" altLang="en-US" sz="1600" kern="0">
                <a:ln>
                  <a:noFill/>
                  <a:prstDash val="sysDot"/>
                </a:ln>
                <a:solidFill>
                  <a:schemeClr val="tx1">
                    <a:lumMod val="85000"/>
                    <a:lumOff val="15000"/>
                  </a:schemeClr>
                </a:solidFill>
                <a:uFillTx/>
                <a:latin typeface="+mn-ea"/>
                <a:sym typeface="+mn-ea"/>
              </a:rPr>
              <a:t>任务，</a:t>
            </a:r>
            <a:r>
              <a:rPr lang="zh-CN" altLang="en-US" sz="1600" b="1" kern="0">
                <a:ln>
                  <a:noFill/>
                  <a:prstDash val="sysDot"/>
                </a:ln>
                <a:solidFill>
                  <a:schemeClr val="tx1">
                    <a:lumMod val="85000"/>
                    <a:lumOff val="15000"/>
                  </a:schemeClr>
                </a:solidFill>
                <a:uFillTx/>
                <a:latin typeface="+mn-ea"/>
                <a:sym typeface="+mn-ea"/>
              </a:rPr>
              <a:t>不涉及哈希码生成与高效检索，无法满足大规模古树名木快速检索需求</a:t>
            </a:r>
            <a:r>
              <a:rPr lang="zh-CN" altLang="en-US" sz="1600" kern="0">
                <a:ln>
                  <a:noFill/>
                  <a:prstDash val="sysDot"/>
                </a:ln>
                <a:solidFill>
                  <a:schemeClr val="tx1">
                    <a:lumMod val="85000"/>
                    <a:lumOff val="15000"/>
                  </a:schemeClr>
                </a:solidFill>
                <a:uFillTx/>
                <a:latin typeface="+mn-ea"/>
                <a:sym typeface="+mn-ea"/>
              </a:rPr>
              <a:t>。</a:t>
            </a:r>
            <a:endParaRPr lang="zh-CN" altLang="en-US" sz="1600" kern="0">
              <a:ln>
                <a:noFill/>
                <a:prstDash val="sysDot"/>
              </a:ln>
              <a:solidFill>
                <a:schemeClr val="tx1">
                  <a:lumMod val="85000"/>
                  <a:lumOff val="15000"/>
                </a:schemeClr>
              </a:solidFill>
              <a:uFillTx/>
              <a:latin typeface="+mn-ea"/>
              <a:sym typeface="+mn-ea"/>
            </a:endParaRPr>
          </a:p>
        </p:txBody>
      </p:sp>
      <p:sp>
        <p:nvSpPr>
          <p:cNvPr id="13" name="圆角矩形 11"/>
          <p:cNvSpPr/>
          <p:nvPr>
            <p:custDataLst>
              <p:tags r:id="rId7"/>
            </p:custDataLst>
          </p:nvPr>
        </p:nvSpPr>
        <p:spPr>
          <a:xfrm>
            <a:off x="927114" y="4893051"/>
            <a:ext cx="706797" cy="87635"/>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Tree>
    <p:custDataLst>
      <p:tags r:id="rId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365125"/>
            <a:ext cx="10515600" cy="523875"/>
          </a:xfrm>
        </p:spPr>
        <p:txBody>
          <a:bodyPr>
            <a:normAutofit fontScale="90000"/>
          </a:bodyPr>
          <a:lstStyle/>
          <a:p>
            <a:br>
              <a:rPr lang="en-US" altLang="zh-CN" dirty="0"/>
            </a:br>
            <a:endParaRPr lang="zh-CN" altLang="en-US" dirty="0"/>
          </a:p>
        </p:txBody>
      </p:sp>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278528" y="2771804"/>
            <a:ext cx="4676055"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研究</a:t>
            </a: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内容</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5" name="文本框 4"/>
          <p:cNvSpPr txBox="1"/>
          <p:nvPr/>
        </p:nvSpPr>
        <p:spPr>
          <a:xfrm>
            <a:off x="2334343" y="3662830"/>
            <a:ext cx="4676055" cy="30670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400" spc="50" noProof="0" dirty="0">
                <a:ln>
                  <a:noFill/>
                </a:ln>
                <a:solidFill>
                  <a:prstClr val="white"/>
                </a:solidFill>
                <a:effectLst/>
                <a:uLnTx/>
                <a:uFillTx/>
                <a:latin typeface="Times New Roman" panose="02020603050405020304" charset="0"/>
                <a:ea typeface="+mj-ea"/>
                <a:cs typeface="Times New Roman" panose="02020603050405020304" charset="0"/>
                <a:sym typeface="+mn-ea"/>
              </a:rPr>
              <a:t>RESEARCH </a:t>
            </a:r>
            <a:r>
              <a:rPr lang="en-US" altLang="zh-CN" sz="1400" spc="50" noProof="0" dirty="0">
                <a:ln>
                  <a:noFill/>
                </a:ln>
                <a:solidFill>
                  <a:prstClr val="white"/>
                </a:solidFill>
                <a:effectLst/>
                <a:uLnTx/>
                <a:uFillTx/>
                <a:latin typeface="Times New Roman" panose="02020603050405020304" charset="0"/>
                <a:ea typeface="+mj-ea"/>
                <a:cs typeface="Times New Roman" panose="02020603050405020304" charset="0"/>
                <a:sym typeface="+mn-ea"/>
              </a:rPr>
              <a:t>CONTENT</a:t>
            </a:r>
            <a:endParaRPr lang="en-US" altLang="zh-CN" sz="1400" spc="50" noProof="0" dirty="0">
              <a:ln>
                <a:noFill/>
              </a:ln>
              <a:solidFill>
                <a:prstClr val="white"/>
              </a:solidFill>
              <a:effectLst/>
              <a:uLnTx/>
              <a:uFillTx/>
              <a:latin typeface="Times New Roman" panose="02020603050405020304" charset="0"/>
              <a:ea typeface="+mj-ea"/>
              <a:cs typeface="Times New Roman" panose="02020603050405020304" charset="0"/>
              <a:sym typeface="+mn-ea"/>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3</a:t>
            </a:r>
            <a:endParaRPr kumimoji="0" lang="zh-CN" altLang="en-US"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8554"/>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FOUR</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sym typeface="+mn-ea"/>
              </a:rPr>
              <a:t>研究内容</a:t>
            </a:r>
            <a:endParaRPr lang="zh-CN" altLang="en-US" dirty="0">
              <a:latin typeface="+mn-ea"/>
              <a:ea typeface="+mn-ea"/>
              <a:cs typeface="+mn-cs"/>
            </a:endParaRPr>
          </a:p>
        </p:txBody>
      </p:sp>
      <p:sp>
        <p:nvSpPr>
          <p:cNvPr id="21" name="圆角矩形 20"/>
          <p:cNvSpPr/>
          <p:nvPr>
            <p:custDataLst>
              <p:tags r:id="rId2"/>
            </p:custDataLst>
          </p:nvPr>
        </p:nvSpPr>
        <p:spPr>
          <a:xfrm>
            <a:off x="695960" y="1895593"/>
            <a:ext cx="420345" cy="420345"/>
          </a:xfrm>
          <a:prstGeom prst="roundRect">
            <a:avLst/>
          </a:prstGeom>
          <a:gradFill>
            <a:gsLst>
              <a:gs pos="0">
                <a:schemeClr val="accent1">
                  <a:lumMod val="40000"/>
                  <a:lumOff val="60000"/>
                </a:schemeClr>
              </a:gs>
              <a:gs pos="100000">
                <a:schemeClr val="accent1"/>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mn-ea"/>
            </a:endParaRPr>
          </a:p>
        </p:txBody>
      </p:sp>
      <p:pic>
        <p:nvPicPr>
          <p:cNvPr id="3" name="图片 21" descr="343439383331313b343532303031393bd2b5bca8b9dcc0ed"/>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814698" y="2014331"/>
            <a:ext cx="182869" cy="182869"/>
          </a:xfrm>
          <a:prstGeom prst="rect">
            <a:avLst/>
          </a:prstGeom>
          <a:effectLst/>
        </p:spPr>
      </p:pic>
      <p:sp>
        <p:nvSpPr>
          <p:cNvPr id="29" name="圆角矩形 28"/>
          <p:cNvSpPr/>
          <p:nvPr>
            <p:custDataLst>
              <p:tags r:id="rId6"/>
            </p:custDataLst>
          </p:nvPr>
        </p:nvSpPr>
        <p:spPr>
          <a:xfrm>
            <a:off x="704215" y="3691902"/>
            <a:ext cx="420345" cy="420345"/>
          </a:xfrm>
          <a:prstGeom prst="roundRect">
            <a:avLst/>
          </a:prstGeom>
          <a:gradFill>
            <a:gsLst>
              <a:gs pos="0">
                <a:schemeClr val="accent1">
                  <a:lumMod val="40000"/>
                  <a:lumOff val="60000"/>
                </a:schemeClr>
              </a:gs>
              <a:gs pos="100000">
                <a:schemeClr val="accent1"/>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mn-ea"/>
            </a:endParaRPr>
          </a:p>
        </p:txBody>
      </p:sp>
      <p:pic>
        <p:nvPicPr>
          <p:cNvPr id="24" name="图片 23" descr="343439383331313b343532303032303bb8f6c8cbd0c5cfa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07713" y="3795401"/>
            <a:ext cx="213347" cy="213347"/>
          </a:xfrm>
          <a:prstGeom prst="rect">
            <a:avLst/>
          </a:prstGeom>
        </p:spPr>
      </p:pic>
      <p:sp>
        <p:nvSpPr>
          <p:cNvPr id="31" name="圆角矩形 30"/>
          <p:cNvSpPr/>
          <p:nvPr>
            <p:custDataLst>
              <p:tags r:id="rId10"/>
            </p:custDataLst>
          </p:nvPr>
        </p:nvSpPr>
        <p:spPr>
          <a:xfrm>
            <a:off x="704215" y="5488212"/>
            <a:ext cx="420345" cy="420345"/>
          </a:xfrm>
          <a:prstGeom prst="roundRect">
            <a:avLst/>
          </a:prstGeom>
          <a:gradFill>
            <a:gsLst>
              <a:gs pos="0">
                <a:schemeClr val="accent1">
                  <a:lumMod val="40000"/>
                  <a:lumOff val="60000"/>
                </a:schemeClr>
              </a:gs>
              <a:gs pos="100000">
                <a:schemeClr val="accent1"/>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mn-ea"/>
            </a:endParaRPr>
          </a:p>
        </p:txBody>
      </p:sp>
      <p:pic>
        <p:nvPicPr>
          <p:cNvPr id="25" name="图片 24" descr="343439383331313b343532303033323bd3a6d3c3b9dcc0ed"/>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807713" y="5591711"/>
            <a:ext cx="213347" cy="213347"/>
          </a:xfrm>
          <a:prstGeom prst="rect">
            <a:avLst/>
          </a:prstGeom>
        </p:spPr>
      </p:pic>
      <p:sp>
        <p:nvSpPr>
          <p:cNvPr id="4" name="矩形 49"/>
          <p:cNvSpPr/>
          <p:nvPr>
            <p:custDataLst>
              <p:tags r:id="rId14"/>
            </p:custDataLst>
          </p:nvPr>
        </p:nvSpPr>
        <p:spPr>
          <a:xfrm>
            <a:off x="1355686" y="1432070"/>
            <a:ext cx="10139084" cy="1346756"/>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（1）</a:t>
            </a:r>
            <a:r>
              <a:rPr lang="zh-CN" altLang="en-US" sz="1600" b="1" dirty="0">
                <a:ln>
                  <a:noFill/>
                  <a:prstDash val="sysDot"/>
                </a:ln>
                <a:solidFill>
                  <a:schemeClr val="tx1">
                    <a:lumMod val="85000"/>
                    <a:lumOff val="15000"/>
                  </a:schemeClr>
                </a:solidFill>
                <a:latin typeface="+mn-ea"/>
              </a:rPr>
              <a:t>提出基于深度哈希学习的多模态检索模型</a:t>
            </a:r>
            <a:r>
              <a:rPr lang="en-US" altLang="zh-CN" sz="1600" b="1" dirty="0">
                <a:ln>
                  <a:noFill/>
                  <a:prstDash val="sysDot"/>
                </a:ln>
                <a:solidFill>
                  <a:schemeClr val="tx1">
                    <a:lumMod val="85000"/>
                    <a:lumOff val="15000"/>
                  </a:schemeClr>
                </a:solidFill>
                <a:latin typeface="+mn-ea"/>
              </a:rPr>
              <a:t>DHLM</a:t>
            </a:r>
            <a:r>
              <a:rPr lang="zh-CN" altLang="en-US" sz="1600" dirty="0">
                <a:ln>
                  <a:noFill/>
                  <a:prstDash val="sysDot"/>
                </a:ln>
                <a:solidFill>
                  <a:schemeClr val="tx1">
                    <a:lumMod val="85000"/>
                    <a:lumOff val="15000"/>
                  </a:schemeClr>
                </a:solidFill>
                <a:latin typeface="+mn-ea"/>
              </a:rPr>
              <a:t>（</a:t>
            </a:r>
            <a:r>
              <a:rPr lang="en-US" altLang="zh-CN" sz="1600" b="1" dirty="0">
                <a:ln>
                  <a:noFill/>
                  <a:prstDash val="sysDot"/>
                </a:ln>
                <a:solidFill>
                  <a:schemeClr val="tx1">
                    <a:lumMod val="85000"/>
                    <a:lumOff val="15000"/>
                  </a:schemeClr>
                </a:solidFill>
                <a:latin typeface="+mn-ea"/>
              </a:rPr>
              <a:t>D</a:t>
            </a:r>
            <a:r>
              <a:rPr lang="en-US" altLang="zh-CN" sz="1600" dirty="0">
                <a:ln>
                  <a:noFill/>
                  <a:prstDash val="sysDot"/>
                </a:ln>
                <a:solidFill>
                  <a:schemeClr val="tx1">
                    <a:lumMod val="85000"/>
                    <a:lumOff val="15000"/>
                  </a:schemeClr>
                </a:solidFill>
                <a:latin typeface="+mn-ea"/>
              </a:rPr>
              <a:t>eep </a:t>
            </a:r>
            <a:r>
              <a:rPr lang="en-US" altLang="zh-CN" sz="1600" b="1" dirty="0">
                <a:ln>
                  <a:noFill/>
                  <a:prstDash val="sysDot"/>
                </a:ln>
                <a:solidFill>
                  <a:schemeClr val="tx1">
                    <a:lumMod val="85000"/>
                    <a:lumOff val="15000"/>
                  </a:schemeClr>
                </a:solidFill>
                <a:latin typeface="+mn-ea"/>
              </a:rPr>
              <a:t>H</a:t>
            </a:r>
            <a:r>
              <a:rPr lang="en-US" altLang="zh-CN" sz="1600" dirty="0">
                <a:ln>
                  <a:noFill/>
                  <a:prstDash val="sysDot"/>
                </a:ln>
                <a:solidFill>
                  <a:schemeClr val="tx1">
                    <a:lumMod val="85000"/>
                    <a:lumOff val="15000"/>
                  </a:schemeClr>
                </a:solidFill>
                <a:latin typeface="+mn-ea"/>
              </a:rPr>
              <a:t>ashing</a:t>
            </a:r>
            <a:r>
              <a:rPr lang="en-US" altLang="zh-CN" sz="1600" b="1" dirty="0">
                <a:ln>
                  <a:noFill/>
                  <a:prstDash val="sysDot"/>
                </a:ln>
                <a:solidFill>
                  <a:schemeClr val="tx1">
                    <a:lumMod val="85000"/>
                    <a:lumOff val="15000"/>
                  </a:schemeClr>
                </a:solidFill>
                <a:latin typeface="+mn-ea"/>
              </a:rPr>
              <a:t> L</a:t>
            </a:r>
            <a:r>
              <a:rPr lang="en-US" altLang="zh-CN" sz="1600" dirty="0">
                <a:ln>
                  <a:noFill/>
                  <a:prstDash val="sysDot"/>
                </a:ln>
                <a:solidFill>
                  <a:schemeClr val="tx1">
                    <a:lumMod val="85000"/>
                    <a:lumOff val="15000"/>
                  </a:schemeClr>
                </a:solidFill>
                <a:latin typeface="+mn-ea"/>
              </a:rPr>
              <a:t>earning </a:t>
            </a:r>
            <a:r>
              <a:rPr lang="en-US" altLang="zh-CN" sz="1600" b="1" dirty="0">
                <a:ln>
                  <a:noFill/>
                  <a:prstDash val="sysDot"/>
                </a:ln>
                <a:solidFill>
                  <a:schemeClr val="tx1">
                    <a:lumMod val="85000"/>
                    <a:lumOff val="15000"/>
                  </a:schemeClr>
                </a:solidFill>
                <a:latin typeface="+mn-ea"/>
              </a:rPr>
              <a:t>M</a:t>
            </a:r>
            <a:r>
              <a:rPr lang="en-US" altLang="zh-CN" sz="1600" dirty="0">
                <a:ln>
                  <a:noFill/>
                  <a:prstDash val="sysDot"/>
                </a:ln>
                <a:solidFill>
                  <a:schemeClr val="tx1">
                    <a:lumMod val="85000"/>
                    <a:lumOff val="15000"/>
                  </a:schemeClr>
                </a:solidFill>
                <a:latin typeface="+mn-ea"/>
              </a:rPr>
              <a:t>ulti-modal Network</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a:t>
            </a:r>
            <a:r>
              <a:rPr lang="zh-CN" altLang="en-US" sz="1600" dirty="0">
                <a:ln>
                  <a:noFill/>
                  <a:prstDash val="sysDot"/>
                </a:ln>
                <a:solidFill>
                  <a:schemeClr val="tx1">
                    <a:lumMod val="85000"/>
                    <a:lumOff val="15000"/>
                  </a:schemeClr>
                </a:solidFill>
                <a:latin typeface="+mn-ea"/>
              </a:rPr>
              <a:t>设计图像与位置特征编码层、多模态融合层、哈希层与检索层，采用多损失联合优化策略。</a:t>
            </a:r>
            <a:endParaRPr lang="zh-CN" altLang="en-US" sz="1600" dirty="0">
              <a:ln>
                <a:noFill/>
                <a:prstDash val="sysDot"/>
              </a:ln>
              <a:solidFill>
                <a:schemeClr val="tx1">
                  <a:lumMod val="85000"/>
                  <a:lumOff val="15000"/>
                </a:schemeClr>
              </a:solidFill>
              <a:latin typeface="+mn-ea"/>
            </a:endParaRPr>
          </a:p>
        </p:txBody>
      </p:sp>
      <p:sp>
        <p:nvSpPr>
          <p:cNvPr id="55" name="矩形 54"/>
          <p:cNvSpPr/>
          <p:nvPr>
            <p:custDataLst>
              <p:tags r:id="rId15"/>
            </p:custDataLst>
          </p:nvPr>
        </p:nvSpPr>
        <p:spPr>
          <a:xfrm>
            <a:off x="1355686" y="3228380"/>
            <a:ext cx="10139084" cy="1346756"/>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（2）</a:t>
            </a:r>
            <a:r>
              <a:rPr lang="zh-CN" altLang="en-US" sz="1600" b="1" dirty="0">
                <a:ln>
                  <a:noFill/>
                  <a:prstDash val="sysDot"/>
                </a:ln>
                <a:solidFill>
                  <a:schemeClr val="tx1">
                    <a:lumMod val="85000"/>
                    <a:lumOff val="15000"/>
                  </a:schemeClr>
                </a:solidFill>
                <a:latin typeface="+mn-ea"/>
              </a:rPr>
              <a:t>模型性能的多维度实验验证</a:t>
            </a:r>
            <a:r>
              <a:rPr lang="zh-CN" altLang="en-US" sz="1600" dirty="0">
                <a:ln>
                  <a:noFill/>
                  <a:prstDash val="sysDot"/>
                </a:ln>
                <a:solidFill>
                  <a:schemeClr val="tx1">
                    <a:lumMod val="85000"/>
                    <a:lumOff val="15000"/>
                  </a:schemeClr>
                </a:solidFill>
                <a:latin typeface="+mn-ea"/>
              </a:rPr>
              <a:t>，在</a:t>
            </a:r>
            <a:r>
              <a:rPr lang="en-US" altLang="zh-CN" sz="1600" dirty="0">
                <a:ln>
                  <a:noFill/>
                  <a:prstDash val="sysDot"/>
                </a:ln>
                <a:solidFill>
                  <a:schemeClr val="tx1">
                    <a:lumMod val="85000"/>
                    <a:lumOff val="15000"/>
                  </a:schemeClr>
                </a:solidFill>
                <a:latin typeface="+mn-ea"/>
              </a:rPr>
              <a:t>iNaturalist 2018</a:t>
            </a:r>
            <a:r>
              <a:rPr lang="zh-CN" altLang="en-US" sz="1600" dirty="0">
                <a:ln>
                  <a:noFill/>
                  <a:prstDash val="sysDot"/>
                </a:ln>
                <a:solidFill>
                  <a:schemeClr val="tx1">
                    <a:lumMod val="85000"/>
                    <a:lumOff val="15000"/>
                  </a:schemeClr>
                </a:solidFill>
                <a:latin typeface="+mn-ea"/>
              </a:rPr>
              <a:t>数据集上进行预训练、基线对比与消融实验；在自建</a:t>
            </a:r>
            <a:r>
              <a:rPr lang="en-US" altLang="zh-CN" sz="1600" dirty="0">
                <a:ln>
                  <a:noFill/>
                  <a:prstDash val="sysDot"/>
                </a:ln>
                <a:solidFill>
                  <a:schemeClr val="tx1">
                    <a:lumMod val="85000"/>
                    <a:lumOff val="15000"/>
                  </a:schemeClr>
                </a:solidFill>
                <a:latin typeface="+mn-ea"/>
              </a:rPr>
              <a:t>BFATH</a:t>
            </a:r>
            <a:r>
              <a:rPr lang="zh-CN" altLang="en-US" sz="1600" dirty="0">
                <a:ln>
                  <a:noFill/>
                  <a:prstDash val="sysDot"/>
                </a:ln>
                <a:solidFill>
                  <a:schemeClr val="tx1">
                    <a:lumMod val="85000"/>
                    <a:lumOff val="15000"/>
                  </a:schemeClr>
                </a:solidFill>
                <a:latin typeface="+mn-ea"/>
              </a:rPr>
              <a:t>数据集上进行领域微调与系统演示验证</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p:txBody>
      </p:sp>
      <p:sp>
        <p:nvSpPr>
          <p:cNvPr id="58" name="矩形 57"/>
          <p:cNvSpPr/>
          <p:nvPr>
            <p:custDataLst>
              <p:tags r:id="rId16"/>
            </p:custDataLst>
          </p:nvPr>
        </p:nvSpPr>
        <p:spPr>
          <a:xfrm>
            <a:off x="1354416" y="5024689"/>
            <a:ext cx="10139084" cy="1346756"/>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（3）</a:t>
            </a:r>
            <a:r>
              <a:rPr lang="zh-CN" altLang="en-US" sz="1600" b="1" dirty="0">
                <a:ln>
                  <a:noFill/>
                  <a:prstDash val="sysDot"/>
                </a:ln>
                <a:solidFill>
                  <a:schemeClr val="tx1">
                    <a:lumMod val="85000"/>
                    <a:lumOff val="15000"/>
                  </a:schemeClr>
                </a:solidFill>
                <a:latin typeface="+mn-ea"/>
              </a:rPr>
              <a:t>基于</a:t>
            </a:r>
            <a:r>
              <a:rPr lang="en-US" altLang="zh-CN" sz="1600" b="1" dirty="0">
                <a:ln>
                  <a:noFill/>
                  <a:prstDash val="sysDot"/>
                </a:ln>
                <a:solidFill>
                  <a:schemeClr val="tx1">
                    <a:lumMod val="85000"/>
                    <a:lumOff val="15000"/>
                  </a:schemeClr>
                </a:solidFill>
                <a:latin typeface="+mn-ea"/>
              </a:rPr>
              <a:t>Vue+SpringBoot</a:t>
            </a:r>
            <a:r>
              <a:rPr lang="zh-CN" altLang="en-US" sz="1600" b="1" dirty="0">
                <a:ln>
                  <a:noFill/>
                  <a:prstDash val="sysDot"/>
                </a:ln>
                <a:solidFill>
                  <a:schemeClr val="tx1">
                    <a:lumMod val="85000"/>
                    <a:lumOff val="15000"/>
                  </a:schemeClr>
                </a:solidFill>
                <a:latin typeface="+mn-ea"/>
              </a:rPr>
              <a:t>前后端分离架构，研建了古树名木多模态展示与检索系统</a:t>
            </a:r>
            <a:r>
              <a:rPr lang="zh-CN" altLang="en-US" sz="1600" dirty="0">
                <a:ln>
                  <a:noFill/>
                  <a:prstDash val="sysDot"/>
                </a:ln>
                <a:solidFill>
                  <a:schemeClr val="tx1">
                    <a:lumMod val="85000"/>
                    <a:lumOff val="15000"/>
                  </a:schemeClr>
                </a:solidFill>
                <a:latin typeface="+mn-ea"/>
              </a:rPr>
              <a:t>，集成</a:t>
            </a:r>
            <a:r>
              <a:rPr lang="en-US" altLang="zh-CN" sz="1600" dirty="0">
                <a:ln>
                  <a:noFill/>
                  <a:prstDash val="sysDot"/>
                </a:ln>
                <a:solidFill>
                  <a:schemeClr val="tx1">
                    <a:lumMod val="85000"/>
                    <a:lumOff val="15000"/>
                  </a:schemeClr>
                </a:solidFill>
                <a:latin typeface="+mn-ea"/>
              </a:rPr>
              <a:t>DHLM</a:t>
            </a:r>
            <a:r>
              <a:rPr lang="zh-CN" altLang="en-US" sz="1600" dirty="0">
                <a:ln>
                  <a:noFill/>
                  <a:prstDash val="sysDot"/>
                </a:ln>
                <a:solidFill>
                  <a:schemeClr val="tx1">
                    <a:lumMod val="85000"/>
                    <a:lumOff val="15000"/>
                  </a:schemeClr>
                </a:solidFill>
                <a:latin typeface="+mn-ea"/>
              </a:rPr>
              <a:t>模型，实现数据上传、级联查询与多模态哈希检索</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p:txBody>
      </p:sp>
      <p:cxnSp>
        <p:nvCxnSpPr>
          <p:cNvPr id="54" name="直接连接符 53"/>
          <p:cNvCxnSpPr/>
          <p:nvPr>
            <p:custDataLst>
              <p:tags r:id="rId17"/>
            </p:custDataLst>
          </p:nvPr>
        </p:nvCxnSpPr>
        <p:spPr>
          <a:xfrm>
            <a:off x="703580" y="4799912"/>
            <a:ext cx="10791825" cy="0"/>
          </a:xfrm>
          <a:prstGeom prst="line">
            <a:avLst/>
          </a:prstGeom>
          <a:ln>
            <a:solidFill>
              <a:schemeClr val="accent1">
                <a:lumMod val="40000"/>
                <a:lumOff val="60000"/>
                <a:alpha val="40000"/>
              </a:schemeClr>
            </a:solidFill>
          </a:ln>
        </p:spPr>
        <p:style>
          <a:lnRef idx="2">
            <a:schemeClr val="accent1"/>
          </a:lnRef>
          <a:fillRef idx="0">
            <a:srgbClr val="FFFFFF"/>
          </a:fillRef>
          <a:effectRef idx="0">
            <a:srgbClr val="FFFFFF"/>
          </a:effectRef>
          <a:fontRef idx="minor">
            <a:schemeClr val="tx1"/>
          </a:fontRef>
        </p:style>
      </p:cxnSp>
      <p:cxnSp>
        <p:nvCxnSpPr>
          <p:cNvPr id="5" name="直接连接符 65"/>
          <p:cNvCxnSpPr/>
          <p:nvPr>
            <p:custDataLst>
              <p:tags r:id="rId18"/>
            </p:custDataLst>
          </p:nvPr>
        </p:nvCxnSpPr>
        <p:spPr>
          <a:xfrm>
            <a:off x="703580" y="3003603"/>
            <a:ext cx="10791825" cy="0"/>
          </a:xfrm>
          <a:prstGeom prst="line">
            <a:avLst/>
          </a:prstGeom>
          <a:ln>
            <a:solidFill>
              <a:schemeClr val="accent1">
                <a:lumMod val="40000"/>
                <a:lumOff val="60000"/>
                <a:alpha val="40000"/>
              </a:schemeClr>
            </a:solidFill>
          </a:ln>
        </p:spPr>
        <p:style>
          <a:lnRef idx="2">
            <a:schemeClr val="accent1"/>
          </a:lnRef>
          <a:fillRef idx="0">
            <a:srgbClr val="FFFFFF"/>
          </a:fillRef>
          <a:effectRef idx="0">
            <a:srgbClr val="FFFFFF"/>
          </a:effectRef>
          <a:fontRef idx="minor">
            <a:schemeClr val="tx1"/>
          </a:fontRef>
        </p:style>
      </p:cxnSp>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spTree>
    <p:custDataLst>
      <p:tags r:id="rId19"/>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zh-CN" altLang="en-US"/>
              <a:t>技术</a:t>
            </a:r>
            <a:r>
              <a:rPr lang="zh-CN" altLang="en-US"/>
              <a:t>路线</a:t>
            </a:r>
            <a:endParaRPr lang="zh-CN" altLang="en-US"/>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7" name="文本框 6"/>
          <p:cNvSpPr txBox="1"/>
          <p:nvPr/>
        </p:nvSpPr>
        <p:spPr>
          <a:xfrm>
            <a:off x="5425440" y="1287145"/>
            <a:ext cx="1341120" cy="368300"/>
          </a:xfrm>
          <a:prstGeom prst="rect">
            <a:avLst/>
          </a:prstGeom>
          <a:noFill/>
        </p:spPr>
        <p:txBody>
          <a:bodyPr wrap="square" rtlCol="0">
            <a:spAutoFit/>
          </a:bodyPr>
          <a:p>
            <a:pPr algn="ctr"/>
            <a:r>
              <a:rPr lang="zh-CN" altLang="en-US"/>
              <a:t>技术路线</a:t>
            </a:r>
            <a:r>
              <a:rPr lang="zh-CN" altLang="en-US"/>
              <a:t>图</a:t>
            </a:r>
            <a:endParaRPr lang="zh-CN" altLang="en-US"/>
          </a:p>
        </p:txBody>
      </p:sp>
      <p:pic>
        <p:nvPicPr>
          <p:cNvPr id="2" name="图片 1" descr="第一章-1.1 技术路线图.drawi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40865" y="1747520"/>
            <a:ext cx="8839200" cy="451739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7" name="文本框 6"/>
          <p:cNvSpPr txBox="1"/>
          <p:nvPr/>
        </p:nvSpPr>
        <p:spPr>
          <a:xfrm>
            <a:off x="2150110" y="1217930"/>
            <a:ext cx="8559800" cy="1614805"/>
          </a:xfrm>
          <a:prstGeom prst="rect">
            <a:avLst/>
          </a:prstGeom>
          <a:noFill/>
        </p:spPr>
        <p:txBody>
          <a:bodyPr wrap="square" rtlCol="0">
            <a:spAutoFit/>
          </a:bodyPr>
          <a:p>
            <a:pPr lvl="0" algn="ctr">
              <a:lnSpc>
                <a:spcPct val="150000"/>
              </a:lnSpc>
              <a:buClrTx/>
              <a:buSzTx/>
              <a:buFontTx/>
            </a:pPr>
            <a:r>
              <a:rPr lang="en-US" altLang="zh-CN" kern="0">
                <a:ln>
                  <a:noFill/>
                  <a:prstDash val="sysDot"/>
                </a:ln>
                <a:solidFill>
                  <a:schemeClr val="tx1">
                    <a:lumMod val="85000"/>
                    <a:lumOff val="15000"/>
                  </a:schemeClr>
                </a:solidFill>
                <a:uFillTx/>
                <a:latin typeface="+mn-ea"/>
                <a:sym typeface="+mn-ea"/>
              </a:rPr>
              <a:t>DHLM</a:t>
            </a:r>
            <a:r>
              <a:rPr lang="zh-CN" altLang="en-US" kern="0">
                <a:ln>
                  <a:noFill/>
                  <a:prstDash val="sysDot"/>
                </a:ln>
                <a:solidFill>
                  <a:schemeClr val="tx1">
                    <a:lumMod val="85000"/>
                    <a:lumOff val="15000"/>
                  </a:schemeClr>
                </a:solidFill>
                <a:uFillTx/>
                <a:latin typeface="+mn-ea"/>
                <a:sym typeface="+mn-ea"/>
              </a:rPr>
              <a:t>模型架构由四个核心模块组成，从五个</a:t>
            </a:r>
            <a:r>
              <a:rPr lang="zh-CN" altLang="en-US" kern="0">
                <a:ln>
                  <a:noFill/>
                  <a:prstDash val="sysDot"/>
                </a:ln>
                <a:solidFill>
                  <a:schemeClr val="tx1">
                    <a:lumMod val="85000"/>
                    <a:lumOff val="15000"/>
                  </a:schemeClr>
                </a:solidFill>
                <a:uFillTx/>
                <a:latin typeface="+mn-ea"/>
                <a:sym typeface="+mn-ea"/>
              </a:rPr>
              <a:t>部分展开介绍</a:t>
            </a:r>
            <a:r>
              <a:rPr lang="zh-CN" altLang="en-US" kern="0">
                <a:ln>
                  <a:noFill/>
                  <a:prstDash val="sysDot"/>
                </a:ln>
                <a:solidFill>
                  <a:schemeClr val="tx1">
                    <a:lumMod val="85000"/>
                    <a:lumOff val="15000"/>
                  </a:schemeClr>
                </a:solidFill>
                <a:uFillTx/>
                <a:latin typeface="+mn-ea"/>
                <a:sym typeface="+mn-ea"/>
              </a:rPr>
              <a:t>：</a:t>
            </a:r>
            <a:endParaRPr lang="zh-CN" altLang="en-US" kern="0">
              <a:ln>
                <a:noFill/>
                <a:prstDash val="sysDot"/>
              </a:ln>
              <a:solidFill>
                <a:schemeClr val="tx1">
                  <a:lumMod val="85000"/>
                  <a:lumOff val="15000"/>
                </a:schemeClr>
              </a:solidFill>
              <a:uFillTx/>
              <a:latin typeface="+mn-ea"/>
              <a:sym typeface="+mn-ea"/>
            </a:endParaRPr>
          </a:p>
          <a:p>
            <a:pPr lvl="0" algn="ctr">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1</a:t>
            </a:r>
            <a:r>
              <a:rPr lang="zh-CN" altLang="en-US" kern="0">
                <a:ln>
                  <a:noFill/>
                  <a:prstDash val="sysDot"/>
                </a:ln>
                <a:solidFill>
                  <a:schemeClr val="tx1">
                    <a:lumMod val="85000"/>
                    <a:lumOff val="15000"/>
                  </a:schemeClr>
                </a:solidFill>
                <a:uFillTx/>
                <a:latin typeface="+mn-ea"/>
                <a:sym typeface="+mn-ea"/>
              </a:rPr>
              <a:t>）图像与位置编码层（</a:t>
            </a:r>
            <a:r>
              <a:rPr lang="en-US" altLang="zh-CN" kern="0">
                <a:ln>
                  <a:noFill/>
                  <a:prstDash val="sysDot"/>
                </a:ln>
                <a:solidFill>
                  <a:schemeClr val="tx1">
                    <a:lumMod val="85000"/>
                    <a:lumOff val="15000"/>
                  </a:schemeClr>
                </a:solidFill>
                <a:uFillTx/>
                <a:latin typeface="+mn-ea"/>
                <a:sym typeface="+mn-ea"/>
              </a:rPr>
              <a:t>2</a:t>
            </a:r>
            <a:r>
              <a:rPr lang="zh-CN" altLang="en-US" kern="0">
                <a:ln>
                  <a:noFill/>
                  <a:prstDash val="sysDot"/>
                </a:ln>
                <a:solidFill>
                  <a:schemeClr val="tx1">
                    <a:lumMod val="85000"/>
                    <a:lumOff val="15000"/>
                  </a:schemeClr>
                </a:solidFill>
                <a:uFillTx/>
                <a:latin typeface="+mn-ea"/>
                <a:sym typeface="+mn-ea"/>
              </a:rPr>
              <a:t>）多模态融合层（</a:t>
            </a:r>
            <a:r>
              <a:rPr lang="en-US" altLang="zh-CN" kern="0">
                <a:ln>
                  <a:noFill/>
                  <a:prstDash val="sysDot"/>
                </a:ln>
                <a:solidFill>
                  <a:schemeClr val="tx1">
                    <a:lumMod val="85000"/>
                    <a:lumOff val="15000"/>
                  </a:schemeClr>
                </a:solidFill>
                <a:uFillTx/>
                <a:latin typeface="+mn-ea"/>
                <a:sym typeface="+mn-ea"/>
              </a:rPr>
              <a:t>3</a:t>
            </a:r>
            <a:r>
              <a:rPr lang="zh-CN" altLang="en-US" kern="0">
                <a:ln>
                  <a:noFill/>
                  <a:prstDash val="sysDot"/>
                </a:ln>
                <a:solidFill>
                  <a:schemeClr val="tx1">
                    <a:lumMod val="85000"/>
                    <a:lumOff val="15000"/>
                  </a:schemeClr>
                </a:solidFill>
                <a:uFillTx/>
                <a:latin typeface="+mn-ea"/>
                <a:sym typeface="+mn-ea"/>
              </a:rPr>
              <a:t>）哈希层</a:t>
            </a:r>
            <a:endParaRPr lang="zh-CN" altLang="en-US" kern="0">
              <a:ln>
                <a:noFill/>
                <a:prstDash val="sysDot"/>
              </a:ln>
              <a:solidFill>
                <a:schemeClr val="tx1">
                  <a:lumMod val="85000"/>
                  <a:lumOff val="15000"/>
                </a:schemeClr>
              </a:solidFill>
              <a:uFillTx/>
              <a:latin typeface="+mn-ea"/>
              <a:sym typeface="+mn-ea"/>
            </a:endParaRPr>
          </a:p>
          <a:p>
            <a:pPr lvl="0" algn="ctr">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4</a:t>
            </a:r>
            <a:r>
              <a:rPr lang="zh-CN" altLang="en-US" kern="0">
                <a:ln>
                  <a:noFill/>
                  <a:prstDash val="sysDot"/>
                </a:ln>
                <a:solidFill>
                  <a:schemeClr val="tx1">
                    <a:lumMod val="85000"/>
                    <a:lumOff val="15000"/>
                  </a:schemeClr>
                </a:solidFill>
                <a:uFillTx/>
                <a:latin typeface="+mn-ea"/>
                <a:sym typeface="+mn-ea"/>
              </a:rPr>
              <a:t>）损失函数（</a:t>
            </a:r>
            <a:r>
              <a:rPr lang="en-US" altLang="zh-CN" kern="0">
                <a:ln>
                  <a:noFill/>
                  <a:prstDash val="sysDot"/>
                </a:ln>
                <a:solidFill>
                  <a:schemeClr val="tx1">
                    <a:lumMod val="85000"/>
                    <a:lumOff val="15000"/>
                  </a:schemeClr>
                </a:solidFill>
                <a:uFillTx/>
                <a:latin typeface="+mn-ea"/>
                <a:sym typeface="+mn-ea"/>
              </a:rPr>
              <a:t>5</a:t>
            </a:r>
            <a:r>
              <a:rPr lang="zh-CN" altLang="en-US" kern="0">
                <a:ln>
                  <a:noFill/>
                  <a:prstDash val="sysDot"/>
                </a:ln>
                <a:solidFill>
                  <a:schemeClr val="tx1">
                    <a:lumMod val="85000"/>
                    <a:lumOff val="15000"/>
                  </a:schemeClr>
                </a:solidFill>
                <a:uFillTx/>
                <a:latin typeface="+mn-ea"/>
                <a:sym typeface="+mn-ea"/>
              </a:rPr>
              <a:t>）检索</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endParaRPr lang="zh-CN" altLang="en-US"/>
          </a:p>
        </p:txBody>
      </p:sp>
      <p:pic>
        <p:nvPicPr>
          <p:cNvPr id="4" name="图片 3" descr="第3章-图3.1 架构图1.drawio"/>
          <p:cNvPicPr>
            <a:picLocks noChangeAspect="1"/>
          </p:cNvPicPr>
          <p:nvPr/>
        </p:nvPicPr>
        <p:blipFill>
          <a:blip r:embed="rId2"/>
          <a:stretch>
            <a:fillRect/>
          </a:stretch>
        </p:blipFill>
        <p:spPr>
          <a:xfrm>
            <a:off x="567055" y="2746375"/>
            <a:ext cx="10934700" cy="3609975"/>
          </a:xfrm>
          <a:prstGeom prst="rect">
            <a:avLst/>
          </a:prstGeom>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249680"/>
            <a:ext cx="6186170" cy="2464435"/>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1</a:t>
            </a:r>
            <a:r>
              <a:rPr lang="zh-CN" altLang="en-US" kern="0">
                <a:ln>
                  <a:noFill/>
                  <a:prstDash val="sysDot"/>
                </a:ln>
                <a:solidFill>
                  <a:schemeClr val="tx1">
                    <a:lumMod val="85000"/>
                    <a:lumOff val="15000"/>
                  </a:schemeClr>
                </a:solidFill>
                <a:uFillTx/>
                <a:latin typeface="+mn-ea"/>
                <a:sym typeface="+mn-ea"/>
              </a:rPr>
              <a:t>）图像与位置编码</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indent="457200"/>
            <a:r>
              <a:rPr lang="zh-CN" altLang="en-US" kern="0">
                <a:ln>
                  <a:noFill/>
                  <a:prstDash val="sysDot"/>
                </a:ln>
                <a:solidFill>
                  <a:schemeClr val="tx1">
                    <a:lumMod val="85000"/>
                    <a:lumOff val="15000"/>
                  </a:schemeClr>
                </a:solidFill>
                <a:uFillTx/>
                <a:latin typeface="+mn-ea"/>
                <a:sym typeface="+mn-ea"/>
              </a:rPr>
              <a:t>图像分支：</a:t>
            </a:r>
            <a:r>
              <a:rPr lang="en-US" altLang="zh-CN" kern="0">
                <a:ln>
                  <a:noFill/>
                  <a:prstDash val="sysDot"/>
                </a:ln>
                <a:solidFill>
                  <a:schemeClr val="tx1">
                    <a:lumMod val="85000"/>
                    <a:lumOff val="15000"/>
                  </a:schemeClr>
                </a:solidFill>
                <a:uFillTx/>
                <a:latin typeface="+mn-ea"/>
                <a:sym typeface="+mn-ea"/>
              </a:rPr>
              <a:t>ResNet-50</a:t>
            </a:r>
            <a:r>
              <a:rPr lang="zh-CN" altLang="en-US" kern="0">
                <a:ln>
                  <a:noFill/>
                  <a:prstDash val="sysDot"/>
                </a:ln>
                <a:solidFill>
                  <a:schemeClr val="tx1">
                    <a:lumMod val="85000"/>
                    <a:lumOff val="15000"/>
                  </a:schemeClr>
                </a:solidFill>
                <a:uFillTx/>
                <a:latin typeface="+mn-ea"/>
                <a:sym typeface="+mn-ea"/>
              </a:rPr>
              <a:t>去除分类头，全局平均池化后接投影层，输出512维图像特征向量。</a:t>
            </a:r>
            <a:endParaRPr lang="zh-CN" altLang="en-US" kern="0">
              <a:ln>
                <a:noFill/>
                <a:prstDash val="sysDot"/>
              </a:ln>
              <a:solidFill>
                <a:schemeClr val="tx1">
                  <a:lumMod val="85000"/>
                  <a:lumOff val="15000"/>
                </a:schemeClr>
              </a:solidFill>
              <a:uFillTx/>
              <a:latin typeface="+mn-ea"/>
              <a:sym typeface="+mn-ea"/>
            </a:endParaRPr>
          </a:p>
          <a:p>
            <a:pPr indent="457200"/>
            <a:r>
              <a:rPr lang="zh-CN" altLang="en-US" kern="0">
                <a:ln>
                  <a:noFill/>
                  <a:prstDash val="sysDot"/>
                </a:ln>
                <a:solidFill>
                  <a:schemeClr val="tx1">
                    <a:lumMod val="85000"/>
                    <a:lumOff val="15000"/>
                  </a:schemeClr>
                </a:solidFill>
                <a:uFillTx/>
                <a:latin typeface="+mn-ea"/>
                <a:sym typeface="+mn-ea"/>
              </a:rPr>
              <a:t>位置分支：轻量级</a:t>
            </a:r>
            <a:r>
              <a:rPr lang="en-US" altLang="zh-CN" kern="0">
                <a:ln>
                  <a:noFill/>
                  <a:prstDash val="sysDot"/>
                </a:ln>
                <a:solidFill>
                  <a:schemeClr val="tx1">
                    <a:lumMod val="85000"/>
                    <a:lumOff val="15000"/>
                  </a:schemeClr>
                </a:solidFill>
                <a:uFillTx/>
                <a:latin typeface="+mn-ea"/>
                <a:sym typeface="+mn-ea"/>
              </a:rPr>
              <a:t>LocationEncoder，MLP</a:t>
            </a:r>
            <a:r>
              <a:rPr lang="zh-CN" altLang="en-US" kern="0">
                <a:ln>
                  <a:noFill/>
                  <a:prstDash val="sysDot"/>
                </a:ln>
                <a:solidFill>
                  <a:schemeClr val="tx1">
                    <a:lumMod val="85000"/>
                    <a:lumOff val="15000"/>
                  </a:schemeClr>
                </a:solidFill>
                <a:uFillTx/>
                <a:latin typeface="+mn-ea"/>
                <a:sym typeface="+mn-ea"/>
              </a:rPr>
              <a:t>结构 2→128→128→256，将二维位置坐标（纬度、经度）映射为256维位置特征向量。</a:t>
            </a:r>
            <a:endParaRPr lang="zh-CN" altLang="en-US" kern="0">
              <a:ln>
                <a:noFill/>
                <a:prstDash val="sysDot"/>
              </a:ln>
              <a:solidFill>
                <a:schemeClr val="tx1">
                  <a:lumMod val="85000"/>
                  <a:lumOff val="15000"/>
                </a:schemeClr>
              </a:solidFill>
              <a:uFillTx/>
              <a:latin typeface="+mn-ea"/>
              <a:sym typeface="+mn-ea"/>
            </a:endParaRPr>
          </a:p>
          <a:p>
            <a:pPr indent="457200"/>
            <a:r>
              <a:rPr lang="zh-CN" altLang="en-US" kern="0">
                <a:ln>
                  <a:noFill/>
                  <a:prstDash val="sysDot"/>
                </a:ln>
                <a:solidFill>
                  <a:schemeClr val="tx1">
                    <a:lumMod val="85000"/>
                    <a:lumOff val="15000"/>
                  </a:schemeClr>
                </a:solidFill>
                <a:uFillTx/>
                <a:latin typeface="+mn-ea"/>
                <a:sym typeface="+mn-ea"/>
              </a:rPr>
              <a:t>两个分支独立工作，分别输出图像与位置的特征向量，为后续多模态融合提供</a:t>
            </a:r>
            <a:r>
              <a:rPr lang="zh-CN" altLang="en-US" kern="0">
                <a:ln>
                  <a:noFill/>
                  <a:prstDash val="sysDot"/>
                </a:ln>
                <a:solidFill>
                  <a:schemeClr val="tx1">
                    <a:lumMod val="85000"/>
                    <a:lumOff val="15000"/>
                  </a:schemeClr>
                </a:solidFill>
                <a:uFillTx/>
                <a:latin typeface="+mn-ea"/>
                <a:sym typeface="+mn-ea"/>
              </a:rPr>
              <a:t>基础。</a:t>
            </a:r>
            <a:endParaRPr lang="zh-CN" altLang="en-US" kern="0">
              <a:ln>
                <a:noFill/>
                <a:prstDash val="sysDot"/>
              </a:ln>
              <a:solidFill>
                <a:schemeClr val="tx1">
                  <a:lumMod val="85000"/>
                  <a:lumOff val="15000"/>
                </a:schemeClr>
              </a:solidFill>
              <a:uFillTx/>
              <a:latin typeface="+mn-ea"/>
              <a:sym typeface="+mn-ea"/>
            </a:endParaRPr>
          </a:p>
        </p:txBody>
      </p:sp>
      <p:pic>
        <p:nvPicPr>
          <p:cNvPr id="2" name="图片 1"/>
          <p:cNvPicPr>
            <a:picLocks noChangeAspect="1"/>
          </p:cNvPicPr>
          <p:nvPr/>
        </p:nvPicPr>
        <p:blipFill>
          <a:blip r:embed="rId2"/>
          <a:stretch>
            <a:fillRect/>
          </a:stretch>
        </p:blipFill>
        <p:spPr>
          <a:xfrm>
            <a:off x="6870700" y="1352550"/>
            <a:ext cx="4648200" cy="3854450"/>
          </a:xfrm>
          <a:prstGeom prst="rect">
            <a:avLst/>
          </a:prstGeom>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993765" cy="2432050"/>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2</a:t>
            </a:r>
            <a:r>
              <a:rPr lang="zh-CN" altLang="en-US" kern="0">
                <a:ln>
                  <a:noFill/>
                  <a:prstDash val="sysDot"/>
                </a:ln>
                <a:solidFill>
                  <a:schemeClr val="tx1">
                    <a:lumMod val="85000"/>
                    <a:lumOff val="15000"/>
                  </a:schemeClr>
                </a:solidFill>
                <a:uFillTx/>
                <a:latin typeface="+mn-ea"/>
                <a:sym typeface="+mn-ea"/>
              </a:rPr>
              <a:t>）多模态融合</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indent="457200" algn="l"/>
            <a:r>
              <a:rPr lang="zh-CN" altLang="en-US" kern="0">
                <a:ln>
                  <a:noFill/>
                  <a:prstDash val="sysDot"/>
                </a:ln>
                <a:solidFill>
                  <a:schemeClr val="tx1">
                    <a:lumMod val="85000"/>
                    <a:lumOff val="15000"/>
                  </a:schemeClr>
                </a:solidFill>
                <a:uFillTx/>
                <a:latin typeface="+mn-ea"/>
                <a:sym typeface="+mn-ea"/>
              </a:rPr>
              <a:t>  主模型采用特征拼接方法，将</a:t>
            </a:r>
            <a:r>
              <a:rPr lang="en-US" altLang="zh-CN" kern="0">
                <a:ln>
                  <a:noFill/>
                  <a:prstDash val="sysDot"/>
                </a:ln>
                <a:solidFill>
                  <a:schemeClr val="tx1">
                    <a:lumMod val="85000"/>
                    <a:lumOff val="15000"/>
                  </a:schemeClr>
                </a:solidFill>
                <a:uFillTx/>
                <a:latin typeface="+mn-ea"/>
                <a:sym typeface="+mn-ea"/>
              </a:rPr>
              <a:t>512</a:t>
            </a:r>
            <a:r>
              <a:rPr lang="zh-CN" altLang="en-US" kern="0">
                <a:ln>
                  <a:noFill/>
                  <a:prstDash val="sysDot"/>
                </a:ln>
                <a:solidFill>
                  <a:schemeClr val="tx1">
                    <a:lumMod val="85000"/>
                    <a:lumOff val="15000"/>
                  </a:schemeClr>
                </a:solidFill>
                <a:uFillTx/>
                <a:latin typeface="+mn-ea"/>
                <a:sym typeface="+mn-ea"/>
              </a:rPr>
              <a:t>维图像特征向量与</a:t>
            </a:r>
            <a:r>
              <a:rPr lang="en-US" altLang="zh-CN" kern="0">
                <a:ln>
                  <a:noFill/>
                  <a:prstDash val="sysDot"/>
                </a:ln>
                <a:solidFill>
                  <a:schemeClr val="tx1">
                    <a:lumMod val="85000"/>
                    <a:lumOff val="15000"/>
                  </a:schemeClr>
                </a:solidFill>
                <a:uFillTx/>
                <a:latin typeface="+mn-ea"/>
                <a:sym typeface="+mn-ea"/>
              </a:rPr>
              <a:t>256</a:t>
            </a:r>
            <a:r>
              <a:rPr lang="zh-CN" altLang="en-US" kern="0">
                <a:ln>
                  <a:noFill/>
                  <a:prstDash val="sysDot"/>
                </a:ln>
                <a:solidFill>
                  <a:schemeClr val="tx1">
                    <a:lumMod val="85000"/>
                    <a:lumOff val="15000"/>
                  </a:schemeClr>
                </a:solidFill>
                <a:uFillTx/>
                <a:latin typeface="+mn-ea"/>
                <a:sym typeface="+mn-ea"/>
              </a:rPr>
              <a:t>维位置特征向量直接拼接，构建出包含双模态信息的融合特征向量。为系统性地论证融合策略的选择，本文在</a:t>
            </a:r>
            <a:r>
              <a:rPr lang="en-US" altLang="zh-CN" kern="0">
                <a:ln>
                  <a:noFill/>
                  <a:prstDash val="sysDot"/>
                </a:ln>
                <a:solidFill>
                  <a:schemeClr val="tx1">
                    <a:lumMod val="85000"/>
                    <a:lumOff val="15000"/>
                  </a:schemeClr>
                </a:solidFill>
                <a:uFillTx/>
                <a:latin typeface="+mn-ea"/>
                <a:sym typeface="+mn-ea"/>
              </a:rPr>
              <a:t>iNaturalist 2018</a:t>
            </a:r>
            <a:r>
              <a:rPr lang="zh-CN" altLang="en-US" kern="0">
                <a:ln>
                  <a:noFill/>
                  <a:prstDash val="sysDot"/>
                </a:ln>
                <a:solidFill>
                  <a:schemeClr val="tx1">
                    <a:lumMod val="85000"/>
                    <a:lumOff val="15000"/>
                  </a:schemeClr>
                </a:solidFill>
                <a:uFillTx/>
                <a:latin typeface="+mn-ea"/>
                <a:sym typeface="+mn-ea"/>
              </a:rPr>
              <a:t>验证集上对比了特征拼接、门控融合、逐元素相加和逐元素相乘四种方案，论证实验见3.4.2节与表3.</a:t>
            </a:r>
            <a:r>
              <a:rPr lang="en-US" altLang="zh-CN" kern="0">
                <a:ln>
                  <a:noFill/>
                  <a:prstDash val="sysDot"/>
                </a:ln>
                <a:solidFill>
                  <a:schemeClr val="tx1">
                    <a:lumMod val="85000"/>
                    <a:lumOff val="15000"/>
                  </a:schemeClr>
                </a:solidFill>
                <a:uFillTx/>
                <a:latin typeface="+mn-ea"/>
                <a:sym typeface="+mn-ea"/>
              </a:rPr>
              <a:t>7</a:t>
            </a:r>
            <a:r>
              <a:rPr lang="zh-CN" altLang="en-US" kern="0">
                <a:ln>
                  <a:noFill/>
                  <a:prstDash val="sysDot"/>
                </a:ln>
                <a:solidFill>
                  <a:schemeClr val="tx1">
                    <a:lumMod val="85000"/>
                    <a:lumOff val="15000"/>
                  </a:schemeClr>
                </a:solidFill>
                <a:uFillTx/>
                <a:latin typeface="+mn-ea"/>
                <a:sym typeface="+mn-ea"/>
              </a:rPr>
              <a:t>。</a:t>
            </a:r>
            <a:endParaRPr lang="zh-CN" altLang="en-US" kern="0">
              <a:ln>
                <a:noFill/>
                <a:prstDash val="sysDot"/>
              </a:ln>
              <a:solidFill>
                <a:schemeClr val="tx1">
                  <a:lumMod val="85000"/>
                  <a:lumOff val="15000"/>
                </a:schemeClr>
              </a:solidFill>
              <a:uFillTx/>
              <a:latin typeface="+mn-ea"/>
              <a:sym typeface="+mn-ea"/>
            </a:endParaRPr>
          </a:p>
          <a:p>
            <a:pPr indent="457200" fontAlgn="auto">
              <a:lnSpc>
                <a:spcPct val="125000"/>
              </a:lnSpc>
            </a:pPr>
            <a:r>
              <a:rPr lang="zh-CN" altLang="en-US" kern="0">
                <a:ln>
                  <a:noFill/>
                  <a:prstDash val="sysDot"/>
                </a:ln>
                <a:solidFill>
                  <a:schemeClr val="tx1">
                    <a:lumMod val="85000"/>
                    <a:lumOff val="15000"/>
                  </a:schemeClr>
                </a:solidFill>
                <a:uFillTx/>
                <a:latin typeface="+mn-ea"/>
                <a:sym typeface="+mn-ea"/>
              </a:rPr>
              <a:t>根据表</a:t>
            </a:r>
            <a:r>
              <a:rPr lang="en-US" altLang="zh-CN" kern="0">
                <a:ln>
                  <a:noFill/>
                  <a:prstDash val="sysDot"/>
                </a:ln>
                <a:solidFill>
                  <a:schemeClr val="tx1">
                    <a:lumMod val="85000"/>
                    <a:lumOff val="15000"/>
                  </a:schemeClr>
                </a:solidFill>
                <a:uFillTx/>
                <a:latin typeface="+mn-ea"/>
                <a:sym typeface="+mn-ea"/>
              </a:rPr>
              <a:t>3.7</a:t>
            </a:r>
            <a:r>
              <a:rPr lang="zh-CN" altLang="en-US" kern="0">
                <a:ln>
                  <a:noFill/>
                  <a:prstDash val="sysDot"/>
                </a:ln>
                <a:solidFill>
                  <a:schemeClr val="tx1">
                    <a:lumMod val="85000"/>
                    <a:lumOff val="15000"/>
                  </a:schemeClr>
                </a:solidFill>
                <a:uFillTx/>
                <a:latin typeface="+mn-ea"/>
                <a:sym typeface="+mn-ea"/>
              </a:rPr>
              <a:t>发现，</a:t>
            </a:r>
            <a:r>
              <a:rPr lang="zh-CN" altLang="en-US" dirty="0" smtClean="0">
                <a:uFillTx/>
                <a:latin typeface="黑体" panose="02010609060101010101" charset="-122"/>
                <a:ea typeface="黑体" panose="02010609060101010101" charset="-122"/>
                <a:cs typeface="黑体" panose="02010609060101010101" charset="-122"/>
                <a:sym typeface="+mn-ea"/>
              </a:rPr>
              <a:t>特征拼接：通过保留各模态完整信息，将模态间关系学习交由后续哈希层自动建模</a:t>
            </a:r>
            <a:r>
              <a:rPr lang="zh-CN" altLang="en-US" dirty="0" smtClean="0">
                <a:uFillTx/>
                <a:latin typeface="黑体" panose="02010609060101010101" charset="-122"/>
                <a:ea typeface="黑体" panose="02010609060101010101" charset="-122"/>
                <a:cs typeface="黑体" panose="02010609060101010101" charset="-122"/>
                <a:sym typeface="+mn-ea"/>
              </a:rPr>
              <a:t>，门控融合：虽具动态调整能力，但门控网络引入的额外参数在小规模数据集上收益有限，且与特征拼接的性能差距不具有统计显著性；</a:t>
            </a:r>
            <a:r>
              <a:rPr lang="zh-CN" altLang="en-US" dirty="0" smtClean="0">
                <a:uFillTx/>
                <a:latin typeface="黑体" panose="02010609060101010101" charset="-122"/>
                <a:ea typeface="黑体" panose="02010609060101010101" charset="-122"/>
                <a:cs typeface="黑体" panose="02010609060101010101" charset="-122"/>
                <a:sym typeface="+mn-ea"/>
              </a:rPr>
              <a:t>加/相乘操作：在模态语义未充分对齐时易造成信息抵消或放大失真；</a:t>
            </a:r>
            <a:r>
              <a:rPr lang="zh-CN" altLang="en-US" kern="0">
                <a:ln>
                  <a:noFill/>
                  <a:prstDash val="sysDot"/>
                </a:ln>
                <a:solidFill>
                  <a:schemeClr val="tx1">
                    <a:lumMod val="85000"/>
                    <a:lumOff val="15000"/>
                  </a:schemeClr>
                </a:solidFill>
                <a:uFillTx/>
                <a:latin typeface="+mn-ea"/>
                <a:sym typeface="+mn-ea"/>
              </a:rPr>
              <a:t>在本文数据规模下，特征拼接最具稳健</a:t>
            </a:r>
            <a:r>
              <a:rPr lang="zh-CN" altLang="en-US" kern="0">
                <a:ln>
                  <a:noFill/>
                  <a:prstDash val="sysDot"/>
                </a:ln>
                <a:solidFill>
                  <a:schemeClr val="tx1">
                    <a:lumMod val="85000"/>
                    <a:lumOff val="15000"/>
                  </a:schemeClr>
                </a:solidFill>
                <a:uFillTx/>
                <a:latin typeface="+mn-ea"/>
                <a:sym typeface="+mn-ea"/>
              </a:rPr>
              <a:t>性。</a:t>
            </a:r>
            <a:endParaRPr lang="zh-CN" altLang="en-US" kern="0">
              <a:ln>
                <a:noFill/>
                <a:prstDash val="sysDot"/>
              </a:ln>
              <a:solidFill>
                <a:schemeClr val="tx1">
                  <a:lumMod val="85000"/>
                  <a:lumOff val="15000"/>
                </a:schemeClr>
              </a:solidFill>
              <a:uFillTx/>
              <a:latin typeface="+mn-ea"/>
              <a:sym typeface="+mn-ea"/>
            </a:endParaRPr>
          </a:p>
          <a:p>
            <a:pPr indent="457200" algn="l"/>
            <a:endParaRPr lang="zh-CN" altLang="en-US" kern="0">
              <a:ln>
                <a:noFill/>
                <a:prstDash val="sysDot"/>
              </a:ln>
              <a:solidFill>
                <a:schemeClr val="tx1">
                  <a:lumMod val="85000"/>
                  <a:lumOff val="15000"/>
                </a:schemeClr>
              </a:solidFill>
              <a:uFillTx/>
              <a:latin typeface="+mn-ea"/>
              <a:sym typeface="+mn-ea"/>
            </a:endParaRPr>
          </a:p>
        </p:txBody>
      </p:sp>
      <p:pic>
        <p:nvPicPr>
          <p:cNvPr id="5" name="图片 4"/>
          <p:cNvPicPr>
            <a:picLocks noChangeAspect="1"/>
          </p:cNvPicPr>
          <p:nvPr/>
        </p:nvPicPr>
        <p:blipFill>
          <a:blip r:embed="rId2"/>
          <a:stretch>
            <a:fillRect/>
          </a:stretch>
        </p:blipFill>
        <p:spPr>
          <a:xfrm>
            <a:off x="7867650" y="2284095"/>
            <a:ext cx="2463800" cy="2159000"/>
          </a:xfrm>
          <a:prstGeom prst="rect">
            <a:avLst/>
          </a:prstGeom>
        </p:spPr>
      </p:pic>
      <p:pic>
        <p:nvPicPr>
          <p:cNvPr id="2" name="图片 1"/>
          <p:cNvPicPr>
            <a:picLocks noChangeAspect="1"/>
          </p:cNvPicPr>
          <p:nvPr/>
        </p:nvPicPr>
        <p:blipFill>
          <a:blip r:embed="rId3"/>
          <a:stretch>
            <a:fillRect/>
          </a:stretch>
        </p:blipFill>
        <p:spPr>
          <a:xfrm>
            <a:off x="6425565" y="4443095"/>
            <a:ext cx="5156200" cy="2004060"/>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884545" cy="4539615"/>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3</a:t>
            </a:r>
            <a:r>
              <a:rPr lang="zh-CN" altLang="en-US" kern="0">
                <a:ln>
                  <a:noFill/>
                  <a:prstDash val="sysDot"/>
                </a:ln>
                <a:solidFill>
                  <a:schemeClr val="tx1">
                    <a:lumMod val="85000"/>
                    <a:lumOff val="15000"/>
                  </a:schemeClr>
                </a:solidFill>
                <a:uFillTx/>
                <a:latin typeface="+mn-ea"/>
                <a:sym typeface="+mn-ea"/>
              </a:rPr>
              <a:t>）哈希</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哈希层核心挑战：连续特征→离散哈希码，不可微。</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本文采用</a:t>
            </a:r>
            <a:r>
              <a:rPr lang="en-US" altLang="zh-CN" kern="0">
                <a:ln>
                  <a:noFill/>
                  <a:prstDash val="sysDot"/>
                </a:ln>
                <a:solidFill>
                  <a:schemeClr val="tx1">
                    <a:lumMod val="85000"/>
                    <a:lumOff val="15000"/>
                  </a:schemeClr>
                </a:solidFill>
                <a:uFillTx/>
                <a:latin typeface="+mn-ea"/>
                <a:sym typeface="+mn-ea"/>
              </a:rPr>
              <a:t>FC-Tanh-Sign</a:t>
            </a:r>
            <a:r>
              <a:rPr lang="zh-CN" altLang="en-US" kern="0">
                <a:ln>
                  <a:noFill/>
                  <a:prstDash val="sysDot"/>
                </a:ln>
                <a:solidFill>
                  <a:schemeClr val="tx1">
                    <a:lumMod val="85000"/>
                    <a:lumOff val="15000"/>
                  </a:schemeClr>
                </a:solidFill>
                <a:uFillTx/>
                <a:latin typeface="+mn-ea"/>
                <a:sym typeface="+mn-ea"/>
              </a:rPr>
              <a:t>三段式结构：</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FC：</a:t>
            </a:r>
            <a:r>
              <a:rPr lang="zh-CN" altLang="en-US" kern="0">
                <a:ln>
                  <a:noFill/>
                  <a:prstDash val="sysDot"/>
                </a:ln>
                <a:solidFill>
                  <a:schemeClr val="tx1">
                    <a:lumMod val="85000"/>
                    <a:lumOff val="15000"/>
                  </a:schemeClr>
                </a:solidFill>
                <a:uFillTx/>
                <a:latin typeface="+mn-ea"/>
                <a:sym typeface="+mn-ea"/>
              </a:rPr>
              <a:t>全连接层将融合特征映射至128维</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Tanh：</a:t>
            </a:r>
            <a:r>
              <a:rPr lang="zh-CN" altLang="en-US" kern="0">
                <a:ln>
                  <a:noFill/>
                  <a:prstDash val="sysDot"/>
                </a:ln>
                <a:solidFill>
                  <a:schemeClr val="tx1">
                    <a:lumMod val="85000"/>
                    <a:lumOff val="15000"/>
                  </a:schemeClr>
                </a:solidFill>
                <a:uFillTx/>
                <a:latin typeface="+mn-ea"/>
                <a:sym typeface="+mn-ea"/>
              </a:rPr>
              <a:t>训练阶段输出[-1,1]连续值，保证梯度回传</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Sign：</a:t>
            </a:r>
            <a:r>
              <a:rPr lang="zh-CN" altLang="en-US" kern="0">
                <a:ln>
                  <a:noFill/>
                  <a:prstDash val="sysDot"/>
                </a:ln>
                <a:solidFill>
                  <a:schemeClr val="tx1">
                    <a:lumMod val="85000"/>
                    <a:lumOff val="15000"/>
                  </a:schemeClr>
                </a:solidFill>
                <a:uFillTx/>
                <a:latin typeface="+mn-ea"/>
                <a:sym typeface="+mn-ea"/>
              </a:rPr>
              <a:t>推理阶段量化为{+1,-1}二进制哈希码</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量化损失约束：引入 </a:t>
            </a:r>
            <a:r>
              <a:rPr lang="en-US" altLang="zh-CN" kern="0">
                <a:ln>
                  <a:noFill/>
                  <a:prstDash val="sysDot"/>
                </a:ln>
                <a:solidFill>
                  <a:schemeClr val="tx1">
                    <a:lumMod val="85000"/>
                    <a:lumOff val="15000"/>
                  </a:schemeClr>
                </a:solidFill>
                <a:uFillTx/>
                <a:latin typeface="+mn-ea"/>
                <a:sym typeface="+mn-ea"/>
              </a:rPr>
              <a:t>Quantization Loss </a:t>
            </a:r>
            <a:r>
              <a:rPr lang="zh-CN" altLang="en-US" kern="0">
                <a:ln>
                  <a:noFill/>
                  <a:prstDash val="sysDot"/>
                </a:ln>
                <a:solidFill>
                  <a:schemeClr val="tx1">
                    <a:lumMod val="85000"/>
                    <a:lumOff val="15000"/>
                  </a:schemeClr>
                </a:solidFill>
                <a:uFillTx/>
                <a:latin typeface="+mn-ea"/>
                <a:sym typeface="+mn-ea"/>
              </a:rPr>
              <a:t>约束连续输出趋近于±1，减小训练与推理之间的量化鸿沟</a:t>
            </a:r>
            <a:r>
              <a:rPr lang="zh-CN" altLang="en-US" kern="0">
                <a:ln>
                  <a:noFill/>
                  <a:prstDash val="sysDot"/>
                </a:ln>
                <a:solidFill>
                  <a:schemeClr val="tx1">
                    <a:lumMod val="85000"/>
                    <a:lumOff val="15000"/>
                  </a:schemeClr>
                </a:solidFill>
                <a:uFillTx/>
                <a:latin typeface="+mn-ea"/>
                <a:sym typeface="+mn-ea"/>
              </a:rPr>
              <a:t>。</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哈希码长度选择128位：参考</a:t>
            </a:r>
            <a:r>
              <a:rPr lang="en-US" altLang="zh-CN" kern="0">
                <a:ln>
                  <a:noFill/>
                  <a:prstDash val="sysDot"/>
                </a:ln>
                <a:solidFill>
                  <a:schemeClr val="tx1">
                    <a:lumMod val="85000"/>
                    <a:lumOff val="15000"/>
                  </a:schemeClr>
                </a:solidFill>
                <a:uFillTx/>
                <a:latin typeface="+mn-ea"/>
                <a:sym typeface="+mn-ea"/>
              </a:rPr>
              <a:t>HashNet/DCH</a:t>
            </a:r>
            <a:r>
              <a:rPr lang="zh-CN" altLang="en-US" kern="0">
                <a:ln>
                  <a:noFill/>
                  <a:prstDash val="sysDot"/>
                </a:ln>
                <a:solidFill>
                  <a:schemeClr val="tx1">
                    <a:lumMod val="85000"/>
                    <a:lumOff val="15000"/>
                  </a:schemeClr>
                </a:solidFill>
                <a:uFillTx/>
                <a:latin typeface="+mn-ea"/>
                <a:sym typeface="+mn-ea"/>
              </a:rPr>
              <a:t>基线，平衡精度与存储。</a:t>
            </a:r>
            <a:endParaRPr lang="zh-CN" altLang="en-US" kern="0">
              <a:ln>
                <a:noFill/>
                <a:prstDash val="sysDot"/>
              </a:ln>
              <a:solidFill>
                <a:schemeClr val="tx1">
                  <a:lumMod val="85000"/>
                  <a:lumOff val="15000"/>
                </a:schemeClr>
              </a:solidFill>
              <a:uFillTx/>
              <a:latin typeface="+mn-ea"/>
              <a:sym typeface="+mn-ea"/>
            </a:endParaRPr>
          </a:p>
        </p:txBody>
      </p:sp>
      <p:pic>
        <p:nvPicPr>
          <p:cNvPr id="2" name="图片 1"/>
          <p:cNvPicPr>
            <a:picLocks noChangeAspect="1"/>
          </p:cNvPicPr>
          <p:nvPr/>
        </p:nvPicPr>
        <p:blipFill>
          <a:blip r:embed="rId2"/>
          <a:stretch>
            <a:fillRect/>
          </a:stretch>
        </p:blipFill>
        <p:spPr>
          <a:xfrm>
            <a:off x="8357235" y="2663825"/>
            <a:ext cx="1676400" cy="1530350"/>
          </a:xfrm>
          <a:prstGeom prst="rect">
            <a:avLst/>
          </a:prstGeom>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884545" cy="4541520"/>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4</a:t>
            </a:r>
            <a:r>
              <a:rPr lang="zh-CN" altLang="en-US" kern="0">
                <a:ln>
                  <a:noFill/>
                  <a:prstDash val="sysDot"/>
                </a:ln>
                <a:solidFill>
                  <a:schemeClr val="tx1">
                    <a:lumMod val="85000"/>
                    <a:lumOff val="15000"/>
                  </a:schemeClr>
                </a:solidFill>
                <a:uFillTx/>
                <a:latin typeface="+mn-ea"/>
                <a:sym typeface="+mn-ea"/>
              </a:rPr>
              <a:t>）损失</a:t>
            </a:r>
            <a:r>
              <a:rPr lang="zh-CN" altLang="en-US" kern="0">
                <a:ln>
                  <a:noFill/>
                  <a:prstDash val="sysDot"/>
                </a:ln>
                <a:solidFill>
                  <a:schemeClr val="tx1">
                    <a:lumMod val="85000"/>
                    <a:lumOff val="15000"/>
                  </a:schemeClr>
                </a:solidFill>
                <a:uFillTx/>
                <a:latin typeface="+mn-ea"/>
                <a:sym typeface="+mn-ea"/>
              </a:rPr>
              <a:t>函数</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联合损失函数 ：</a:t>
            </a:r>
            <a:endParaRPr lang="en-US" altLang="zh-CN"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Triplet Loss（λ₁=10/16）：</a:t>
            </a:r>
            <a:r>
              <a:rPr lang="zh-CN" altLang="en-US" kern="0">
                <a:ln>
                  <a:noFill/>
                  <a:prstDash val="sysDot"/>
                </a:ln>
                <a:solidFill>
                  <a:schemeClr val="tx1">
                    <a:lumMod val="85000"/>
                    <a:lumOff val="15000"/>
                  </a:schemeClr>
                </a:solidFill>
                <a:uFillTx/>
                <a:latin typeface="+mn-ea"/>
                <a:sym typeface="+mn-ea"/>
              </a:rPr>
              <a:t>主导损失，</a:t>
            </a:r>
            <a:r>
              <a:rPr lang="zh-CN" altLang="en-US" dirty="0" smtClean="0">
                <a:uFillTx/>
                <a:latin typeface="黑体" panose="02010609060101010101" charset="-122"/>
                <a:ea typeface="黑体" panose="02010609060101010101" charset="-122"/>
                <a:cs typeface="黑体" panose="02010609060101010101" charset="-122"/>
                <a:sym typeface="+mn-ea"/>
              </a:rPr>
              <a:t>负责拉大类间距离。</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Contrastive Loss（λ₂=5/16）：</a:t>
            </a:r>
            <a:r>
              <a:rPr lang="zh-CN" altLang="en-US" kern="0">
                <a:ln>
                  <a:noFill/>
                  <a:prstDash val="sysDot"/>
                </a:ln>
                <a:solidFill>
                  <a:schemeClr val="tx1">
                    <a:lumMod val="85000"/>
                    <a:lumOff val="15000"/>
                  </a:schemeClr>
                </a:solidFill>
                <a:uFillTx/>
                <a:latin typeface="+mn-ea"/>
                <a:sym typeface="+mn-ea"/>
              </a:rPr>
              <a:t>辅助损失，</a:t>
            </a:r>
            <a:r>
              <a:rPr lang="zh-CN" altLang="en-US" dirty="0" smtClean="0">
                <a:uFillTx/>
                <a:latin typeface="黑体" panose="02010609060101010101" charset="-122"/>
                <a:ea typeface="黑体" panose="02010609060101010101" charset="-122"/>
                <a:cs typeface="黑体" panose="02010609060101010101" charset="-122"/>
                <a:sym typeface="+mn-ea"/>
              </a:rPr>
              <a:t>辅助增强类内聚集</a:t>
            </a:r>
            <a:r>
              <a:rPr lang="zh-CN" altLang="en-US" kern="0">
                <a:ln>
                  <a:noFill/>
                  <a:prstDash val="sysDot"/>
                </a:ln>
                <a:solidFill>
                  <a:schemeClr val="tx1">
                    <a:lumMod val="85000"/>
                    <a:lumOff val="15000"/>
                  </a:schemeClr>
                </a:solidFill>
                <a:uFillTx/>
                <a:latin typeface="+mn-ea"/>
                <a:sym typeface="+mn-ea"/>
              </a:rPr>
              <a:t>。</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Quantization Loss（λ₃=1/16）：</a:t>
            </a:r>
            <a:r>
              <a:rPr lang="zh-CN" altLang="en-US" kern="0">
                <a:ln>
                  <a:noFill/>
                  <a:prstDash val="sysDot"/>
                </a:ln>
                <a:solidFill>
                  <a:schemeClr val="tx1">
                    <a:lumMod val="85000"/>
                    <a:lumOff val="15000"/>
                  </a:schemeClr>
                </a:solidFill>
                <a:uFillTx/>
                <a:latin typeface="+mn-ea"/>
                <a:sym typeface="+mn-ea"/>
              </a:rPr>
              <a:t>约束损失，</a:t>
            </a:r>
            <a:r>
              <a:rPr lang="zh-CN" altLang="en-US" dirty="0" smtClean="0">
                <a:uFillTx/>
                <a:latin typeface="黑体" panose="02010609060101010101" charset="-122"/>
                <a:ea typeface="黑体" panose="02010609060101010101" charset="-122"/>
                <a:cs typeface="黑体" panose="02010609060101010101" charset="-122"/>
                <a:sym typeface="+mn-ea"/>
              </a:rPr>
              <a:t>约束哈希层输出趋近±1。权重配比通过预实验搜索确定</a:t>
            </a:r>
            <a:r>
              <a:rPr lang="zh-CN" altLang="en-US" kern="0">
                <a:ln>
                  <a:noFill/>
                  <a:prstDash val="sysDot"/>
                </a:ln>
                <a:solidFill>
                  <a:schemeClr val="tx1">
                    <a:lumMod val="85000"/>
                    <a:lumOff val="15000"/>
                  </a:schemeClr>
                </a:solidFill>
                <a:uFillTx/>
                <a:latin typeface="+mn-ea"/>
                <a:sym typeface="+mn-ea"/>
              </a:rPr>
              <a:t>。</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在线难例挖掘（</a:t>
            </a:r>
            <a:r>
              <a:rPr lang="en-US" altLang="zh-CN" kern="0">
                <a:ln>
                  <a:noFill/>
                  <a:prstDash val="sysDot"/>
                </a:ln>
                <a:solidFill>
                  <a:schemeClr val="tx1">
                    <a:lumMod val="85000"/>
                    <a:lumOff val="15000"/>
                  </a:schemeClr>
                </a:solidFill>
                <a:uFillTx/>
                <a:latin typeface="+mn-ea"/>
                <a:sym typeface="+mn-ea"/>
              </a:rPr>
              <a:t>OHEM</a:t>
            </a:r>
            <a:r>
              <a:rPr lang="zh-CN" altLang="en-US" kern="0">
                <a:ln>
                  <a:noFill/>
                  <a:prstDash val="sysDot"/>
                </a:ln>
                <a:solidFill>
                  <a:schemeClr val="tx1">
                    <a:lumMod val="85000"/>
                    <a:lumOff val="15000"/>
                  </a:schemeClr>
                </a:solidFill>
                <a:uFillTx/>
                <a:latin typeface="+mn-ea"/>
                <a:sym typeface="+mn-ea"/>
              </a:rPr>
              <a:t>）：</a:t>
            </a:r>
            <a:r>
              <a:rPr lang="zh-CN" altLang="en-US" dirty="0" smtClean="0">
                <a:uFillTx/>
                <a:latin typeface="黑体" panose="02010609060101010101" charset="-122"/>
                <a:ea typeface="黑体" panose="02010609060101010101" charset="-122"/>
                <a:cs typeface="黑体" panose="02010609060101010101" charset="-122"/>
                <a:sym typeface="+mn-ea"/>
              </a:rPr>
              <a:t>此外，针对古树名木数据集的长尾分布，采用在线难例挖掘策略动态选择困难样本，缓解尾部类别训练不充分的问题。</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lvl="0" algn="l">
              <a:lnSpc>
                <a:spcPct val="150000"/>
              </a:lnSpc>
              <a:buClrTx/>
              <a:buSzTx/>
              <a:buFontTx/>
            </a:pP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endParaRPr lang="zh-CN" altLang="en-US" kern="0">
              <a:ln>
                <a:noFill/>
                <a:prstDash val="sysDot"/>
              </a:ln>
              <a:solidFill>
                <a:schemeClr val="tx1">
                  <a:lumMod val="85000"/>
                  <a:lumOff val="15000"/>
                </a:schemeClr>
              </a:solidFill>
              <a:uFillTx/>
              <a:latin typeface="+mn-ea"/>
              <a:sym typeface="+mn-ea"/>
            </a:endParaRPr>
          </a:p>
        </p:txBody>
      </p:sp>
      <p:pic>
        <p:nvPicPr>
          <p:cNvPr id="5" name="图片 4"/>
          <p:cNvPicPr>
            <a:picLocks noChangeAspect="1"/>
          </p:cNvPicPr>
          <p:nvPr/>
        </p:nvPicPr>
        <p:blipFill>
          <a:blip r:embed="rId2"/>
          <a:stretch>
            <a:fillRect/>
          </a:stretch>
        </p:blipFill>
        <p:spPr>
          <a:xfrm>
            <a:off x="6317615" y="2519045"/>
            <a:ext cx="5778500" cy="1073150"/>
          </a:xfrm>
          <a:prstGeom prst="rect">
            <a:avLst/>
          </a:prstGeom>
        </p:spPr>
      </p:pic>
      <p:pic>
        <p:nvPicPr>
          <p:cNvPr id="6" name="图片 5"/>
          <p:cNvPicPr>
            <a:picLocks noChangeAspect="1"/>
          </p:cNvPicPr>
          <p:nvPr/>
        </p:nvPicPr>
        <p:blipFill>
          <a:blip r:embed="rId3"/>
          <a:stretch>
            <a:fillRect/>
          </a:stretch>
        </p:blipFill>
        <p:spPr>
          <a:xfrm>
            <a:off x="2178685" y="1768475"/>
            <a:ext cx="3981450" cy="520700"/>
          </a:xfrm>
          <a:prstGeom prst="rect">
            <a:avLst/>
          </a:prstGeo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884545" cy="3989070"/>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5</a:t>
            </a:r>
            <a:r>
              <a:rPr lang="zh-CN" altLang="en-US" kern="0">
                <a:ln>
                  <a:noFill/>
                  <a:prstDash val="sysDot"/>
                </a:ln>
                <a:solidFill>
                  <a:schemeClr val="tx1">
                    <a:lumMod val="85000"/>
                    <a:lumOff val="15000"/>
                  </a:schemeClr>
                </a:solidFill>
                <a:uFillTx/>
                <a:latin typeface="+mn-ea"/>
                <a:sym typeface="+mn-ea"/>
              </a:rPr>
              <a:t>）检索</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检索层支持三种检索模式：</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以图搜图（</a:t>
            </a:r>
            <a:r>
              <a:rPr lang="en-US" altLang="zh-CN" kern="0">
                <a:ln>
                  <a:noFill/>
                  <a:prstDash val="sysDot"/>
                </a:ln>
                <a:solidFill>
                  <a:schemeClr val="tx1">
                    <a:lumMod val="85000"/>
                    <a:lumOff val="15000"/>
                  </a:schemeClr>
                </a:solidFill>
                <a:uFillTx/>
                <a:latin typeface="+mn-ea"/>
                <a:sym typeface="+mn-ea"/>
              </a:rPr>
              <a:t>I2I）：</a:t>
            </a:r>
            <a:r>
              <a:rPr lang="zh-CN" altLang="en-US" kern="0">
                <a:ln>
                  <a:noFill/>
                  <a:prstDash val="sysDot"/>
                </a:ln>
                <a:solidFill>
                  <a:schemeClr val="tx1">
                    <a:lumMod val="85000"/>
                    <a:lumOff val="15000"/>
                  </a:schemeClr>
                </a:solidFill>
                <a:uFillTx/>
                <a:latin typeface="+mn-ea"/>
                <a:sym typeface="+mn-ea"/>
              </a:rPr>
              <a:t>图像 → 图像数据库；</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以图搜位置（</a:t>
            </a:r>
            <a:r>
              <a:rPr lang="en-US" altLang="zh-CN" kern="0">
                <a:ln>
                  <a:noFill/>
                  <a:prstDash val="sysDot"/>
                </a:ln>
                <a:solidFill>
                  <a:schemeClr val="tx1">
                    <a:lumMod val="85000"/>
                    <a:lumOff val="15000"/>
                  </a:schemeClr>
                </a:solidFill>
                <a:uFillTx/>
                <a:latin typeface="+mn-ea"/>
                <a:sym typeface="+mn-ea"/>
              </a:rPr>
              <a:t>I2L）：</a:t>
            </a:r>
            <a:r>
              <a:rPr lang="zh-CN" altLang="en-US" kern="0">
                <a:ln>
                  <a:noFill/>
                  <a:prstDash val="sysDot"/>
                </a:ln>
                <a:solidFill>
                  <a:schemeClr val="tx1">
                    <a:lumMod val="85000"/>
                    <a:lumOff val="15000"/>
                  </a:schemeClr>
                </a:solidFill>
                <a:uFillTx/>
                <a:latin typeface="+mn-ea"/>
                <a:sym typeface="+mn-ea"/>
              </a:rPr>
              <a:t>图像 → 返回数据库已知位置；</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以位置搜图（</a:t>
            </a:r>
            <a:r>
              <a:rPr lang="en-US" altLang="zh-CN" kern="0">
                <a:ln>
                  <a:noFill/>
                  <a:prstDash val="sysDot"/>
                </a:ln>
                <a:solidFill>
                  <a:schemeClr val="tx1">
                    <a:lumMod val="85000"/>
                    <a:lumOff val="15000"/>
                  </a:schemeClr>
                </a:solidFill>
                <a:uFillTx/>
                <a:latin typeface="+mn-ea"/>
                <a:sym typeface="+mn-ea"/>
              </a:rPr>
              <a:t>L2I）：</a:t>
            </a:r>
            <a:r>
              <a:rPr lang="zh-CN" altLang="en-US" kern="0">
                <a:ln>
                  <a:noFill/>
                  <a:prstDash val="sysDot"/>
                </a:ln>
                <a:solidFill>
                  <a:schemeClr val="tx1">
                    <a:lumMod val="85000"/>
                    <a:lumOff val="15000"/>
                  </a:schemeClr>
                </a:solidFill>
                <a:uFillTx/>
                <a:latin typeface="+mn-ea"/>
                <a:sym typeface="+mn-ea"/>
              </a:rPr>
              <a:t>位置坐标 → 图像数据库。</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检索效率：128位汉明距离检索仅需0.8</a:t>
            </a:r>
            <a:r>
              <a:rPr lang="en-US" altLang="zh-CN" kern="0">
                <a:ln>
                  <a:noFill/>
                  <a:prstDash val="sysDot"/>
                </a:ln>
                <a:solidFill>
                  <a:schemeClr val="tx1">
                    <a:lumMod val="85000"/>
                    <a:lumOff val="15000"/>
                  </a:schemeClr>
                </a:solidFill>
                <a:uFillTx/>
                <a:latin typeface="+mn-ea"/>
                <a:sym typeface="+mn-ea"/>
              </a:rPr>
              <a:t>ms，</a:t>
            </a:r>
            <a:r>
              <a:rPr lang="zh-CN" altLang="en-US" kern="0">
                <a:ln>
                  <a:noFill/>
                  <a:prstDash val="sysDot"/>
                </a:ln>
                <a:solidFill>
                  <a:schemeClr val="tx1">
                    <a:lumMod val="85000"/>
                    <a:lumOff val="15000"/>
                  </a:schemeClr>
                </a:solidFill>
                <a:uFillTx/>
                <a:latin typeface="+mn-ea"/>
                <a:sym typeface="+mn-ea"/>
              </a:rPr>
              <a:t>相比512维浮点余弦检索（12.6</a:t>
            </a:r>
            <a:r>
              <a:rPr lang="en-US" altLang="zh-CN" kern="0">
                <a:ln>
                  <a:noFill/>
                  <a:prstDash val="sysDot"/>
                </a:ln>
                <a:solidFill>
                  <a:schemeClr val="tx1">
                    <a:lumMod val="85000"/>
                    <a:lumOff val="15000"/>
                  </a:schemeClr>
                </a:solidFill>
                <a:uFillTx/>
                <a:latin typeface="+mn-ea"/>
                <a:sym typeface="+mn-ea"/>
              </a:rPr>
              <a:t>ms）</a:t>
            </a:r>
            <a:r>
              <a:rPr lang="zh-CN" altLang="en-US" kern="0">
                <a:ln>
                  <a:noFill/>
                  <a:prstDash val="sysDot"/>
                </a:ln>
                <a:solidFill>
                  <a:schemeClr val="tx1">
                    <a:lumMod val="85000"/>
                    <a:lumOff val="15000"/>
                  </a:schemeClr>
                </a:solidFill>
                <a:uFillTx/>
                <a:latin typeface="+mn-ea"/>
                <a:sym typeface="+mn-ea"/>
              </a:rPr>
              <a:t>提升约15.8倍。</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多级检索策略：哈希粗排（汉明距离快速筛选</a:t>
            </a:r>
            <a:r>
              <a:rPr lang="en-US" altLang="zh-CN" kern="0">
                <a:ln>
                  <a:noFill/>
                  <a:prstDash val="sysDot"/>
                </a:ln>
                <a:solidFill>
                  <a:schemeClr val="tx1">
                    <a:lumMod val="85000"/>
                    <a:lumOff val="15000"/>
                  </a:schemeClr>
                </a:solidFill>
                <a:uFillTx/>
                <a:latin typeface="+mn-ea"/>
                <a:sym typeface="+mn-ea"/>
              </a:rPr>
              <a:t>Top-M）+ </a:t>
            </a:r>
            <a:r>
              <a:rPr lang="zh-CN" altLang="en-US" kern="0">
                <a:ln>
                  <a:noFill/>
                  <a:prstDash val="sysDot"/>
                </a:ln>
                <a:solidFill>
                  <a:schemeClr val="tx1">
                    <a:lumMod val="85000"/>
                    <a:lumOff val="15000"/>
                  </a:schemeClr>
                </a:solidFill>
                <a:uFillTx/>
                <a:latin typeface="+mn-ea"/>
                <a:sym typeface="+mn-ea"/>
              </a:rPr>
              <a:t>浮点精排（余弦相似度精确排序）。</a:t>
            </a:r>
            <a:endParaRPr lang="zh-CN" altLang="en-US" kern="0">
              <a:ln>
                <a:noFill/>
                <a:prstDash val="sysDot"/>
              </a:ln>
              <a:solidFill>
                <a:schemeClr val="tx1">
                  <a:lumMod val="85000"/>
                  <a:lumOff val="15000"/>
                </a:schemeClr>
              </a:solidFill>
              <a:uFillTx/>
              <a:latin typeface="+mn-ea"/>
              <a:sym typeface="+mn-ea"/>
            </a:endParaRPr>
          </a:p>
        </p:txBody>
      </p:sp>
      <p:pic>
        <p:nvPicPr>
          <p:cNvPr id="2" name="图片 1"/>
          <p:cNvPicPr>
            <a:picLocks noChangeAspect="1"/>
          </p:cNvPicPr>
          <p:nvPr/>
        </p:nvPicPr>
        <p:blipFill>
          <a:blip r:embed="rId2"/>
          <a:stretch>
            <a:fillRect/>
          </a:stretch>
        </p:blipFill>
        <p:spPr>
          <a:xfrm>
            <a:off x="7597775" y="1979295"/>
            <a:ext cx="2190750" cy="2590800"/>
          </a:xfrm>
          <a:prstGeom prst="rect">
            <a:avLst/>
          </a:prstGeom>
        </p:spPr>
      </p:pic>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365125"/>
            <a:ext cx="10515600" cy="523875"/>
          </a:xfrm>
        </p:spPr>
        <p:txBody>
          <a:bodyPr>
            <a:normAutofit fontScale="90000"/>
          </a:bodyPr>
          <a:lstStyle/>
          <a:p>
            <a:br>
              <a:rPr lang="en-US" altLang="zh-CN" dirty="0"/>
            </a:br>
            <a:endParaRPr lang="zh-CN" altLang="en-US" dirty="0"/>
          </a:p>
        </p:txBody>
      </p:sp>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514600" y="2770505"/>
            <a:ext cx="5105400"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实验设计与</a:t>
            </a: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分析</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5" name="文本框 4"/>
          <p:cNvSpPr txBox="1"/>
          <p:nvPr/>
        </p:nvSpPr>
        <p:spPr>
          <a:xfrm>
            <a:off x="2674703" y="3600600"/>
            <a:ext cx="4676055" cy="306705"/>
          </a:xfrm>
          <a:prstGeom prst="rect">
            <a:avLst/>
          </a:prstGeom>
          <a:noFill/>
        </p:spPr>
        <p:txBody>
          <a:bodyPr wrap="square" rtlCol="0">
            <a:spAutoFit/>
          </a:bodyPr>
          <a:lstStyle/>
          <a:p>
            <a:pPr lvl="0" algn="dist">
              <a:defRPr/>
            </a:pPr>
            <a:r>
              <a:rPr lang="en-US" altLang="zh-CN" sz="1400" dirty="0">
                <a:solidFill>
                  <a:schemeClr val="bg1"/>
                </a:solidFill>
                <a:latin typeface="Times New Roman" panose="02020603050405020304" charset="0"/>
                <a:ea typeface="+mj-ea"/>
                <a:cs typeface="Times New Roman" panose="02020603050405020304" charset="0"/>
              </a:rPr>
              <a:t>EXPERIMENTAL DESIGN AND ANALYSIS</a:t>
            </a:r>
            <a:endParaRPr lang="en-US" altLang="zh-CN" sz="1400" dirty="0">
              <a:solidFill>
                <a:schemeClr val="bg1"/>
              </a:solidFill>
              <a:latin typeface="Times New Roman" panose="02020603050405020304" charset="0"/>
              <a:ea typeface="+mj-ea"/>
              <a:cs typeface="Times New Roman" panose="02020603050405020304" charset="0"/>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4</a:t>
            </a:r>
            <a:endParaRPr kumimoji="0" lang="zh-CN" altLang="en-US"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Five</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4" name="矩形 49"/>
          <p:cNvSpPr/>
          <p:nvPr>
            <p:custDataLst>
              <p:tags r:id="rId8"/>
            </p:custDataLst>
          </p:nvPr>
        </p:nvSpPr>
        <p:spPr>
          <a:xfrm>
            <a:off x="1271905" y="1487170"/>
            <a:ext cx="10139045" cy="1061085"/>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数据集：</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en-US" altLang="zh-CN" sz="1600" dirty="0">
                <a:ln>
                  <a:noFill/>
                  <a:prstDash val="sysDot"/>
                </a:ln>
                <a:solidFill>
                  <a:schemeClr val="tx1">
                    <a:lumMod val="85000"/>
                    <a:lumOff val="15000"/>
                  </a:schemeClr>
                </a:solidFill>
                <a:latin typeface="+mn-ea"/>
              </a:rPr>
              <a:t>iNaturalist 2018</a:t>
            </a:r>
            <a:r>
              <a:rPr lang="zh-CN" altLang="en-US" sz="1600" dirty="0">
                <a:ln>
                  <a:noFill/>
                  <a:prstDash val="sysDot"/>
                </a:ln>
                <a:solidFill>
                  <a:schemeClr val="tx1">
                    <a:lumMod val="85000"/>
                    <a:lumOff val="15000"/>
                  </a:schemeClr>
                </a:solidFill>
                <a:latin typeface="+mn-ea"/>
              </a:rPr>
              <a:t>：</a:t>
            </a:r>
            <a:r>
              <a:rPr lang="zh-CN" altLang="en-US" sz="1600" dirty="0" smtClean="0">
                <a:uFillTx/>
                <a:latin typeface="黑体" panose="02010609060101010101" charset="-122"/>
                <a:ea typeface="黑体" panose="02010609060101010101" charset="-122"/>
                <a:cs typeface="黑体" panose="02010609060101010101" charset="-122"/>
                <a:sym typeface="+mn-ea"/>
              </a:rPr>
              <a:t>数据集提供大规模带位置坐标的植物和古树名木图像，适用于模型训练与对比实验，</a:t>
            </a:r>
            <a:r>
              <a:rPr lang="zh-CN" altLang="en-US" sz="1600" dirty="0">
                <a:ln>
                  <a:noFill/>
                  <a:prstDash val="sysDot"/>
                </a:ln>
                <a:solidFill>
                  <a:schemeClr val="tx1">
                    <a:lumMod val="85000"/>
                    <a:lumOff val="15000"/>
                  </a:schemeClr>
                </a:solidFill>
                <a:latin typeface="+mn-ea"/>
                <a:sym typeface="+mn-ea"/>
              </a:rPr>
              <a:t>12544张图像，197物种，训练8781 / 验证2509 / 测试1254</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a:p>
            <a:pPr fontAlgn="auto">
              <a:lnSpc>
                <a:spcPct val="125000"/>
              </a:lnSpc>
            </a:pPr>
            <a:r>
              <a:rPr lang="en-US" altLang="zh-CN" sz="1600" dirty="0">
                <a:ln>
                  <a:noFill/>
                  <a:prstDash val="sysDot"/>
                </a:ln>
                <a:solidFill>
                  <a:schemeClr val="tx1">
                    <a:lumMod val="85000"/>
                    <a:lumOff val="15000"/>
                  </a:schemeClr>
                </a:solidFill>
                <a:latin typeface="+mn-ea"/>
              </a:rPr>
              <a:t>BFATH</a:t>
            </a:r>
            <a:r>
              <a:rPr lang="zh-CN" altLang="en-US" sz="1600" dirty="0">
                <a:ln>
                  <a:noFill/>
                  <a:prstDash val="sysDot"/>
                </a:ln>
                <a:solidFill>
                  <a:schemeClr val="tx1">
                    <a:lumMod val="85000"/>
                    <a:lumOff val="15000"/>
                  </a:schemeClr>
                </a:solidFill>
                <a:latin typeface="+mn-ea"/>
              </a:rPr>
              <a:t>自建：</a:t>
            </a:r>
            <a:r>
              <a:rPr lang="zh-CN" altLang="en-US" sz="1600" dirty="0" smtClean="0">
                <a:uFillTx/>
                <a:latin typeface="黑体" panose="02010609060101010101" charset="-122"/>
                <a:ea typeface="黑体" panose="02010609060101010101" charset="-122"/>
                <a:cs typeface="黑体" panose="02010609060101010101" charset="-122"/>
                <a:sym typeface="+mn-ea"/>
              </a:rPr>
              <a:t>来源于《京津冀古树寻踪》书籍数字化，用于模型微调与系统演示，</a:t>
            </a:r>
            <a:r>
              <a:rPr lang="zh-CN" altLang="en-US" sz="1600" dirty="0">
                <a:ln>
                  <a:noFill/>
                  <a:prstDash val="sysDot"/>
                </a:ln>
                <a:solidFill>
                  <a:schemeClr val="tx1">
                    <a:lumMod val="85000"/>
                    <a:lumOff val="15000"/>
                  </a:schemeClr>
                </a:solidFill>
                <a:latin typeface="+mn-ea"/>
                <a:sym typeface="+mn-ea"/>
              </a:rPr>
              <a:t>300张图像，15个典型树种，训练240 / 验证30 / 测试30。</a:t>
            </a:r>
            <a:endParaRPr lang="zh-CN" altLang="en-US" sz="1600" dirty="0">
              <a:ln>
                <a:noFill/>
                <a:prstDash val="sysDot"/>
              </a:ln>
              <a:solidFill>
                <a:schemeClr val="tx1">
                  <a:lumMod val="85000"/>
                  <a:lumOff val="15000"/>
                </a:schemeClr>
              </a:solidFill>
              <a:latin typeface="+mn-ea"/>
            </a:endParaRPr>
          </a:p>
        </p:txBody>
      </p:sp>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712470" y="105791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7" name="矩形 49"/>
          <p:cNvSpPr/>
          <p:nvPr>
            <p:custDataLst>
              <p:tags r:id="rId9"/>
            </p:custDataLst>
          </p:nvPr>
        </p:nvSpPr>
        <p:spPr>
          <a:xfrm>
            <a:off x="1330960" y="3366770"/>
            <a:ext cx="5909945" cy="1322070"/>
          </a:xfrm>
          <a:prstGeom prst="rect">
            <a:avLst/>
          </a:prstGeom>
          <a:noFill/>
        </p:spPr>
        <p:txBody>
          <a:bodyPr wrap="square" lIns="0" tIns="0" rIns="0" bIns="0" rtlCol="0" anchor="ctr" anchorCtr="0">
            <a:noAutofit/>
          </a:bodyPr>
          <a:p>
            <a:pPr indent="0" fontAlgn="auto">
              <a:lnSpc>
                <a:spcPct val="100000"/>
              </a:lnSpc>
              <a:spcBef>
                <a:spcPct val="0"/>
              </a:spcBef>
              <a:spcAft>
                <a:spcPts val="1200"/>
              </a:spcAft>
            </a:pPr>
            <a:r>
              <a:rPr lang="zh-CN" altLang="en-US" sz="1600" dirty="0">
                <a:ln>
                  <a:noFill/>
                  <a:prstDash val="sysDot"/>
                </a:ln>
                <a:solidFill>
                  <a:schemeClr val="tx1">
                    <a:lumMod val="85000"/>
                    <a:lumOff val="15000"/>
                  </a:schemeClr>
                </a:solidFill>
                <a:latin typeface="+mn-ea"/>
              </a:rPr>
              <a:t>实验</a:t>
            </a:r>
            <a:r>
              <a:rPr lang="zh-CN" altLang="en-US" sz="1600" dirty="0">
                <a:ln>
                  <a:noFill/>
                  <a:prstDash val="sysDot"/>
                </a:ln>
                <a:solidFill>
                  <a:schemeClr val="tx1">
                    <a:lumMod val="85000"/>
                    <a:lumOff val="15000"/>
                  </a:schemeClr>
                </a:solidFill>
                <a:latin typeface="+mn-ea"/>
              </a:rPr>
              <a:t>设置：</a:t>
            </a:r>
            <a:endParaRPr lang="zh-CN" altLang="en-US" sz="1600" dirty="0">
              <a:ln>
                <a:noFill/>
                <a:prstDash val="sysDot"/>
              </a:ln>
              <a:solidFill>
                <a:schemeClr val="tx1">
                  <a:lumMod val="85000"/>
                  <a:lumOff val="15000"/>
                </a:schemeClr>
              </a:solidFill>
              <a:latin typeface="+mn-ea"/>
            </a:endParaRPr>
          </a:p>
          <a:p>
            <a:pPr indent="0" fontAlgn="auto">
              <a:lnSpc>
                <a:spcPct val="100000"/>
              </a:lnSpc>
              <a:spcBef>
                <a:spcPct val="0"/>
              </a:spcBef>
              <a:spcAft>
                <a:spcPts val="1200"/>
              </a:spcAft>
            </a:pPr>
            <a:r>
              <a:rPr lang="zh-CN" altLang="en-US" sz="1600" dirty="0">
                <a:ln>
                  <a:noFill/>
                  <a:prstDash val="sysDot"/>
                </a:ln>
                <a:solidFill>
                  <a:schemeClr val="tx1">
                    <a:lumMod val="85000"/>
                    <a:lumOff val="15000"/>
                  </a:schemeClr>
                </a:solidFill>
                <a:latin typeface="+mn-ea"/>
              </a:rPr>
              <a:t>实验环境：见下表</a:t>
            </a:r>
            <a:r>
              <a:rPr lang="en-US" altLang="zh-CN" sz="1600" dirty="0">
                <a:ln>
                  <a:noFill/>
                  <a:prstDash val="sysDot"/>
                </a:ln>
                <a:solidFill>
                  <a:schemeClr val="tx1">
                    <a:lumMod val="85000"/>
                    <a:lumOff val="15000"/>
                  </a:schemeClr>
                </a:solidFill>
                <a:latin typeface="+mn-ea"/>
              </a:rPr>
              <a:t>3.2</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CentOS 7 / RTX 4090 / CUDA 12.1</a:t>
            </a:r>
            <a:r>
              <a:rPr lang="zh-CN" altLang="en-US" sz="1600" dirty="0">
                <a:ln>
                  <a:noFill/>
                  <a:prstDash val="sysDot"/>
                </a:ln>
                <a:solidFill>
                  <a:schemeClr val="tx1">
                    <a:lumMod val="85000"/>
                    <a:lumOff val="15000"/>
                  </a:schemeClr>
                </a:solidFill>
                <a:latin typeface="+mn-ea"/>
              </a:rPr>
              <a:t>等；</a:t>
            </a:r>
            <a:endParaRPr lang="en-US" altLang="zh-CN" sz="1600" dirty="0">
              <a:ln>
                <a:noFill/>
                <a:prstDash val="sysDot"/>
              </a:ln>
              <a:solidFill>
                <a:schemeClr val="tx1">
                  <a:lumMod val="85000"/>
                  <a:lumOff val="15000"/>
                </a:schemeClr>
              </a:solidFill>
              <a:latin typeface="+mn-ea"/>
            </a:endParaRPr>
          </a:p>
          <a:p>
            <a:pPr indent="0" fontAlgn="auto">
              <a:lnSpc>
                <a:spcPct val="100000"/>
              </a:lnSpc>
              <a:spcBef>
                <a:spcPct val="0"/>
              </a:spcBef>
              <a:spcAft>
                <a:spcPts val="1200"/>
              </a:spcAft>
            </a:pPr>
            <a:r>
              <a:rPr lang="zh-CN" altLang="en-US" sz="1600" dirty="0">
                <a:ln>
                  <a:noFill/>
                  <a:prstDash val="sysDot"/>
                </a:ln>
                <a:solidFill>
                  <a:schemeClr val="tx1">
                    <a:lumMod val="85000"/>
                    <a:lumOff val="15000"/>
                  </a:schemeClr>
                </a:solidFill>
                <a:latin typeface="+mn-ea"/>
              </a:rPr>
              <a:t>模型参数：见</a:t>
            </a:r>
            <a:r>
              <a:rPr lang="zh-CN" altLang="en-US" sz="1600" dirty="0">
                <a:ln>
                  <a:noFill/>
                  <a:prstDash val="sysDot"/>
                </a:ln>
                <a:solidFill>
                  <a:schemeClr val="tx1">
                    <a:lumMod val="85000"/>
                    <a:lumOff val="15000"/>
                  </a:schemeClr>
                </a:solidFill>
                <a:latin typeface="+mn-ea"/>
              </a:rPr>
              <a:t>右表</a:t>
            </a:r>
            <a:r>
              <a:rPr lang="en-US" altLang="zh-CN" sz="1600" dirty="0">
                <a:ln>
                  <a:noFill/>
                  <a:prstDash val="sysDot"/>
                </a:ln>
                <a:solidFill>
                  <a:schemeClr val="tx1">
                    <a:lumMod val="85000"/>
                    <a:lumOff val="15000"/>
                  </a:schemeClr>
                </a:solidFill>
                <a:latin typeface="+mn-ea"/>
              </a:rPr>
              <a:t>3.3</a:t>
            </a:r>
            <a:r>
              <a:rPr lang="zh-CN" altLang="en-US" sz="1600" dirty="0">
                <a:ln>
                  <a:noFill/>
                  <a:prstDash val="sysDot"/>
                </a:ln>
                <a:solidFill>
                  <a:schemeClr val="tx1">
                    <a:lumMod val="85000"/>
                    <a:lumOff val="15000"/>
                  </a:schemeClr>
                </a:solidFill>
                <a:latin typeface="+mn-ea"/>
              </a:rPr>
              <a:t>，128位哈希码 </a:t>
            </a:r>
            <a:r>
              <a:rPr lang="zh-CN" altLang="en-US" sz="1600" dirty="0">
                <a:ln>
                  <a:noFill/>
                  <a:prstDash val="sysDot"/>
                </a:ln>
                <a:solidFill>
                  <a:schemeClr val="tx1">
                    <a:lumMod val="85000"/>
                    <a:lumOff val="15000"/>
                  </a:schemeClr>
                </a:solidFill>
                <a:latin typeface="+mn-ea"/>
              </a:rPr>
              <a:t>等。</a:t>
            </a:r>
            <a:endParaRPr lang="zh-CN" altLang="en-US" sz="1600" dirty="0">
              <a:ln>
                <a:noFill/>
                <a:prstDash val="sysDot"/>
              </a:ln>
              <a:solidFill>
                <a:schemeClr val="tx1">
                  <a:lumMod val="85000"/>
                  <a:lumOff val="15000"/>
                </a:schemeClr>
              </a:solidFill>
              <a:latin typeface="+mn-ea"/>
            </a:endParaRPr>
          </a:p>
        </p:txBody>
      </p:sp>
      <p:grpSp>
        <p:nvGrpSpPr>
          <p:cNvPr id="8" name="îşliḋé"/>
          <p:cNvGrpSpPr/>
          <p:nvPr/>
        </p:nvGrpSpPr>
        <p:grpSpPr>
          <a:xfrm>
            <a:off x="712470" y="3252470"/>
            <a:ext cx="387350" cy="426085"/>
            <a:chOff x="915513" y="2993692"/>
            <a:chExt cx="573787" cy="573786"/>
          </a:xfrm>
        </p:grpSpPr>
        <p:sp>
          <p:nvSpPr>
            <p:cNvPr id="12"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3"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pic>
        <p:nvPicPr>
          <p:cNvPr id="3" name="图片 2"/>
          <p:cNvPicPr>
            <a:picLocks noChangeAspect="1"/>
          </p:cNvPicPr>
          <p:nvPr/>
        </p:nvPicPr>
        <p:blipFill>
          <a:blip r:embed="rId10"/>
          <a:stretch>
            <a:fillRect/>
          </a:stretch>
        </p:blipFill>
        <p:spPr>
          <a:xfrm>
            <a:off x="1330960" y="4606925"/>
            <a:ext cx="4628515" cy="2114550"/>
          </a:xfrm>
          <a:prstGeom prst="rect">
            <a:avLst/>
          </a:prstGeom>
        </p:spPr>
      </p:pic>
      <p:pic>
        <p:nvPicPr>
          <p:cNvPr id="5" name="图片 4"/>
          <p:cNvPicPr>
            <a:picLocks noChangeAspect="1"/>
          </p:cNvPicPr>
          <p:nvPr/>
        </p:nvPicPr>
        <p:blipFill>
          <a:blip r:embed="rId11"/>
          <a:stretch>
            <a:fillRect/>
          </a:stretch>
        </p:blipFill>
        <p:spPr>
          <a:xfrm>
            <a:off x="6797040" y="3146425"/>
            <a:ext cx="4578985" cy="3393440"/>
          </a:xfrm>
          <a:prstGeom prst="rect">
            <a:avLst/>
          </a:prstGeom>
        </p:spPr>
      </p:pic>
    </p:spTree>
    <p:custDataLst>
      <p:tags r:id="rId1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4" name="矩形 49"/>
          <p:cNvSpPr/>
          <p:nvPr>
            <p:custDataLst>
              <p:tags r:id="rId8"/>
            </p:custDataLst>
          </p:nvPr>
        </p:nvSpPr>
        <p:spPr>
          <a:xfrm>
            <a:off x="1311275" y="1707515"/>
            <a:ext cx="10139045" cy="3333750"/>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评价</a:t>
            </a:r>
            <a:r>
              <a:rPr lang="zh-CN" altLang="en-US" sz="1600" dirty="0">
                <a:ln>
                  <a:noFill/>
                  <a:prstDash val="sysDot"/>
                </a:ln>
                <a:solidFill>
                  <a:schemeClr val="tx1">
                    <a:lumMod val="85000"/>
                    <a:lumOff val="15000"/>
                  </a:schemeClr>
                </a:solidFill>
                <a:latin typeface="+mn-ea"/>
              </a:rPr>
              <a:t>指标：</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1</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mAP@K</a:t>
            </a:r>
            <a:r>
              <a:rPr lang="zh-CN" altLang="en-US" sz="1600" dirty="0">
                <a:ln>
                  <a:noFill/>
                  <a:prstDash val="sysDot"/>
                </a:ln>
                <a:solidFill>
                  <a:schemeClr val="tx1">
                    <a:lumMod val="85000"/>
                    <a:lumOff val="15000"/>
                  </a:schemeClr>
                </a:solidFill>
                <a:latin typeface="+mn-ea"/>
              </a:rPr>
              <a:t>：均精度均值，是衡量图像检索整体精度的核心指标。该指标先计算每个查询样本在前</a:t>
            </a:r>
            <a:r>
              <a:rPr lang="en-US" altLang="zh-CN" sz="1600" dirty="0">
                <a:ln>
                  <a:noFill/>
                  <a:prstDash val="sysDot"/>
                </a:ln>
                <a:solidFill>
                  <a:schemeClr val="tx1">
                    <a:lumMod val="85000"/>
                    <a:lumOff val="15000"/>
                  </a:schemeClr>
                </a:solidFill>
                <a:latin typeface="+mn-ea"/>
              </a:rPr>
              <a:t>K</a:t>
            </a:r>
            <a:r>
              <a:rPr lang="zh-CN" altLang="en-US" sz="1600" dirty="0">
                <a:ln>
                  <a:noFill/>
                  <a:prstDash val="sysDot"/>
                </a:ln>
                <a:solidFill>
                  <a:schemeClr val="tx1">
                    <a:lumMod val="85000"/>
                    <a:lumOff val="15000"/>
                  </a:schemeClr>
                </a:solidFill>
                <a:latin typeface="+mn-ea"/>
              </a:rPr>
              <a:t>个检索结果中的平均精度（</a:t>
            </a:r>
            <a:r>
              <a:rPr lang="en-US" altLang="zh-CN" sz="1600" dirty="0">
                <a:ln>
                  <a:noFill/>
                  <a:prstDash val="sysDot"/>
                </a:ln>
                <a:solidFill>
                  <a:schemeClr val="tx1">
                    <a:lumMod val="85000"/>
                    <a:lumOff val="15000"/>
                  </a:schemeClr>
                </a:solidFill>
                <a:latin typeface="+mn-ea"/>
              </a:rPr>
              <a:t>AP），</a:t>
            </a:r>
            <a:r>
              <a:rPr lang="zh-CN" altLang="en-US" sz="1600" dirty="0">
                <a:ln>
                  <a:noFill/>
                  <a:prstDash val="sysDot"/>
                </a:ln>
                <a:solidFill>
                  <a:schemeClr val="tx1">
                    <a:lumMod val="85000"/>
                    <a:lumOff val="15000"/>
                  </a:schemeClr>
                </a:solidFill>
                <a:latin typeface="+mn-ea"/>
              </a:rPr>
              <a:t>再对所有查询样本取均值得到</a:t>
            </a:r>
            <a:r>
              <a:rPr lang="en-US" altLang="zh-CN" sz="1600" dirty="0">
                <a:ln>
                  <a:noFill/>
                  <a:prstDash val="sysDot"/>
                </a:ln>
                <a:solidFill>
                  <a:schemeClr val="tx1">
                    <a:lumMod val="85000"/>
                    <a:lumOff val="15000"/>
                  </a:schemeClr>
                </a:solidFill>
                <a:latin typeface="+mn-ea"/>
              </a:rPr>
              <a:t>mAP@K</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2</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Recall@K</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召回率，用于衡量模型检索的命中能力。其含义为：在所有查询中，模型返回的</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个最相似结果中至少包含一个正确相关样本的查询所占比例。</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3</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Precision@K</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精确率，用于衡量模型检索的精准度。其含义为：在模型返回的</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个检索结果中，正确相关样本所占的比例。</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本文采用双向检索评价策略，分别评估以图搜图（</a:t>
            </a:r>
            <a:r>
              <a:rPr lang="en-US" altLang="zh-CN" sz="1600" dirty="0">
                <a:ln>
                  <a:noFill/>
                  <a:prstDash val="sysDot"/>
                </a:ln>
                <a:solidFill>
                  <a:schemeClr val="tx1">
                    <a:lumMod val="85000"/>
                    <a:lumOff val="15000"/>
                  </a:schemeClr>
                </a:solidFill>
                <a:latin typeface="+mn-ea"/>
              </a:rPr>
              <a:t>I2I）、</a:t>
            </a:r>
            <a:r>
              <a:rPr lang="zh-CN" altLang="en-US" sz="1600" dirty="0">
                <a:ln>
                  <a:noFill/>
                  <a:prstDash val="sysDot"/>
                </a:ln>
                <a:solidFill>
                  <a:schemeClr val="tx1">
                    <a:lumMod val="85000"/>
                    <a:lumOff val="15000"/>
                  </a:schemeClr>
                </a:solidFill>
                <a:latin typeface="+mn-ea"/>
              </a:rPr>
              <a:t>以图搜位置（</a:t>
            </a:r>
            <a:r>
              <a:rPr lang="en-US" altLang="zh-CN" sz="1600" dirty="0">
                <a:ln>
                  <a:noFill/>
                  <a:prstDash val="sysDot"/>
                </a:ln>
                <a:solidFill>
                  <a:schemeClr val="tx1">
                    <a:lumMod val="85000"/>
                    <a:lumOff val="15000"/>
                  </a:schemeClr>
                </a:solidFill>
                <a:latin typeface="+mn-ea"/>
              </a:rPr>
              <a:t>I2L）</a:t>
            </a:r>
            <a:r>
              <a:rPr lang="zh-CN" altLang="en-US" sz="1600" dirty="0">
                <a:ln>
                  <a:noFill/>
                  <a:prstDash val="sysDot"/>
                </a:ln>
                <a:solidFill>
                  <a:schemeClr val="tx1">
                    <a:lumMod val="85000"/>
                    <a:lumOff val="15000"/>
                  </a:schemeClr>
                </a:solidFill>
                <a:latin typeface="+mn-ea"/>
              </a:rPr>
              <a:t>和以位置搜图（</a:t>
            </a:r>
            <a:r>
              <a:rPr lang="en-US" altLang="zh-CN" sz="1600" dirty="0">
                <a:ln>
                  <a:noFill/>
                  <a:prstDash val="sysDot"/>
                </a:ln>
                <a:solidFill>
                  <a:schemeClr val="tx1">
                    <a:lumMod val="85000"/>
                    <a:lumOff val="15000"/>
                  </a:schemeClr>
                </a:solidFill>
                <a:latin typeface="+mn-ea"/>
              </a:rPr>
              <a:t>L2I）</a:t>
            </a:r>
            <a:r>
              <a:rPr lang="zh-CN" altLang="en-US" sz="1600" dirty="0">
                <a:ln>
                  <a:noFill/>
                  <a:prstDash val="sysDot"/>
                </a:ln>
                <a:solidFill>
                  <a:schemeClr val="tx1">
                    <a:lumMod val="85000"/>
                    <a:lumOff val="15000"/>
                  </a:schemeClr>
                </a:solidFill>
                <a:latin typeface="+mn-ea"/>
              </a:rPr>
              <a:t>三种检索任务。</a:t>
            </a:r>
            <a:endParaRPr lang="zh-CN" altLang="en-US" sz="1600" dirty="0">
              <a:ln>
                <a:noFill/>
                <a:prstDash val="sysDot"/>
              </a:ln>
              <a:solidFill>
                <a:schemeClr val="tx1">
                  <a:lumMod val="85000"/>
                  <a:lumOff val="15000"/>
                </a:schemeClr>
              </a:solidFill>
              <a:latin typeface="+mn-ea"/>
            </a:endParaRPr>
          </a:p>
        </p:txBody>
      </p:sp>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728980" y="1853565"/>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Tree>
    <p:custDataLst>
      <p:tags r:id="rId9"/>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sym typeface="+mn-ea"/>
              </a:rPr>
              <a:t>单向检索性能对比</a:t>
            </a:r>
            <a:endParaRPr lang="zh-CN" altLang="en-US"/>
          </a:p>
        </p:txBody>
      </p:sp>
      <p:sp>
        <p:nvSpPr>
          <p:cNvPr id="7" name="文本框 6"/>
          <p:cNvSpPr txBox="1"/>
          <p:nvPr/>
        </p:nvSpPr>
        <p:spPr>
          <a:xfrm>
            <a:off x="1360170" y="1627505"/>
            <a:ext cx="8846185" cy="2041525"/>
          </a:xfrm>
          <a:prstGeom prst="rect">
            <a:avLst/>
          </a:prstGeom>
          <a:noFill/>
        </p:spPr>
        <p:txBody>
          <a:bodyPr wrap="square" rtlCol="0">
            <a:noAutofit/>
          </a:bodyPr>
          <a:p>
            <a:pPr indent="457200"/>
            <a:r>
              <a:rPr lang="zh-CN" altLang="en-US"/>
              <a:t>实验结果见下表3.</a:t>
            </a:r>
            <a:r>
              <a:rPr lang="en-US" altLang="zh-CN"/>
              <a:t>4</a:t>
            </a:r>
            <a:r>
              <a:rPr lang="zh-CN" altLang="en-US"/>
              <a:t>，该表展示了</a:t>
            </a:r>
            <a:r>
              <a:rPr lang="en-US" altLang="zh-CN"/>
              <a:t>HashNet、DCH、MDSH、DHLM-Image</a:t>
            </a:r>
            <a:r>
              <a:rPr lang="zh-CN" altLang="en-US"/>
              <a:t>和</a:t>
            </a:r>
            <a:r>
              <a:rPr lang="en-US" altLang="zh-CN"/>
              <a:t>DHLM</a:t>
            </a:r>
            <a:r>
              <a:rPr lang="zh-CN" altLang="en-US"/>
              <a:t>五个方法在</a:t>
            </a:r>
            <a:r>
              <a:rPr lang="en-US" altLang="zh-CN"/>
              <a:t>iNaturalist 2018</a:t>
            </a:r>
            <a:r>
              <a:rPr lang="zh-CN" altLang="en-US"/>
              <a:t>数据集上的检索性能对比。其中，</a:t>
            </a:r>
            <a:r>
              <a:rPr lang="en-US" altLang="zh-CN"/>
              <a:t>HashNet、DCH、MDSH</a:t>
            </a:r>
            <a:r>
              <a:rPr lang="zh-CN" altLang="en-US"/>
              <a:t>为现有单模态深度哈希基线方法；</a:t>
            </a:r>
            <a:r>
              <a:rPr lang="en-US" altLang="zh-CN"/>
              <a:t>DHLM-Image</a:t>
            </a:r>
            <a:r>
              <a:rPr lang="zh-CN" altLang="en-US"/>
              <a:t>为本文提出的单模态变体（仅使用图像特征），用于公平对比验证</a:t>
            </a:r>
            <a:r>
              <a:rPr lang="en-US" altLang="zh-CN"/>
              <a:t>DHLM</a:t>
            </a:r>
            <a:r>
              <a:rPr lang="zh-CN" altLang="en-US"/>
              <a:t>核心设计（哈希层结构、损失函数组合、难例挖掘策略）的有效性；</a:t>
            </a:r>
            <a:r>
              <a:rPr lang="en-US" altLang="zh-CN"/>
              <a:t>DHLM</a:t>
            </a:r>
            <a:r>
              <a:rPr lang="zh-CN" altLang="en-US"/>
              <a:t>为完整的多模态模型（图像+地理位置元数据），用于展示多模态融合的最终性能</a:t>
            </a:r>
            <a:r>
              <a:rPr lang="zh-CN" altLang="en-US"/>
              <a:t>。</a:t>
            </a:r>
            <a:endParaRPr lang="zh-CN" altLang="en-US"/>
          </a:p>
        </p:txBody>
      </p:sp>
      <p:pic>
        <p:nvPicPr>
          <p:cNvPr id="5" name="图片 4"/>
          <p:cNvPicPr>
            <a:picLocks noChangeAspect="1"/>
          </p:cNvPicPr>
          <p:nvPr/>
        </p:nvPicPr>
        <p:blipFill>
          <a:blip r:embed="rId8"/>
          <a:stretch>
            <a:fillRect/>
          </a:stretch>
        </p:blipFill>
        <p:spPr>
          <a:xfrm>
            <a:off x="3016885" y="3634740"/>
            <a:ext cx="6000750" cy="2508250"/>
          </a:xfrm>
          <a:prstGeom prst="rect">
            <a:avLst/>
          </a:prstGeom>
        </p:spPr>
      </p:pic>
    </p:spTree>
    <p:custDataLst>
      <p:tags r:id="rId9"/>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sym typeface="+mn-ea"/>
              </a:rPr>
              <a:t>双向检索性能对比</a:t>
            </a:r>
            <a:endParaRPr lang="zh-CN" altLang="en-US"/>
          </a:p>
        </p:txBody>
      </p:sp>
      <p:sp>
        <p:nvSpPr>
          <p:cNvPr id="7" name="文本框 6"/>
          <p:cNvSpPr txBox="1"/>
          <p:nvPr/>
        </p:nvSpPr>
        <p:spPr>
          <a:xfrm>
            <a:off x="1360170" y="1627505"/>
            <a:ext cx="8846185" cy="2360295"/>
          </a:xfrm>
          <a:prstGeom prst="rect">
            <a:avLst/>
          </a:prstGeom>
          <a:noFill/>
        </p:spPr>
        <p:txBody>
          <a:bodyPr wrap="square" rtlCol="0">
            <a:noAutofit/>
          </a:bodyPr>
          <a:p>
            <a:pPr indent="457200"/>
            <a:r>
              <a:rPr lang="zh-CN" altLang="en-US"/>
              <a:t>为进一步验证</a:t>
            </a:r>
            <a:r>
              <a:rPr lang="en-US" altLang="zh-CN"/>
              <a:t>DHLM</a:t>
            </a:r>
            <a:r>
              <a:rPr lang="zh-CN" altLang="en-US"/>
              <a:t>作为多模态检索模型的双向检索能力，表</a:t>
            </a:r>
            <a:r>
              <a:rPr lang="en-US" altLang="zh-CN"/>
              <a:t>3.5 </a:t>
            </a:r>
            <a:r>
              <a:rPr lang="zh-CN" altLang="en-US"/>
              <a:t>分别评估</a:t>
            </a:r>
            <a:r>
              <a:rPr lang="en-US" altLang="zh-CN"/>
              <a:t>Image-to-Image、Image-to-Location</a:t>
            </a:r>
            <a:r>
              <a:rPr lang="zh-CN" altLang="en-US"/>
              <a:t>和</a:t>
            </a:r>
            <a:r>
              <a:rPr lang="en-US" altLang="zh-CN"/>
              <a:t>Location-to-Image</a:t>
            </a:r>
            <a:r>
              <a:rPr lang="zh-CN" altLang="en-US"/>
              <a:t>三种检索任务的性能。从实验结果可以看出，</a:t>
            </a:r>
            <a:r>
              <a:rPr lang="en-US" altLang="zh-CN"/>
              <a:t>DHLM</a:t>
            </a:r>
            <a:r>
              <a:rPr lang="zh-CN" altLang="en-US"/>
              <a:t>模型在三种检索任务上均展现出良好的检索性能。</a:t>
            </a:r>
            <a:r>
              <a:rPr lang="en-US" altLang="zh-CN"/>
              <a:t>I2I</a:t>
            </a:r>
            <a:r>
              <a:rPr lang="zh-CN" altLang="en-US"/>
              <a:t>任务作为传统图像检索方向，</a:t>
            </a:r>
            <a:r>
              <a:rPr lang="en-US" altLang="zh-CN"/>
              <a:t>mAP</a:t>
            </a:r>
            <a:r>
              <a:rPr lang="zh-CN" altLang="en-US"/>
              <a:t>达到0.741，验证了模型在图像特征判别上的有效性。</a:t>
            </a:r>
            <a:r>
              <a:rPr lang="en-US" altLang="zh-CN"/>
              <a:t>I2L</a:t>
            </a:r>
            <a:r>
              <a:rPr lang="zh-CN" altLang="en-US"/>
              <a:t>任务</a:t>
            </a:r>
            <a:r>
              <a:rPr lang="en-US" altLang="zh-CN"/>
              <a:t>mAP</a:t>
            </a:r>
            <a:r>
              <a:rPr lang="zh-CN" altLang="en-US"/>
              <a:t>为0.698，表明模型能够以较高概率在前五位结果中返回距离查询图像1</a:t>
            </a:r>
            <a:r>
              <a:rPr lang="en-US" altLang="zh-CN"/>
              <a:t>km</a:t>
            </a:r>
            <a:r>
              <a:rPr lang="zh-CN" altLang="en-US"/>
              <a:t>范围内的古树名木位置，验证了以图搜位置能力的有效性。</a:t>
            </a:r>
            <a:r>
              <a:rPr lang="en-US" altLang="zh-CN"/>
              <a:t>L2I</a:t>
            </a:r>
            <a:r>
              <a:rPr lang="zh-CN" altLang="en-US"/>
              <a:t>任务</a:t>
            </a:r>
            <a:r>
              <a:rPr lang="en-US" altLang="zh-CN"/>
              <a:t>mAP</a:t>
            </a:r>
            <a:r>
              <a:rPr lang="zh-CN" altLang="en-US"/>
              <a:t>为0.672，模型能够有效检索出该位置附近的古树名木图像，满足以位置搜图的实际应用需求。</a:t>
            </a:r>
            <a:endParaRPr lang="zh-CN" altLang="en-US"/>
          </a:p>
        </p:txBody>
      </p:sp>
      <p:pic>
        <p:nvPicPr>
          <p:cNvPr id="4" name="图片 3"/>
          <p:cNvPicPr>
            <a:picLocks noChangeAspect="1"/>
          </p:cNvPicPr>
          <p:nvPr/>
        </p:nvPicPr>
        <p:blipFill>
          <a:blip r:embed="rId8"/>
          <a:stretch>
            <a:fillRect/>
          </a:stretch>
        </p:blipFill>
        <p:spPr>
          <a:xfrm>
            <a:off x="3101975" y="3987800"/>
            <a:ext cx="5988050" cy="1955800"/>
          </a:xfrm>
          <a:prstGeom prst="rect">
            <a:avLst/>
          </a:prstGeom>
        </p:spPr>
      </p:pic>
    </p:spTree>
    <p:custDataLst>
      <p:tags r:id="rId9"/>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3"/>
            </p:custDataLst>
          </p:nvPr>
        </p:nvPicPr>
        <p:blipFill>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t>消融</a:t>
            </a:r>
            <a:r>
              <a:rPr lang="zh-CN" altLang="en-US"/>
              <a:t>实验</a:t>
            </a:r>
            <a:endParaRPr lang="zh-CN" altLang="en-US"/>
          </a:p>
        </p:txBody>
      </p:sp>
      <p:sp>
        <p:nvSpPr>
          <p:cNvPr id="7" name="文本框 6"/>
          <p:cNvSpPr txBox="1"/>
          <p:nvPr/>
        </p:nvSpPr>
        <p:spPr>
          <a:xfrm>
            <a:off x="1360170" y="1627505"/>
            <a:ext cx="8846185" cy="2360295"/>
          </a:xfrm>
          <a:prstGeom prst="rect">
            <a:avLst/>
          </a:prstGeom>
          <a:noFill/>
        </p:spPr>
        <p:txBody>
          <a:bodyPr wrap="square" rtlCol="0">
            <a:noAutofit/>
          </a:bodyPr>
          <a:p>
            <a:pPr indent="457200"/>
            <a:r>
              <a:rPr lang="zh-CN" altLang="en-US"/>
              <a:t>为深入分析模型各核心模块对检索性能的具体贡献，本节在</a:t>
            </a:r>
            <a:r>
              <a:rPr lang="en-US" altLang="zh-CN"/>
              <a:t>iNaturalist 2018</a:t>
            </a:r>
            <a:r>
              <a:rPr lang="zh-CN" altLang="en-US"/>
              <a:t>验证集（2509张）上设计消融实验。相比于</a:t>
            </a:r>
            <a:r>
              <a:rPr lang="en-US" altLang="zh-CN"/>
              <a:t>BFATH</a:t>
            </a:r>
            <a:r>
              <a:rPr lang="zh-CN" altLang="en-US"/>
              <a:t>测试集（30张），</a:t>
            </a:r>
            <a:r>
              <a:rPr lang="en-US" altLang="zh-CN"/>
              <a:t>iNaturalist</a:t>
            </a:r>
            <a:r>
              <a:rPr lang="zh-CN" altLang="en-US"/>
              <a:t>验证集样本量充足，统计波动显著降低，可为模块贡献提供更稳健的量化估计。</a:t>
            </a:r>
            <a:endParaRPr lang="zh-CN" altLang="en-US"/>
          </a:p>
          <a:p>
            <a:pPr indent="457200"/>
            <a:r>
              <a:rPr lang="zh-CN" altLang="en-US"/>
              <a:t>实验结果见下表3.</a:t>
            </a:r>
            <a:r>
              <a:rPr lang="en-US" altLang="zh-CN"/>
              <a:t>8</a:t>
            </a:r>
            <a:r>
              <a:rPr lang="zh-CN" altLang="en-US"/>
              <a:t>所示。在</a:t>
            </a:r>
            <a:r>
              <a:rPr lang="en-US" altLang="zh-CN"/>
              <a:t>iNaturalist 2018</a:t>
            </a:r>
            <a:r>
              <a:rPr lang="zh-CN" altLang="en-US"/>
              <a:t>验证集上，</a:t>
            </a:r>
            <a:r>
              <a:rPr lang="en-US" altLang="zh-CN"/>
              <a:t>FULL</a:t>
            </a:r>
            <a:r>
              <a:rPr lang="zh-CN" altLang="en-US"/>
              <a:t>配置取得</a:t>
            </a:r>
            <a:r>
              <a:rPr lang="en-US" altLang="zh-CN"/>
              <a:t>mAP= 0.741、P@1=0.578、R@5=0.803、R@10=0.887。w/o Location</a:t>
            </a:r>
            <a:r>
              <a:rPr lang="zh-CN" altLang="en-US"/>
              <a:t>配置取得</a:t>
            </a:r>
            <a:r>
              <a:rPr lang="en-US" altLang="zh-CN"/>
              <a:t>mAP=0.713，</a:t>
            </a:r>
            <a:r>
              <a:rPr lang="zh-CN" altLang="en-US"/>
              <a:t>相比</a:t>
            </a:r>
            <a:r>
              <a:rPr lang="en-US" altLang="zh-CN"/>
              <a:t>FULL</a:t>
            </a:r>
            <a:r>
              <a:rPr lang="zh-CN" altLang="en-US"/>
              <a:t>下降约2.8个百分点，表明地理位置元数据同时对头部命中率和尾部召回有显著影响，是多模态融合的核心模块；</a:t>
            </a:r>
            <a:r>
              <a:rPr lang="en-US" altLang="zh-CN" dirty="0" smtClean="0">
                <a:uFillTx/>
                <a:latin typeface="黑体" panose="02010609060101010101" charset="-122"/>
                <a:ea typeface="黑体" panose="02010609060101010101" charset="-122"/>
                <a:cs typeface="黑体" panose="02010609060101010101" charset="-122"/>
                <a:sym typeface="+mn-ea"/>
              </a:rPr>
              <a:t>w/o OHEM</a:t>
            </a:r>
            <a:r>
              <a:rPr lang="zh-CN" altLang="en-US" dirty="0" smtClean="0">
                <a:uFillTx/>
                <a:latin typeface="黑体" panose="02010609060101010101" charset="-122"/>
                <a:ea typeface="黑体" panose="02010609060101010101" charset="-122"/>
                <a:cs typeface="黑体" panose="02010609060101010101" charset="-122"/>
                <a:sym typeface="+mn-ea"/>
              </a:rPr>
              <a:t>取得</a:t>
            </a:r>
            <a:r>
              <a:rPr lang="en-US" altLang="zh-CN" dirty="0" smtClean="0">
                <a:uFillTx/>
                <a:latin typeface="黑体" panose="02010609060101010101" charset="-122"/>
                <a:ea typeface="黑体" panose="02010609060101010101" charset="-122"/>
                <a:cs typeface="黑体" panose="02010609060101010101" charset="-122"/>
                <a:sym typeface="+mn-ea"/>
              </a:rPr>
              <a:t>mAP=0.726，</a:t>
            </a:r>
            <a:r>
              <a:rPr lang="zh-CN" altLang="en-US" dirty="0" smtClean="0">
                <a:uFillTx/>
                <a:latin typeface="黑体" panose="02010609060101010101" charset="-122"/>
                <a:ea typeface="黑体" panose="02010609060101010101" charset="-122"/>
                <a:cs typeface="黑体" panose="02010609060101010101" charset="-122"/>
                <a:sym typeface="+mn-ea"/>
              </a:rPr>
              <a:t>下降约1.3个百分点，验证了在线难例挖掘策略对长尾分布类别不平衡问题的优化作用；</a:t>
            </a:r>
            <a:r>
              <a:rPr lang="en-US" altLang="zh-CN" dirty="0" smtClean="0">
                <a:uFillTx/>
                <a:latin typeface="黑体" panose="02010609060101010101" charset="-122"/>
                <a:ea typeface="黑体" panose="02010609060101010101" charset="-122"/>
                <a:cs typeface="黑体" panose="02010609060101010101" charset="-122"/>
                <a:sym typeface="+mn-ea"/>
              </a:rPr>
              <a:t>w/o Quantization</a:t>
            </a:r>
            <a:r>
              <a:rPr lang="zh-CN" altLang="en-US" dirty="0" smtClean="0">
                <a:uFillTx/>
                <a:latin typeface="黑体" panose="02010609060101010101" charset="-122"/>
                <a:ea typeface="黑体" panose="02010609060101010101" charset="-122"/>
                <a:cs typeface="黑体" panose="02010609060101010101" charset="-122"/>
                <a:sym typeface="+mn-ea"/>
              </a:rPr>
              <a:t>取得</a:t>
            </a:r>
            <a:r>
              <a:rPr lang="en-US" altLang="zh-CN" dirty="0" smtClean="0">
                <a:uFillTx/>
                <a:latin typeface="黑体" panose="02010609060101010101" charset="-122"/>
                <a:ea typeface="黑体" panose="02010609060101010101" charset="-122"/>
                <a:cs typeface="黑体" panose="02010609060101010101" charset="-122"/>
                <a:sym typeface="+mn-ea"/>
              </a:rPr>
              <a:t>mAP=0.735，</a:t>
            </a:r>
            <a:r>
              <a:rPr lang="zh-CN" altLang="en-US" dirty="0" smtClean="0">
                <a:uFillTx/>
                <a:latin typeface="黑体" panose="02010609060101010101" charset="-122"/>
                <a:ea typeface="黑体" panose="02010609060101010101" charset="-122"/>
                <a:cs typeface="黑体" panose="02010609060101010101" charset="-122"/>
                <a:sym typeface="+mn-ea"/>
              </a:rPr>
              <a:t>下降约0.6个百分点，虽然绝对影响相对较小，但该损失对约束连续特征与离散哈希码的分布差异、减小训练-推理鸿沟具有重要作用。</a:t>
            </a:r>
            <a:endParaRPr lang="zh-CN" altLang="en-US"/>
          </a:p>
        </p:txBody>
      </p:sp>
      <p:pic>
        <p:nvPicPr>
          <p:cNvPr id="5" name="图片 4"/>
          <p:cNvPicPr>
            <a:picLocks noChangeAspect="1"/>
          </p:cNvPicPr>
          <p:nvPr/>
        </p:nvPicPr>
        <p:blipFill>
          <a:blip r:embed="rId4"/>
          <a:stretch>
            <a:fillRect/>
          </a:stretch>
        </p:blipFill>
        <p:spPr>
          <a:xfrm>
            <a:off x="2984500" y="4531995"/>
            <a:ext cx="6223000" cy="2222500"/>
          </a:xfrm>
          <a:prstGeom prst="rect">
            <a:avLst/>
          </a:prstGeom>
        </p:spPr>
      </p:pic>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3"/>
            </p:custDataLst>
          </p:nvPr>
        </p:nvPicPr>
        <p:blipFill>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t>实验</a:t>
            </a:r>
            <a:r>
              <a:rPr lang="zh-CN" altLang="en-US"/>
              <a:t>小结</a:t>
            </a:r>
            <a:endParaRPr lang="zh-CN" altLang="en-US"/>
          </a:p>
        </p:txBody>
      </p:sp>
      <p:sp>
        <p:nvSpPr>
          <p:cNvPr id="7" name="文本框 6"/>
          <p:cNvSpPr txBox="1"/>
          <p:nvPr/>
        </p:nvSpPr>
        <p:spPr>
          <a:xfrm>
            <a:off x="1360170" y="1627505"/>
            <a:ext cx="8846185" cy="3255645"/>
          </a:xfrm>
          <a:prstGeom prst="rect">
            <a:avLst/>
          </a:prstGeom>
          <a:noFill/>
        </p:spPr>
        <p:txBody>
          <a:bodyPr wrap="square" rtlCol="0">
            <a:noAutofit/>
          </a:bodyPr>
          <a:p>
            <a:pPr indent="457200" fontAlgn="auto"/>
            <a:r>
              <a:rPr lang="zh-CN" altLang="en-US" sz="2000"/>
              <a:t>首先，为验证模型有效性，在</a:t>
            </a:r>
            <a:r>
              <a:rPr lang="en-US" altLang="zh-CN" sz="2000"/>
              <a:t>iNaturalist 2018</a:t>
            </a:r>
            <a:r>
              <a:rPr lang="zh-CN" altLang="en-US" sz="2000"/>
              <a:t>和自建</a:t>
            </a:r>
            <a:r>
              <a:rPr lang="en-US" altLang="zh-CN" sz="2000"/>
              <a:t>BFATH</a:t>
            </a:r>
            <a:r>
              <a:rPr lang="zh-CN" altLang="en-US" sz="2000"/>
              <a:t>数据集上开展实验，说明了数据预处理流程、评价指标定义和实验环境配置。此外，哈希码检索效率验证见</a:t>
            </a:r>
            <a:r>
              <a:rPr lang="zh-CN" altLang="en-US" sz="2000">
                <a:sym typeface="+mn-ea"/>
              </a:rPr>
              <a:t>详</a:t>
            </a:r>
            <a:r>
              <a:rPr lang="zh-CN" altLang="en-US" sz="2000"/>
              <a:t>表</a:t>
            </a:r>
            <a:r>
              <a:rPr lang="en-US" altLang="zh-CN" sz="2000"/>
              <a:t>3.6</a:t>
            </a:r>
            <a:r>
              <a:rPr lang="zh-CN" altLang="en-US" sz="2000"/>
              <a:t>及其</a:t>
            </a:r>
            <a:r>
              <a:rPr lang="zh-CN" altLang="en-US" sz="2000"/>
              <a:t>分析、超参数的敏感性分析详见论文3.4.4节。</a:t>
            </a:r>
            <a:endParaRPr lang="zh-CN" altLang="en-US" sz="2000"/>
          </a:p>
          <a:p>
            <a:pPr indent="457200" fontAlgn="auto"/>
            <a:r>
              <a:rPr lang="zh-CN" altLang="en-US" sz="2000"/>
              <a:t>通过与</a:t>
            </a:r>
            <a:r>
              <a:rPr lang="en-US" altLang="zh-CN" sz="2000"/>
              <a:t>HashNet、DCH</a:t>
            </a:r>
            <a:r>
              <a:rPr lang="zh-CN" altLang="en-US" sz="2000"/>
              <a:t>和</a:t>
            </a:r>
            <a:r>
              <a:rPr lang="en-US" altLang="zh-CN" sz="2000"/>
              <a:t>MDSH</a:t>
            </a:r>
            <a:r>
              <a:rPr lang="zh-CN" altLang="en-US" sz="2000"/>
              <a:t>三个基线模型的单双向对比实验、消融实验以及超参数敏感性分析实验分析得出，</a:t>
            </a:r>
            <a:r>
              <a:rPr lang="en-US" altLang="zh-CN" sz="2000"/>
              <a:t>DHLM</a:t>
            </a:r>
            <a:r>
              <a:rPr lang="zh-CN" altLang="en-US" sz="2000"/>
              <a:t>在</a:t>
            </a:r>
            <a:r>
              <a:rPr lang="en-US" altLang="zh-CN" sz="2000"/>
              <a:t>iNaturalist 2018</a:t>
            </a:r>
            <a:r>
              <a:rPr lang="zh-CN" altLang="en-US" sz="2000"/>
              <a:t>上单向检索</a:t>
            </a:r>
            <a:r>
              <a:rPr lang="en-US" altLang="zh-CN" sz="2000"/>
              <a:t>mAP</a:t>
            </a:r>
            <a:r>
              <a:rPr lang="zh-CN" altLang="en-US" sz="2000"/>
              <a:t>达0.741，相较于最优基线方法</a:t>
            </a:r>
            <a:r>
              <a:rPr lang="en-US" altLang="zh-CN" sz="2000"/>
              <a:t>MDSH</a:t>
            </a:r>
            <a:r>
              <a:rPr lang="zh-CN" altLang="en-US" sz="2000"/>
              <a:t>的0.685提升5.6个百分点，验证了</a:t>
            </a:r>
            <a:r>
              <a:rPr lang="en-US" altLang="zh-CN" sz="2000"/>
              <a:t>DHLM</a:t>
            </a:r>
            <a:r>
              <a:rPr lang="zh-CN" altLang="en-US" sz="2000"/>
              <a:t>模型的有效性和优越性，为古树名木多模态展示与检索系统提供了实验数据与算法支撑。</a:t>
            </a:r>
            <a:endParaRPr lang="zh-CN" altLang="en-US" sz="2000"/>
          </a:p>
          <a:p>
            <a:pPr indent="457200" fontAlgn="auto"/>
            <a:r>
              <a:rPr lang="zh-CN" altLang="en-US" sz="2000" dirty="0" smtClean="0">
                <a:uFillTx/>
                <a:latin typeface="黑体" panose="02010609060101010101" charset="-122"/>
                <a:ea typeface="黑体" panose="02010609060101010101" charset="-122"/>
                <a:cs typeface="黑体" panose="02010609060101010101" charset="-122"/>
                <a:sym typeface="+mn-ea"/>
              </a:rPr>
              <a:t>综上所述，实验验证了 </a:t>
            </a:r>
            <a:r>
              <a:rPr lang="en-US" altLang="zh-CN" sz="2000" dirty="0" smtClean="0">
                <a:uFillTx/>
                <a:latin typeface="黑体" panose="02010609060101010101" charset="-122"/>
                <a:ea typeface="黑体" panose="02010609060101010101" charset="-122"/>
                <a:cs typeface="黑体" panose="02010609060101010101" charset="-122"/>
                <a:sym typeface="+mn-ea"/>
              </a:rPr>
              <a:t>DHLM </a:t>
            </a:r>
            <a:r>
              <a:rPr lang="zh-CN" altLang="en-US" sz="2000" dirty="0" smtClean="0">
                <a:uFillTx/>
                <a:latin typeface="黑体" panose="02010609060101010101" charset="-122"/>
                <a:ea typeface="黑体" panose="02010609060101010101" charset="-122"/>
                <a:cs typeface="黑体" panose="02010609060101010101" charset="-122"/>
                <a:sym typeface="+mn-ea"/>
              </a:rPr>
              <a:t>在检索精度、双向检索能力和模块贡献上的有效性。</a:t>
            </a:r>
            <a:endParaRPr lang="zh-CN" altLang="en-US" sz="2000" dirty="0" smtClean="0">
              <a:solidFill>
                <a:schemeClr val="tx1"/>
              </a:solidFill>
              <a:uFillTx/>
              <a:latin typeface="黑体" panose="02010609060101010101" charset="-122"/>
              <a:ea typeface="黑体" panose="02010609060101010101" charset="-122"/>
              <a:cs typeface="黑体" panose="02010609060101010101" charset="-122"/>
            </a:endParaRPr>
          </a:p>
          <a:p>
            <a:pPr indent="457200" fontAlgn="auto"/>
            <a:endParaRPr lang="zh-CN" altLang="en-US" sz="2000"/>
          </a:p>
        </p:txBody>
      </p:sp>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278528" y="2771805"/>
            <a:ext cx="4731871"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rPr>
              <a:t>系统设计与</a:t>
            </a:r>
            <a:r>
              <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rPr>
              <a:t>实现</a:t>
            </a:r>
            <a:endPar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endParaRPr>
          </a:p>
        </p:txBody>
      </p:sp>
      <p:sp>
        <p:nvSpPr>
          <p:cNvPr id="5" name="文本框 4"/>
          <p:cNvSpPr txBox="1"/>
          <p:nvPr/>
        </p:nvSpPr>
        <p:spPr>
          <a:xfrm>
            <a:off x="2334343" y="3662830"/>
            <a:ext cx="4676055" cy="260350"/>
          </a:xfrm>
          <a:prstGeom prst="rect">
            <a:avLst/>
          </a:prstGeom>
          <a:noFill/>
        </p:spPr>
        <p:txBody>
          <a:bodyPr wrap="square" rtlCol="0">
            <a:spAutoFit/>
          </a:bodyPr>
          <a:lstStyle/>
          <a:p>
            <a:pPr lvl="0" algn="dist">
              <a:defRPr/>
            </a:pPr>
            <a:r>
              <a:rPr lang="en-US" altLang="zh-CN" sz="1100" spc="50" dirty="0">
                <a:solidFill>
                  <a:schemeClr val="bg1"/>
                </a:solidFill>
                <a:latin typeface="+mj-ea"/>
                <a:ea typeface="+mj-ea"/>
              </a:rPr>
              <a:t>SYSTEM DESIGN AND IMPLEMENTATION</a:t>
            </a:r>
            <a:endParaRPr lang="en-US" altLang="zh-CN" sz="1100" spc="50" dirty="0">
              <a:solidFill>
                <a:schemeClr val="bg1"/>
              </a:solidFill>
              <a:latin typeface="+mj-ea"/>
              <a:ea typeface="+mj-ea"/>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5</a:t>
            </a:r>
            <a:endPar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SIX</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1098550" y="1092200"/>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系统</a:t>
            </a:r>
            <a:r>
              <a:rPr lang="zh-CN" altLang="zh-CN" sz="2400" b="1" dirty="0">
                <a:effectLst/>
                <a:latin typeface="Times New Roman" panose="02020603050405020304" charset="0"/>
                <a:ea typeface="宋体" panose="02010600030101010101" pitchFamily="2" charset="-122"/>
                <a:cs typeface="Arial (正文 CS 字体)"/>
              </a:rPr>
              <a:t>架构图</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9" name="Rectangle 8"/>
          <p:cNvSpPr>
            <a:spLocks noChangeArrowheads="1"/>
          </p:cNvSpPr>
          <p:nvPr/>
        </p:nvSpPr>
        <p:spPr bwMode="auto">
          <a:xfrm>
            <a:off x="482600" y="1689651"/>
            <a:ext cx="1900581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4" name="文本框 3"/>
          <p:cNvSpPr txBox="1"/>
          <p:nvPr/>
        </p:nvSpPr>
        <p:spPr>
          <a:xfrm>
            <a:off x="6096635" y="1182370"/>
            <a:ext cx="4215130" cy="553085"/>
          </a:xfrm>
          <a:prstGeom prst="rect">
            <a:avLst/>
          </a:prstGeom>
          <a:noFill/>
        </p:spPr>
        <p:txBody>
          <a:bodyPr wrap="square">
            <a:spAutoFit/>
          </a:bodyPr>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系统功能</a:t>
            </a:r>
            <a:r>
              <a:rPr lang="zh-CN" altLang="zh-CN" sz="2400" b="1" dirty="0">
                <a:effectLst/>
                <a:latin typeface="Times New Roman" panose="02020603050405020304" charset="0"/>
                <a:ea typeface="宋体" panose="02010600030101010101" pitchFamily="2" charset="-122"/>
                <a:cs typeface="Arial (正文 CS 字体)"/>
              </a:rPr>
              <a:t>模块</a:t>
            </a:r>
            <a:endParaRPr lang="zh-CN" altLang="zh-CN" sz="2400" b="1" dirty="0">
              <a:effectLst/>
              <a:latin typeface="Times New Roman" panose="02020603050405020304" charset="0"/>
              <a:ea typeface="宋体" panose="02010600030101010101" pitchFamily="2" charset="-122"/>
              <a:cs typeface="Arial (正文 CS 字体)"/>
            </a:endParaRPr>
          </a:p>
        </p:txBody>
      </p:sp>
      <p:pic>
        <p:nvPicPr>
          <p:cNvPr id="45" name="图片 45" descr="第四章-图4.2 系统架构设计"/>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29398" y="1848168"/>
            <a:ext cx="3353435" cy="3832225"/>
          </a:xfrm>
          <a:prstGeom prst="rect">
            <a:avLst/>
          </a:prstGeom>
        </p:spPr>
      </p:pic>
      <p:pic>
        <p:nvPicPr>
          <p:cNvPr id="48" name="图片 48" descr="第四章-图4.3 系统功能模块设计333"/>
          <p:cNvPicPr>
            <a:picLocks noChangeAspect="1"/>
          </p:cNvPicPr>
          <p:nvPr/>
        </p:nvPicPr>
        <p:blipFill>
          <a:blip r:embed="rId3"/>
          <a:stretch>
            <a:fillRect/>
          </a:stretch>
        </p:blipFill>
        <p:spPr>
          <a:xfrm>
            <a:off x="6666865" y="1848168"/>
            <a:ext cx="3644900" cy="3489325"/>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337560" y="132270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系统</a:t>
            </a:r>
            <a:r>
              <a:rPr lang="zh-CN" altLang="zh-CN" sz="2400" b="1" dirty="0">
                <a:effectLst/>
                <a:latin typeface="Times New Roman" panose="02020603050405020304" charset="0"/>
                <a:ea typeface="宋体" panose="02010600030101010101" pitchFamily="2" charset="-122"/>
                <a:cs typeface="Arial (正文 CS 字体)"/>
              </a:rPr>
              <a:t>核心表</a:t>
            </a:r>
            <a:r>
              <a:rPr lang="zh-CN" altLang="zh-CN" sz="2400" b="1" dirty="0">
                <a:effectLst/>
                <a:latin typeface="Times New Roman" panose="02020603050405020304" charset="0"/>
                <a:ea typeface="宋体" panose="02010600030101010101" pitchFamily="2" charset="-122"/>
                <a:cs typeface="Arial (正文 CS 字体)"/>
              </a:rPr>
              <a:t>结构</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5" name="文本框 4"/>
          <p:cNvSpPr txBox="1"/>
          <p:nvPr/>
        </p:nvSpPr>
        <p:spPr>
          <a:xfrm>
            <a:off x="403860" y="2309495"/>
            <a:ext cx="10176510" cy="3001645"/>
          </a:xfrm>
          <a:prstGeom prst="rect">
            <a:avLst/>
          </a:prstGeom>
          <a:noFill/>
        </p:spPr>
        <p:txBody>
          <a:bodyPr wrap="square" rtlCol="0">
            <a:noAutofit/>
          </a:bodyPr>
          <a:p>
            <a:r>
              <a:rPr lang="zh-CN" altLang="en-US"/>
              <a:t>（</a:t>
            </a:r>
            <a:r>
              <a:rPr lang="en-US" altLang="zh-CN"/>
              <a:t>1</a:t>
            </a:r>
            <a:r>
              <a:rPr lang="zh-CN" altLang="en-US"/>
              <a:t>）用户信息表。见</a:t>
            </a:r>
            <a:r>
              <a:rPr lang="zh-CN" altLang="en-US"/>
              <a:t>表4.1所示，存储用户信息。主要包括自增主键、登录名、密码（通过</a:t>
            </a:r>
            <a:r>
              <a:rPr lang="en-US" altLang="zh-CN"/>
              <a:t>MD5</a:t>
            </a:r>
            <a:r>
              <a:rPr lang="zh-CN" altLang="en-US"/>
              <a:t>加盐值哈希算法加密）和用户角色等信息</a:t>
            </a:r>
            <a:r>
              <a:rPr lang="zh-CN" altLang="en-US"/>
              <a:t>。</a:t>
            </a:r>
            <a:endParaRPr lang="zh-CN" altLang="en-US"/>
          </a:p>
          <a:p>
            <a:r>
              <a:rPr lang="zh-CN" altLang="en-US"/>
              <a:t>（</a:t>
            </a:r>
            <a:r>
              <a:rPr lang="en-US" altLang="zh-CN"/>
              <a:t>2</a:t>
            </a:r>
            <a:r>
              <a:rPr lang="zh-CN" altLang="en-US"/>
              <a:t>）图像表。见表4.2所示，存储了系统内部的图像及检索信息，主要包括自增主键、图像</a:t>
            </a:r>
            <a:r>
              <a:rPr lang="en-US" altLang="zh-CN"/>
              <a:t>id、</a:t>
            </a:r>
            <a:r>
              <a:rPr lang="zh-CN" altLang="en-US"/>
              <a:t>关键树木信息、图像存储路径、哈希码和哈希位串等</a:t>
            </a:r>
            <a:r>
              <a:rPr lang="zh-CN" altLang="en-US"/>
              <a:t>。</a:t>
            </a:r>
            <a:endParaRPr lang="zh-CN" altLang="en-US"/>
          </a:p>
          <a:p>
            <a:r>
              <a:rPr lang="zh-CN" altLang="en-US"/>
              <a:t>（</a:t>
            </a:r>
            <a:r>
              <a:rPr lang="en-US" altLang="zh-CN"/>
              <a:t>3</a:t>
            </a:r>
            <a:r>
              <a:rPr lang="zh-CN" altLang="en-US"/>
              <a:t>）树木表。见表4.3所示，存储了系统内部的树木及位置信息。主要包括古树名木名称、纬度坐标、经度坐标、树龄、树高、科、属、树种名称、保护级别和描述等信息。</a:t>
            </a:r>
            <a:endParaRPr lang="zh-CN" altLang="en-US"/>
          </a:p>
          <a:p>
            <a:r>
              <a:rPr lang="zh-CN" altLang="en-US"/>
              <a:t>（</a:t>
            </a:r>
            <a:r>
              <a:rPr lang="en-US" altLang="zh-CN"/>
              <a:t>4</a:t>
            </a:r>
            <a:r>
              <a:rPr lang="zh-CN" altLang="en-US"/>
              <a:t>）权限角色表。见表4.4所示，存储了系统内部的用户权限信息，主要包括角色名称和权限描述。本系统采用简化的</a:t>
            </a:r>
            <a:r>
              <a:rPr lang="en-US" altLang="zh-CN"/>
              <a:t>RBAC</a:t>
            </a:r>
            <a:r>
              <a:rPr lang="zh-CN" altLang="en-US"/>
              <a:t>访问控制模型</a:t>
            </a:r>
            <a:r>
              <a:rPr lang="zh-CN" altLang="en-US"/>
              <a:t>。</a:t>
            </a:r>
            <a:endParaRPr lang="zh-CN" altLang="en-US"/>
          </a:p>
          <a:p>
            <a:endParaRPr lang="zh-CN" altLang="en-US" dirty="0">
              <a:sym typeface="+mn-ea"/>
            </a:endParaRPr>
          </a:p>
          <a:p>
            <a:r>
              <a:rPr lang="zh-CN" altLang="en-US" dirty="0">
                <a:sym typeface="+mn-ea"/>
              </a:rPr>
              <a:t>系统整体的交互流程：</a:t>
            </a:r>
            <a:endParaRPr lang="zh-CN" altLang="en-US" dirty="0"/>
          </a:p>
          <a:p>
            <a:r>
              <a:rPr lang="zh-CN" altLang="en-US" dirty="0">
                <a:sym typeface="+mn-ea"/>
              </a:rPr>
              <a:t>用户上传查询图像/输入位置坐标 → 前端调用</a:t>
            </a:r>
            <a:r>
              <a:rPr lang="en-US" altLang="zh-CN" dirty="0">
                <a:sym typeface="+mn-ea"/>
              </a:rPr>
              <a:t>DHLM</a:t>
            </a:r>
            <a:r>
              <a:rPr lang="zh-CN" altLang="en-US" dirty="0">
                <a:sym typeface="+mn-ea"/>
              </a:rPr>
              <a:t>检索</a:t>
            </a:r>
            <a:r>
              <a:rPr lang="en-US" altLang="zh-CN" dirty="0">
                <a:sym typeface="+mn-ea"/>
              </a:rPr>
              <a:t>API →</a:t>
            </a:r>
            <a:r>
              <a:rPr lang="zh-CN" altLang="en-US" dirty="0">
                <a:sym typeface="+mn-ea"/>
              </a:rPr>
              <a:t>后端执行哈希编码与相似度计算 → 返回</a:t>
            </a:r>
            <a:r>
              <a:rPr lang="en-US" altLang="zh-CN" dirty="0">
                <a:sym typeface="+mn-ea"/>
              </a:rPr>
              <a:t>Top-K</a:t>
            </a:r>
            <a:r>
              <a:rPr lang="zh-CN" altLang="en-US" dirty="0">
                <a:sym typeface="+mn-ea"/>
              </a:rPr>
              <a:t>检索结果 → 前端可视化展示。</a:t>
            </a:r>
            <a:endParaRPr lang="zh-CN" altLang="en-US" dirty="0"/>
          </a:p>
          <a:p>
            <a:endParaRPr lang="zh-CN" altLang="en-US"/>
          </a:p>
          <a:p>
            <a:pPr indent="457200"/>
            <a:endParaRPr lang="zh-CN"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632835" y="119316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古树名木</a:t>
            </a:r>
            <a:r>
              <a:rPr lang="zh-CN" altLang="zh-CN" sz="2400" b="1" dirty="0">
                <a:effectLst/>
                <a:latin typeface="Times New Roman" panose="02020603050405020304" charset="0"/>
                <a:ea typeface="宋体" panose="02010600030101010101" pitchFamily="2" charset="-122"/>
                <a:cs typeface="Arial (正文 CS 字体)"/>
              </a:rPr>
              <a:t>信息查询</a:t>
            </a:r>
            <a:r>
              <a:rPr lang="zh-CN" altLang="zh-CN" sz="2400" b="1" dirty="0">
                <a:effectLst/>
                <a:latin typeface="Times New Roman" panose="02020603050405020304" charset="0"/>
                <a:ea typeface="宋体" panose="02010600030101010101" pitchFamily="2" charset="-122"/>
                <a:cs typeface="Arial (正文 CS 字体)"/>
              </a:rPr>
              <a:t>页面</a:t>
            </a:r>
            <a:endParaRPr lang="zh-CN" altLang="zh-CN" sz="2400" b="1" dirty="0">
              <a:effectLst/>
              <a:latin typeface="Times New Roman" panose="02020603050405020304" charset="0"/>
              <a:ea typeface="宋体" panose="02010600030101010101" pitchFamily="2" charset="-122"/>
              <a:cs typeface="Arial (正文 CS 字体)"/>
            </a:endParaRPr>
          </a:p>
        </p:txBody>
      </p:sp>
      <p:pic>
        <p:nvPicPr>
          <p:cNvPr id="9" name="图片 3"/>
          <p:cNvPicPr>
            <a:picLocks noChangeAspect="1"/>
          </p:cNvPicPr>
          <p:nvPr/>
        </p:nvPicPr>
        <p:blipFill>
          <a:blip r:embed="rId1"/>
          <a:stretch>
            <a:fillRect/>
          </a:stretch>
        </p:blipFill>
        <p:spPr>
          <a:xfrm>
            <a:off x="929958" y="1966913"/>
            <a:ext cx="4918075" cy="2724785"/>
          </a:xfrm>
          <a:prstGeom prst="rect">
            <a:avLst/>
          </a:prstGeom>
          <a:noFill/>
          <a:ln>
            <a:solidFill>
              <a:schemeClr val="tx1"/>
            </a:solidFill>
          </a:ln>
        </p:spPr>
      </p:pic>
      <p:pic>
        <p:nvPicPr>
          <p:cNvPr id="11" name="图片 4"/>
          <p:cNvPicPr>
            <a:picLocks noChangeAspect="1"/>
          </p:cNvPicPr>
          <p:nvPr/>
        </p:nvPicPr>
        <p:blipFill>
          <a:blip r:embed="rId2"/>
          <a:stretch>
            <a:fillRect/>
          </a:stretch>
        </p:blipFill>
        <p:spPr>
          <a:xfrm>
            <a:off x="6151245" y="1967230"/>
            <a:ext cx="5551170" cy="2724150"/>
          </a:xfrm>
          <a:prstGeom prst="rect">
            <a:avLst/>
          </a:prstGeom>
          <a:noFill/>
          <a:ln>
            <a:solidFill>
              <a:schemeClr val="tx1"/>
            </a:solidFill>
          </a:ln>
        </p:spPr>
      </p:pic>
      <p:sp>
        <p:nvSpPr>
          <p:cNvPr id="3" name="文本框 2"/>
          <p:cNvSpPr txBox="1"/>
          <p:nvPr/>
        </p:nvSpPr>
        <p:spPr>
          <a:xfrm>
            <a:off x="930275" y="4912360"/>
            <a:ext cx="10841355" cy="1753235"/>
          </a:xfrm>
          <a:prstGeom prst="rect">
            <a:avLst/>
          </a:prstGeom>
          <a:noFill/>
        </p:spPr>
        <p:txBody>
          <a:bodyPr wrap="square" rtlCol="0" anchor="t">
            <a:spAutoFit/>
          </a:bodyPr>
          <a:p>
            <a:pPr indent="457200"/>
            <a:r>
              <a:rPr lang="zh-CN" altLang="en-US"/>
              <a:t>左图见图</a:t>
            </a:r>
            <a:r>
              <a:rPr lang="en-US" altLang="zh-CN"/>
              <a:t>4.8 </a:t>
            </a:r>
            <a:r>
              <a:rPr lang="zh-CN" altLang="en-US"/>
              <a:t>科属种查询页面，左侧查询条件区包含两个卡片：上方“科属种导航”卡片配置三个级联下拉框（选择科、选择属、选择种），属和种下拉框在未选择上级分类时处于禁用状态；下方“属性筛选”卡片配置保护级别下拉框（一级/二级/三级）和树龄范围双滑块（0~2000 年）。</a:t>
            </a:r>
            <a:endParaRPr lang="zh-CN" altLang="en-US"/>
          </a:p>
          <a:p>
            <a:pPr indent="457200"/>
            <a:r>
              <a:rPr lang="zh-CN" altLang="en-US"/>
              <a:t>右图见图</a:t>
            </a:r>
            <a:r>
              <a:rPr lang="en-US" altLang="zh-CN"/>
              <a:t>4.9 </a:t>
            </a:r>
            <a:r>
              <a:rPr lang="zh-CN" altLang="en-US"/>
              <a:t>树种名称页面，展示了树种名称查询页面的前端界面。左侧查询条件区配置树种名称输入框和树龄范围双滑块，底部设置“查询”按钮。右侧结果展示区以表格形式呈现查询结果，包含序号、古树名称、树种、树龄及位置共5列。</a:t>
            </a:r>
            <a:endParaRPr lang="zh-CN" altLang="en-US"/>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632835" y="119316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古树名木多模态</a:t>
            </a:r>
            <a:r>
              <a:rPr lang="zh-CN" altLang="zh-CN" sz="2400" b="1" dirty="0">
                <a:effectLst/>
                <a:latin typeface="Times New Roman" panose="02020603050405020304" charset="0"/>
                <a:ea typeface="宋体" panose="02010600030101010101" pitchFamily="2" charset="-122"/>
                <a:cs typeface="Arial (正文 CS 字体)"/>
              </a:rPr>
              <a:t>检索页面</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3" name="文本框 2"/>
          <p:cNvSpPr txBox="1"/>
          <p:nvPr/>
        </p:nvSpPr>
        <p:spPr>
          <a:xfrm>
            <a:off x="930275" y="4912360"/>
            <a:ext cx="10841355" cy="1198880"/>
          </a:xfrm>
          <a:prstGeom prst="rect">
            <a:avLst/>
          </a:prstGeom>
          <a:noFill/>
        </p:spPr>
        <p:txBody>
          <a:bodyPr wrap="square" rtlCol="0" anchor="t">
            <a:spAutoFit/>
          </a:bodyPr>
          <a:p>
            <a:pPr indent="457200"/>
            <a:r>
              <a:rPr lang="zh-CN" altLang="en-US"/>
              <a:t>左图见图</a:t>
            </a:r>
            <a:r>
              <a:rPr lang="en-US" altLang="zh-CN"/>
              <a:t>4.11 </a:t>
            </a:r>
            <a:r>
              <a:rPr lang="zh-CN" altLang="en-US"/>
              <a:t>以图搜图检索结果界面，用户上传查询图像后，可以选择返回结果数和相似度</a:t>
            </a:r>
            <a:r>
              <a:rPr lang="zh-CN" altLang="en-US"/>
              <a:t>阈值，点击开始检索，系统返回相似古树名木列表并按相似度排序。</a:t>
            </a:r>
            <a:endParaRPr lang="zh-CN" altLang="en-US"/>
          </a:p>
          <a:p>
            <a:pPr indent="457200"/>
            <a:r>
              <a:rPr lang="zh-CN" altLang="en-US"/>
              <a:t>右图见图</a:t>
            </a:r>
            <a:r>
              <a:rPr lang="zh-CN" altLang="en-US">
                <a:sym typeface="+mn-ea"/>
              </a:rPr>
              <a:t>4.12</a:t>
            </a:r>
            <a:r>
              <a:rPr lang="en-US" altLang="zh-CN">
                <a:sym typeface="+mn-ea"/>
              </a:rPr>
              <a:t> </a:t>
            </a:r>
            <a:r>
              <a:rPr lang="zh-CN" altLang="en-US">
                <a:sym typeface="+mn-ea"/>
              </a:rPr>
              <a:t>以图搜位置检索结果界面，</a:t>
            </a:r>
            <a:r>
              <a:rPr lang="zh-CN" altLang="en-US">
                <a:sym typeface="+mn-ea"/>
              </a:rPr>
              <a:t>用户上传查询图像后，点击定位查询，系统返回古树名木检索位置等信息</a:t>
            </a:r>
            <a:r>
              <a:rPr lang="zh-CN" altLang="en-US"/>
              <a:t>。</a:t>
            </a:r>
            <a:endParaRPr lang="zh-CN" altLang="en-US"/>
          </a:p>
        </p:txBody>
      </p:sp>
      <p:pic>
        <p:nvPicPr>
          <p:cNvPr id="14" name="图片 5"/>
          <p:cNvPicPr>
            <a:picLocks noChangeAspect="1"/>
          </p:cNvPicPr>
          <p:nvPr/>
        </p:nvPicPr>
        <p:blipFill>
          <a:blip r:embed="rId1"/>
          <a:stretch>
            <a:fillRect/>
          </a:stretch>
        </p:blipFill>
        <p:spPr>
          <a:xfrm>
            <a:off x="981393" y="1967230"/>
            <a:ext cx="4142105" cy="2526030"/>
          </a:xfrm>
          <a:prstGeom prst="rect">
            <a:avLst/>
          </a:prstGeom>
          <a:noFill/>
          <a:ln>
            <a:solidFill>
              <a:schemeClr val="tx1"/>
            </a:solidFill>
          </a:ln>
        </p:spPr>
      </p:pic>
      <p:pic>
        <p:nvPicPr>
          <p:cNvPr id="16" name="图片 6"/>
          <p:cNvPicPr>
            <a:picLocks noChangeAspect="1"/>
          </p:cNvPicPr>
          <p:nvPr/>
        </p:nvPicPr>
        <p:blipFill>
          <a:blip r:embed="rId2"/>
          <a:stretch>
            <a:fillRect/>
          </a:stretch>
        </p:blipFill>
        <p:spPr>
          <a:xfrm>
            <a:off x="5320665" y="1967230"/>
            <a:ext cx="4836160" cy="2526665"/>
          </a:xfrm>
          <a:prstGeom prst="rect">
            <a:avLst/>
          </a:prstGeom>
          <a:noFill/>
          <a:ln>
            <a:solidFill>
              <a:schemeClr val="tx1"/>
            </a:solidFill>
          </a:ln>
        </p:spPr>
      </p:pic>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632835" y="119316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古树名木多模态</a:t>
            </a:r>
            <a:r>
              <a:rPr lang="zh-CN" altLang="zh-CN" sz="2400" b="1" dirty="0">
                <a:effectLst/>
                <a:latin typeface="Times New Roman" panose="02020603050405020304" charset="0"/>
                <a:ea typeface="宋体" panose="02010600030101010101" pitchFamily="2" charset="-122"/>
                <a:cs typeface="Arial (正文 CS 字体)"/>
              </a:rPr>
              <a:t>检索页面</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3" name="文本框 2"/>
          <p:cNvSpPr txBox="1"/>
          <p:nvPr/>
        </p:nvSpPr>
        <p:spPr>
          <a:xfrm>
            <a:off x="930275" y="4912360"/>
            <a:ext cx="10841355" cy="645160"/>
          </a:xfrm>
          <a:prstGeom prst="rect">
            <a:avLst/>
          </a:prstGeom>
          <a:noFill/>
        </p:spPr>
        <p:txBody>
          <a:bodyPr wrap="square" rtlCol="0" anchor="t">
            <a:spAutoFit/>
          </a:bodyPr>
          <a:p>
            <a:pPr indent="457200"/>
            <a:r>
              <a:rPr lang="zh-CN" altLang="en-US"/>
              <a:t>左图见图</a:t>
            </a:r>
            <a:r>
              <a:rPr lang="en-US" altLang="zh-CN"/>
              <a:t>4.13 </a:t>
            </a:r>
            <a:r>
              <a:rPr lang="zh-CN" altLang="en-US"/>
              <a:t>以位置搜图检索结果界面</a:t>
            </a:r>
            <a:r>
              <a:rPr lang="zh-CN" altLang="en-US"/>
              <a:t>，用户输入地理位置坐标后，点击检索附近古树，系统返回位置坐标相应附近的古树名木列表。</a:t>
            </a:r>
            <a:endParaRPr lang="zh-CN" altLang="en-US"/>
          </a:p>
        </p:txBody>
      </p:sp>
      <p:pic>
        <p:nvPicPr>
          <p:cNvPr id="17" name="图片 7"/>
          <p:cNvPicPr>
            <a:picLocks noChangeAspect="1"/>
          </p:cNvPicPr>
          <p:nvPr/>
        </p:nvPicPr>
        <p:blipFill>
          <a:blip r:embed="rId1"/>
          <a:stretch>
            <a:fillRect/>
          </a:stretch>
        </p:blipFill>
        <p:spPr>
          <a:xfrm>
            <a:off x="3888740" y="1968183"/>
            <a:ext cx="4159250" cy="2210435"/>
          </a:xfrm>
          <a:prstGeom prst="rect">
            <a:avLst/>
          </a:prstGeom>
          <a:noFill/>
          <a:ln>
            <a:solidFill>
              <a:schemeClr val="tx1"/>
            </a:solidFill>
          </a:ln>
        </p:spPr>
      </p:pic>
    </p:spTree>
    <p:custDataLst>
      <p:tags r:id="rId2"/>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278528" y="2771805"/>
            <a:ext cx="4731871"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rPr>
              <a:t>总结与展望</a:t>
            </a:r>
            <a:endPar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endParaRPr>
          </a:p>
        </p:txBody>
      </p:sp>
      <p:sp>
        <p:nvSpPr>
          <p:cNvPr id="5" name="文本框 4"/>
          <p:cNvSpPr txBox="1"/>
          <p:nvPr/>
        </p:nvSpPr>
        <p:spPr>
          <a:xfrm>
            <a:off x="2334343" y="3662830"/>
            <a:ext cx="4676055" cy="306705"/>
          </a:xfrm>
          <a:prstGeom prst="rect">
            <a:avLst/>
          </a:prstGeom>
          <a:noFill/>
        </p:spPr>
        <p:txBody>
          <a:bodyPr wrap="square" rtlCol="0">
            <a:spAutoFit/>
          </a:bodyPr>
          <a:lstStyle/>
          <a:p>
            <a:pPr lvl="0" algn="dist">
              <a:defRPr/>
            </a:pPr>
            <a:r>
              <a:rPr lang="en-US" altLang="zh-CN" sz="1400" dirty="0">
                <a:solidFill>
                  <a:schemeClr val="bg1"/>
                </a:solidFill>
                <a:latin typeface="+mj-ea"/>
                <a:ea typeface="+mj-ea"/>
              </a:rPr>
              <a:t>SUMMARY AND PROSPECT</a:t>
            </a:r>
            <a:endParaRPr lang="zh-CN" altLang="en-US" sz="1100" spc="50" dirty="0">
              <a:solidFill>
                <a:schemeClr val="bg1"/>
              </a:solidFill>
              <a:latin typeface="+mj-ea"/>
              <a:ea typeface="+mj-ea"/>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6</a:t>
            </a:r>
            <a:endPar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SIX</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endParaRPr lang="zh-CN" altLang="en-US" dirty="0"/>
          </a:p>
        </p:txBody>
      </p:sp>
      <p:sp>
        <p:nvSpPr>
          <p:cNvPr id="3" name="灯片编号占位符 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47" name="î$ľïḋê"/>
          <p:cNvSpPr txBox="1"/>
          <p:nvPr>
            <p:custDataLst>
              <p:tags r:id="rId1"/>
            </p:custDataLst>
          </p:nvPr>
        </p:nvSpPr>
        <p:spPr>
          <a:xfrm>
            <a:off x="858520" y="981075"/>
            <a:ext cx="10737850" cy="1376680"/>
          </a:xfrm>
          <a:prstGeom prst="rect">
            <a:avLst/>
          </a:prstGeom>
          <a:noFill/>
        </p:spPr>
        <p:txBody>
          <a:bodyPr wrap="square" lIns="91440" tIns="45720" rIns="91440" bIns="45720" anchor="ctr" anchorCtr="0">
            <a:noAutofit/>
          </a:bodyPr>
          <a:lstStyle/>
          <a:p>
            <a:pPr>
              <a:lnSpc>
                <a:spcPct val="12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1</a:t>
            </a:r>
            <a:r>
              <a:rPr lang="zh-CN" altLang="en-US" sz="2000" dirty="0">
                <a:latin typeface="Times New Roman" panose="02020603050405020304" charset="0"/>
                <a:ea typeface="黑体" panose="02010609060101010101" charset="-122"/>
                <a:cs typeface="黑体" panose="02010609060101010101" charset="-122"/>
              </a:rPr>
              <a:t>）基于深度哈希学习的</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设计</a:t>
            </a:r>
            <a:endParaRPr lang="zh-CN" altLang="en-US" sz="2000" dirty="0">
              <a:latin typeface="Times New Roman" panose="02020603050405020304" charset="0"/>
              <a:ea typeface="黑体" panose="02010609060101010101" charset="-122"/>
              <a:cs typeface="黑体" panose="02010609060101010101" charset="-122"/>
            </a:endParaRPr>
          </a:p>
          <a:p>
            <a:pPr indent="457200">
              <a:lnSpc>
                <a:spcPct val="125000"/>
              </a:lnSpc>
            </a:pPr>
            <a:r>
              <a:rPr lang="zh-CN" altLang="en-US" sz="2000" dirty="0">
                <a:latin typeface="Times New Roman" panose="02020603050405020304" charset="0"/>
                <a:ea typeface="黑体" panose="02010609060101010101" charset="-122"/>
                <a:cs typeface="黑体" panose="02010609060101010101" charset="-122"/>
              </a:rPr>
              <a:t>针对样本类别不平衡与哈希码判别性不足等问题，本文提出了</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模型。从五个重要部分</a:t>
            </a:r>
            <a:r>
              <a:rPr lang="zh-CN" altLang="en-US" sz="2000" dirty="0">
                <a:latin typeface="Times New Roman" panose="02020603050405020304" charset="0"/>
                <a:ea typeface="黑体" panose="02010609060101010101" charset="-122"/>
                <a:cs typeface="黑体" panose="02010609060101010101" charset="-122"/>
              </a:rPr>
              <a:t>展开：图像与位置编码层、多模态融合层、哈希层、损失函数以及检索层。</a:t>
            </a:r>
            <a:endParaRPr lang="zh-CN" altLang="en-US" sz="2000" dirty="0">
              <a:latin typeface="Times New Roman" panose="02020603050405020304" charset="0"/>
              <a:ea typeface="黑体" panose="02010609060101010101" charset="-122"/>
              <a:cs typeface="黑体" panose="02010609060101010101" charset="-122"/>
            </a:endParaRPr>
          </a:p>
        </p:txBody>
      </p:sp>
      <p:sp>
        <p:nvSpPr>
          <p:cNvPr id="42" name="îşḻíḓê"/>
          <p:cNvSpPr txBox="1"/>
          <p:nvPr>
            <p:custDataLst>
              <p:tags r:id="rId2"/>
            </p:custDataLst>
          </p:nvPr>
        </p:nvSpPr>
        <p:spPr>
          <a:xfrm>
            <a:off x="911859" y="4832349"/>
            <a:ext cx="9763126" cy="1183191"/>
          </a:xfrm>
          <a:prstGeom prst="rect">
            <a:avLst/>
          </a:prstGeom>
          <a:noFill/>
        </p:spPr>
        <p:txBody>
          <a:bodyPr wrap="square" lIns="91440" tIns="45720" rIns="91440" bIns="45720" anchor="ctr" anchorCtr="0">
            <a:noAutofit/>
          </a:bodyPr>
          <a:lstStyle/>
          <a:p>
            <a:pPr>
              <a:lnSpc>
                <a:spcPct val="13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3</a:t>
            </a:r>
            <a:r>
              <a:rPr lang="zh-CN" altLang="en-US" sz="2000" dirty="0">
                <a:latin typeface="Times New Roman" panose="02020603050405020304" charset="0"/>
                <a:ea typeface="黑体" panose="02010609060101010101" charset="-122"/>
                <a:cs typeface="黑体" panose="02010609060101010101" charset="-122"/>
              </a:rPr>
              <a:t>）古树名木多模态展示与检索系统的设计与实现</a:t>
            </a:r>
            <a:endParaRPr lang="zh-CN" altLang="en-US" sz="2000" dirty="0">
              <a:latin typeface="Times New Roman" panose="02020603050405020304" charset="0"/>
              <a:ea typeface="黑体" panose="02010609060101010101" charset="-122"/>
              <a:cs typeface="黑体" panose="02010609060101010101" charset="-122"/>
            </a:endParaRPr>
          </a:p>
          <a:p>
            <a:pPr indent="457200">
              <a:lnSpc>
                <a:spcPct val="135000"/>
              </a:lnSpc>
            </a:pPr>
            <a:r>
              <a:rPr lang="zh-CN" altLang="en-US" sz="2000" dirty="0">
                <a:latin typeface="Times New Roman" panose="02020603050405020304" charset="0"/>
                <a:ea typeface="黑体" panose="02010609060101010101" charset="-122"/>
                <a:cs typeface="黑体" panose="02010609060101010101" charset="-122"/>
              </a:rPr>
              <a:t>本文基于</a:t>
            </a:r>
            <a:r>
              <a:rPr lang="en-US" altLang="zh-CN" sz="2000" dirty="0">
                <a:latin typeface="Times New Roman" panose="02020603050405020304" charset="0"/>
                <a:ea typeface="黑体" panose="02010609060101010101" charset="-122"/>
                <a:cs typeface="黑体" panose="02010609060101010101" charset="-122"/>
              </a:rPr>
              <a:t>B/S</a:t>
            </a:r>
            <a:r>
              <a:rPr lang="zh-CN" altLang="en-US" sz="2000" dirty="0">
                <a:latin typeface="Times New Roman" panose="02020603050405020304" charset="0"/>
                <a:ea typeface="黑体" panose="02010609060101010101" charset="-122"/>
                <a:cs typeface="黑体" panose="02010609060101010101" charset="-122"/>
              </a:rPr>
              <a:t>架构设计并实现了古树名木多模态展示与检索系统，集成</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模型实现多模态数据检索及管理功能。系统主要由古树名木数据上传、古树名木信息查询、古树名木多模态检索以及用户管理四大功能构成</a:t>
            </a:r>
            <a:r>
              <a:rPr lang="zh-CN" altLang="zh-CN" sz="2000" dirty="0">
                <a:latin typeface="Times New Roman" panose="02020603050405020304" charset="0"/>
                <a:ea typeface="黑体" panose="02010609060101010101" charset="-122"/>
                <a:cs typeface="黑体" panose="02010609060101010101" charset="-122"/>
              </a:rPr>
              <a:t>。</a:t>
            </a:r>
            <a:endParaRPr sz="2000" dirty="0">
              <a:latin typeface="Times New Roman" panose="02020603050405020304" charset="0"/>
              <a:ea typeface="黑体" panose="02010609060101010101" charset="-122"/>
              <a:cs typeface="黑体" panose="02010609060101010101" charset="-122"/>
            </a:endParaRPr>
          </a:p>
        </p:txBody>
      </p:sp>
      <p:sp>
        <p:nvSpPr>
          <p:cNvPr id="6" name="î$ľïḋê"/>
          <p:cNvSpPr txBox="1"/>
          <p:nvPr>
            <p:custDataLst>
              <p:tags r:id="rId3"/>
            </p:custDataLst>
          </p:nvPr>
        </p:nvSpPr>
        <p:spPr>
          <a:xfrm>
            <a:off x="858519" y="2806701"/>
            <a:ext cx="9763126" cy="1244600"/>
          </a:xfrm>
          <a:prstGeom prst="rect">
            <a:avLst/>
          </a:prstGeom>
          <a:noFill/>
        </p:spPr>
        <p:txBody>
          <a:bodyPr wrap="square" lIns="91440" tIns="45720" rIns="91440" bIns="45720" anchor="ctr" anchorCtr="0">
            <a:noAutofit/>
          </a:bodyPr>
          <a:lstStyle/>
          <a:p>
            <a:pPr fontAlgn="auto">
              <a:lnSpc>
                <a:spcPct val="12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2</a:t>
            </a: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模型性能验证实验 </a:t>
            </a:r>
            <a:endParaRPr lang="zh-CN" altLang="en-US" sz="2000" dirty="0">
              <a:latin typeface="Times New Roman" panose="02020603050405020304" charset="0"/>
              <a:ea typeface="黑体" panose="02010609060101010101" charset="-122"/>
              <a:cs typeface="黑体" panose="02010609060101010101" charset="-122"/>
            </a:endParaRPr>
          </a:p>
          <a:p>
            <a:pPr indent="457200" fontAlgn="auto">
              <a:lnSpc>
                <a:spcPct val="125000"/>
              </a:lnSpc>
            </a:pPr>
            <a:r>
              <a:rPr lang="zh-CN" altLang="en-US" sz="2000" dirty="0">
                <a:latin typeface="Times New Roman" panose="02020603050405020304" charset="0"/>
                <a:ea typeface="黑体" panose="02010609060101010101" charset="-122"/>
                <a:cs typeface="黑体" panose="02010609060101010101" charset="-122"/>
              </a:rPr>
              <a:t>在</a:t>
            </a:r>
            <a:r>
              <a:rPr lang="en-US" altLang="zh-CN" sz="2000" dirty="0">
                <a:latin typeface="Times New Roman" panose="02020603050405020304" charset="0"/>
                <a:ea typeface="黑体" panose="02010609060101010101" charset="-122"/>
                <a:cs typeface="黑体" panose="02010609060101010101" charset="-122"/>
              </a:rPr>
              <a:t>iNaturalist 2018</a:t>
            </a:r>
            <a:r>
              <a:rPr lang="zh-CN" altLang="en-US" sz="2000" dirty="0">
                <a:latin typeface="Times New Roman" panose="02020603050405020304" charset="0"/>
                <a:ea typeface="黑体" panose="02010609060101010101" charset="-122"/>
                <a:cs typeface="黑体" panose="02010609060101010101" charset="-122"/>
              </a:rPr>
              <a:t>数据集上进行模型预训练、基线对比与消融实验，与</a:t>
            </a:r>
            <a:r>
              <a:rPr lang="en-US" altLang="zh-CN" sz="2000" dirty="0">
                <a:latin typeface="Times New Roman" panose="02020603050405020304" charset="0"/>
                <a:ea typeface="黑体" panose="02010609060101010101" charset="-122"/>
                <a:cs typeface="黑体" panose="02010609060101010101" charset="-122"/>
              </a:rPr>
              <a:t>HashNet、DCH</a:t>
            </a:r>
            <a:r>
              <a:rPr lang="zh-CN" altLang="en-US" sz="2000" dirty="0">
                <a:latin typeface="Times New Roman" panose="02020603050405020304" charset="0"/>
                <a:ea typeface="黑体" panose="02010609060101010101" charset="-122"/>
                <a:cs typeface="黑体" panose="02010609060101010101" charset="-122"/>
              </a:rPr>
              <a:t>和</a:t>
            </a:r>
            <a:r>
              <a:rPr lang="en-US" altLang="zh-CN" sz="2000" dirty="0">
                <a:latin typeface="Times New Roman" panose="02020603050405020304" charset="0"/>
                <a:ea typeface="黑体" panose="02010609060101010101" charset="-122"/>
                <a:cs typeface="黑体" panose="02010609060101010101" charset="-122"/>
              </a:rPr>
              <a:t>MDSH</a:t>
            </a:r>
            <a:r>
              <a:rPr lang="zh-CN" altLang="en-US" sz="2000" dirty="0">
                <a:latin typeface="Times New Roman" panose="02020603050405020304" charset="0"/>
                <a:ea typeface="黑体" panose="02010609060101010101" charset="-122"/>
                <a:cs typeface="黑体" panose="02010609060101010101" charset="-122"/>
              </a:rPr>
              <a:t>三个基线模型公平对比，以</a:t>
            </a:r>
            <a:r>
              <a:rPr lang="en-US" altLang="zh-CN" sz="2000" dirty="0">
                <a:latin typeface="Times New Roman" panose="02020603050405020304" charset="0"/>
                <a:ea typeface="黑体" panose="02010609060101010101" charset="-122"/>
                <a:cs typeface="黑体" panose="02010609060101010101" charset="-122"/>
              </a:rPr>
              <a:t>mAP、Recall@K</a:t>
            </a:r>
            <a:r>
              <a:rPr lang="zh-CN" altLang="en-US" sz="2000" dirty="0">
                <a:latin typeface="Times New Roman" panose="02020603050405020304" charset="0"/>
                <a:ea typeface="黑体" panose="02010609060101010101" charset="-122"/>
                <a:cs typeface="黑体" panose="02010609060101010101" charset="-122"/>
              </a:rPr>
              <a:t>和</a:t>
            </a:r>
            <a:r>
              <a:rPr lang="en-US" altLang="zh-CN" sz="2000" dirty="0">
                <a:latin typeface="Times New Roman" panose="02020603050405020304" charset="0"/>
                <a:ea typeface="黑体" panose="02010609060101010101" charset="-122"/>
                <a:cs typeface="黑体" panose="02010609060101010101" charset="-122"/>
              </a:rPr>
              <a:t>Precision@K</a:t>
            </a:r>
            <a:r>
              <a:rPr lang="zh-CN" altLang="en-US" sz="2000" dirty="0">
                <a:latin typeface="Times New Roman" panose="02020603050405020304" charset="0"/>
                <a:ea typeface="黑体" panose="02010609060101010101" charset="-122"/>
                <a:cs typeface="黑体" panose="02010609060101010101" charset="-122"/>
              </a:rPr>
              <a:t>验证模型有效性；在自建</a:t>
            </a:r>
            <a:r>
              <a:rPr lang="en-US" altLang="zh-CN" sz="2000" dirty="0">
                <a:latin typeface="Times New Roman" panose="02020603050405020304" charset="0"/>
                <a:ea typeface="黑体" panose="02010609060101010101" charset="-122"/>
                <a:cs typeface="黑体" panose="02010609060101010101" charset="-122"/>
              </a:rPr>
              <a:t>BFATH</a:t>
            </a:r>
            <a:r>
              <a:rPr lang="zh-CN" altLang="en-US" sz="2000" dirty="0">
                <a:latin typeface="Times New Roman" panose="02020603050405020304" charset="0"/>
                <a:ea typeface="黑体" panose="02010609060101010101" charset="-122"/>
                <a:cs typeface="黑体" panose="02010609060101010101" charset="-122"/>
              </a:rPr>
              <a:t>数据集上进行领域微调与系统演示验证。</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在</a:t>
            </a:r>
            <a:r>
              <a:rPr lang="en-US" altLang="zh-CN" sz="2000" dirty="0">
                <a:latin typeface="Times New Roman" panose="02020603050405020304" charset="0"/>
                <a:ea typeface="黑体" panose="02010609060101010101" charset="-122"/>
                <a:cs typeface="黑体" panose="02010609060101010101" charset="-122"/>
              </a:rPr>
              <a:t>iNaturalist 2018</a:t>
            </a:r>
            <a:r>
              <a:rPr lang="zh-CN" altLang="en-US" sz="2000" dirty="0">
                <a:latin typeface="Times New Roman" panose="02020603050405020304" charset="0"/>
                <a:ea typeface="黑体" panose="02010609060101010101" charset="-122"/>
                <a:cs typeface="黑体" panose="02010609060101010101" charset="-122"/>
              </a:rPr>
              <a:t>上取得</a:t>
            </a:r>
            <a:r>
              <a:rPr lang="en-US" altLang="zh-CN" sz="2000" dirty="0">
                <a:latin typeface="Times New Roman" panose="02020603050405020304" charset="0"/>
                <a:ea typeface="黑体" panose="02010609060101010101" charset="-122"/>
                <a:cs typeface="黑体" panose="02010609060101010101" charset="-122"/>
              </a:rPr>
              <a:t>mAP 0.741，</a:t>
            </a:r>
            <a:r>
              <a:rPr lang="zh-CN" altLang="en-US" sz="2000" dirty="0">
                <a:latin typeface="Times New Roman" panose="02020603050405020304" charset="0"/>
                <a:ea typeface="黑体" panose="02010609060101010101" charset="-122"/>
                <a:cs typeface="黑体" panose="02010609060101010101" charset="-122"/>
              </a:rPr>
              <a:t>优于最优基线</a:t>
            </a:r>
            <a:r>
              <a:rPr lang="en-US" altLang="zh-CN" sz="2000" dirty="0">
                <a:latin typeface="Times New Roman" panose="02020603050405020304" charset="0"/>
                <a:ea typeface="黑体" panose="02010609060101010101" charset="-122"/>
                <a:cs typeface="黑体" panose="02010609060101010101" charset="-122"/>
              </a:rPr>
              <a:t>MDSH 5.6</a:t>
            </a:r>
            <a:r>
              <a:rPr lang="zh-CN" altLang="en-US" sz="2000" dirty="0">
                <a:latin typeface="Times New Roman" panose="02020603050405020304" charset="0"/>
                <a:ea typeface="黑体" panose="02010609060101010101" charset="-122"/>
                <a:cs typeface="黑体" panose="02010609060101010101" charset="-122"/>
              </a:rPr>
              <a:t>个百分点，验证了模型在古树名木多模态检索任务中的有效性与优越性。</a:t>
            </a:r>
            <a:endParaRPr lang="zh-CN" altLang="en-US" sz="2000" dirty="0">
              <a:latin typeface="Times New Roman" panose="02020603050405020304" charset="0"/>
              <a:ea typeface="黑体" panose="02010609060101010101" charset="-122"/>
              <a:cs typeface="黑体" panose="02010609060101010101" charset="-122"/>
            </a:endParaRPr>
          </a:p>
        </p:txBody>
      </p:sp>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展望</a:t>
            </a:r>
            <a:endParaRPr lang="zh-CN" altLang="en-US" dirty="0"/>
          </a:p>
        </p:txBody>
      </p:sp>
      <p:sp>
        <p:nvSpPr>
          <p:cNvPr id="3" name="灯片编号占位符 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47" name="î$ľïḋê"/>
          <p:cNvSpPr txBox="1"/>
          <p:nvPr>
            <p:custDataLst>
              <p:tags r:id="rId1"/>
            </p:custDataLst>
          </p:nvPr>
        </p:nvSpPr>
        <p:spPr>
          <a:xfrm>
            <a:off x="736600" y="1075690"/>
            <a:ext cx="10601325" cy="5428615"/>
          </a:xfrm>
          <a:prstGeom prst="rect">
            <a:avLst/>
          </a:prstGeom>
          <a:noFill/>
        </p:spPr>
        <p:txBody>
          <a:bodyPr wrap="square" lIns="91440" tIns="45720" rIns="91440" bIns="45720" anchor="ctr" anchorCtr="0">
            <a:noAutofit/>
          </a:bodyPr>
          <a:lstStyle/>
          <a:p>
            <a:pPr>
              <a:lnSpc>
                <a:spcPct val="12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1</a:t>
            </a:r>
            <a:r>
              <a:rPr lang="zh-CN" altLang="en-US" sz="2000" dirty="0">
                <a:latin typeface="Times New Roman" panose="02020603050405020304" charset="0"/>
                <a:ea typeface="黑体" panose="02010609060101010101" charset="-122"/>
                <a:cs typeface="黑体" panose="02010609060101010101" charset="-122"/>
              </a:rPr>
              <a:t>）</a:t>
            </a:r>
            <a:r>
              <a:rPr lang="zh-CN" altLang="en-US" sz="2000" dirty="0">
                <a:latin typeface="黑体" panose="02010609060101010101" charset="-122"/>
                <a:ea typeface="黑体" panose="02010609060101010101" charset="-122"/>
                <a:cs typeface="黑体" panose="02010609060101010101" charset="-122"/>
                <a:sym typeface="+mn-ea"/>
              </a:rPr>
              <a:t>模型层面，</a:t>
            </a:r>
            <a:r>
              <a:rPr lang="en-US" altLang="zh-CN" sz="2000" dirty="0">
                <a:latin typeface="黑体" panose="02010609060101010101" charset="-122"/>
                <a:ea typeface="黑体" panose="02010609060101010101" charset="-122"/>
                <a:cs typeface="黑体" panose="02010609060101010101" charset="-122"/>
                <a:sym typeface="+mn-ea"/>
              </a:rPr>
              <a:t>DHLM</a:t>
            </a:r>
            <a:r>
              <a:rPr lang="zh-CN" altLang="en-US" sz="2000" dirty="0">
                <a:latin typeface="黑体" panose="02010609060101010101" charset="-122"/>
                <a:ea typeface="黑体" panose="02010609060101010101" charset="-122"/>
                <a:cs typeface="黑体" panose="02010609060101010101" charset="-122"/>
                <a:sym typeface="+mn-ea"/>
              </a:rPr>
              <a:t>模型目前依赖监督学习与度量学习优化，后续可引入自监督预训练机制。</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r>
              <a:rPr lang="zh-CN" altLang="en-US" sz="2000" dirty="0">
                <a:latin typeface="Times New Roman" panose="02020603050405020304" charset="0"/>
                <a:ea typeface="黑体" panose="02010609060101010101" charset="-122"/>
                <a:cs typeface="黑体" panose="02010609060101010101" charset="-122"/>
                <a:sym typeface="+mn-ea"/>
              </a:rPr>
              <a:t>（</a:t>
            </a:r>
            <a:r>
              <a:rPr lang="en-US" altLang="zh-CN" sz="2000" dirty="0">
                <a:latin typeface="Times New Roman" panose="02020603050405020304" charset="0"/>
                <a:ea typeface="黑体" panose="02010609060101010101" charset="-122"/>
                <a:cs typeface="黑体" panose="02010609060101010101" charset="-122"/>
                <a:sym typeface="+mn-ea"/>
              </a:rPr>
              <a:t>2</a:t>
            </a:r>
            <a:r>
              <a:rPr lang="zh-CN" altLang="en-US" sz="2000" dirty="0">
                <a:latin typeface="Times New Roman" panose="02020603050405020304" charset="0"/>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融合机制层面，</a:t>
            </a:r>
            <a:r>
              <a:rPr lang="en-US" altLang="zh-CN" sz="2000" dirty="0">
                <a:latin typeface="黑体" panose="02010609060101010101" charset="-122"/>
                <a:ea typeface="黑体" panose="02010609060101010101" charset="-122"/>
                <a:cs typeface="黑体" panose="02010609060101010101" charset="-122"/>
                <a:sym typeface="+mn-ea"/>
              </a:rPr>
              <a:t>DHLM</a:t>
            </a:r>
            <a:r>
              <a:rPr lang="zh-CN" altLang="en-US" sz="2000" dirty="0">
                <a:latin typeface="黑体" panose="02010609060101010101" charset="-122"/>
                <a:ea typeface="黑体" panose="02010609060101010101" charset="-122"/>
                <a:cs typeface="黑体" panose="02010609060101010101" charset="-122"/>
                <a:sym typeface="+mn-ea"/>
              </a:rPr>
              <a:t>模型当前通过多路融合策略验证确定特征拼接为最优融合方案。后续可探索地理围栏显式编码或图神经网络建模空间邻接关系，进一步提升位置特征的判别性</a:t>
            </a:r>
            <a:r>
              <a:rPr lang="zh-CN" altLang="en-US" sz="2000" dirty="0">
                <a:latin typeface="黑体" panose="02010609060101010101" charset="-122"/>
                <a:ea typeface="黑体" panose="02010609060101010101" charset="-122"/>
                <a:cs typeface="黑体" panose="02010609060101010101" charset="-122"/>
                <a:sym typeface="+mn-ea"/>
              </a:rPr>
              <a:t>。</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r>
              <a:rPr lang="zh-CN" altLang="en-US" sz="2000" dirty="0">
                <a:latin typeface="Times New Roman" panose="02020603050405020304" charset="0"/>
                <a:ea typeface="黑体" panose="02010609060101010101" charset="-122"/>
                <a:cs typeface="黑体" panose="02010609060101010101" charset="-122"/>
                <a:sym typeface="+mn-ea"/>
              </a:rPr>
              <a:t>（</a:t>
            </a:r>
            <a:r>
              <a:rPr lang="en-US" altLang="zh-CN" sz="2000" dirty="0">
                <a:latin typeface="Times New Roman" panose="02020603050405020304" charset="0"/>
                <a:ea typeface="黑体" panose="02010609060101010101" charset="-122"/>
                <a:cs typeface="黑体" panose="02010609060101010101" charset="-122"/>
                <a:sym typeface="+mn-ea"/>
              </a:rPr>
              <a:t>3</a:t>
            </a:r>
            <a:r>
              <a:rPr lang="zh-CN" altLang="en-US" sz="2000" dirty="0">
                <a:latin typeface="Times New Roman" panose="02020603050405020304" charset="0"/>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实验验证层面，本文采用固定随机种子（</a:t>
            </a:r>
            <a:r>
              <a:rPr lang="en-US" altLang="zh-CN" sz="2000" dirty="0">
                <a:latin typeface="黑体" panose="02010609060101010101" charset="-122"/>
                <a:ea typeface="黑体" panose="02010609060101010101" charset="-122"/>
                <a:cs typeface="黑体" panose="02010609060101010101" charset="-122"/>
                <a:sym typeface="+mn-ea"/>
              </a:rPr>
              <a:t>seed=42）</a:t>
            </a:r>
            <a:r>
              <a:rPr lang="zh-CN" altLang="en-US" sz="2000" dirty="0">
                <a:latin typeface="黑体" panose="02010609060101010101" charset="-122"/>
                <a:ea typeface="黑体" panose="02010609060101010101" charset="-122"/>
                <a:cs typeface="黑体" panose="02010609060101010101" charset="-122"/>
                <a:sym typeface="+mn-ea"/>
              </a:rPr>
              <a:t>下的单次运行并报告结果，核心结论已通过预实验多次验证。在更大规模数据集上开展多随机种子重复实验，增强统计稳健性。</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r>
              <a:rPr lang="zh-CN" altLang="en-US" sz="2000" dirty="0">
                <a:latin typeface="Times New Roman" panose="02020603050405020304" charset="0"/>
                <a:ea typeface="黑体" panose="02010609060101010101" charset="-122"/>
                <a:cs typeface="黑体" panose="02010609060101010101" charset="-122"/>
                <a:sym typeface="+mn-ea"/>
              </a:rPr>
              <a:t>（</a:t>
            </a:r>
            <a:r>
              <a:rPr lang="en-US" altLang="zh-CN" sz="2000" dirty="0">
                <a:latin typeface="Times New Roman" panose="02020603050405020304" charset="0"/>
                <a:ea typeface="黑体" panose="02010609060101010101" charset="-122"/>
                <a:cs typeface="黑体" panose="02010609060101010101" charset="-122"/>
                <a:sym typeface="+mn-ea"/>
              </a:rPr>
              <a:t>4</a:t>
            </a:r>
            <a:r>
              <a:rPr lang="zh-CN" altLang="en-US" sz="2000" dirty="0">
                <a:latin typeface="Times New Roman" panose="02020603050405020304" charset="0"/>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系统层面，当前古树名木多模态展示与检索系统仍依赖云端处理，未来可结合模型轻量化技术与哈希码固有的存储优势，实现模型在园林移动终端或无人机采集设备上的边缘部署。</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endParaRPr lang="zh-CN" altLang="en-US" sz="2000" dirty="0">
              <a:latin typeface="Times New Roman" panose="02020603050405020304" charset="0"/>
              <a:ea typeface="黑体" panose="02010609060101010101" charset="-122"/>
              <a:cs typeface="黑体" panose="02010609060101010101" charset="-122"/>
              <a:sym typeface="+mn-ea"/>
            </a:endParaRPr>
          </a:p>
          <a:p>
            <a:pPr>
              <a:lnSpc>
                <a:spcPct val="125000"/>
              </a:lnSpc>
            </a:pPr>
            <a:endParaRPr lang="zh-CN" altLang="en-US" sz="2000" dirty="0">
              <a:latin typeface="Times New Roman" panose="02020603050405020304" charset="0"/>
              <a:ea typeface="黑体" panose="02010609060101010101" charset="-122"/>
              <a:cs typeface="黑体" panose="02010609060101010101" charset="-122"/>
            </a:endParaRPr>
          </a:p>
          <a:p>
            <a:pPr>
              <a:lnSpc>
                <a:spcPct val="125000"/>
              </a:lnSpc>
            </a:pP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endParaRPr lang="zh-CN" altLang="en-US" sz="2000" dirty="0">
              <a:latin typeface="Times New Roman" panose="02020603050405020304" charset="0"/>
              <a:ea typeface="黑体" panose="02010609060101010101" charset="-122"/>
              <a:cs typeface="黑体" panose="02010609060101010101" charset="-122"/>
            </a:endParaRPr>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0" y="-2"/>
            <a:ext cx="12204408" cy="6858002"/>
            <a:chOff x="0" y="-2"/>
            <a:chExt cx="12204408" cy="6858002"/>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0" y="-1"/>
              <a:ext cx="3133344" cy="685800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6946" y="-2"/>
              <a:ext cx="3129516" cy="685800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0064" y="0"/>
              <a:ext cx="3327985" cy="6858000"/>
            </a:xfrm>
            <a:prstGeom prst="rect">
              <a:avLst/>
            </a:prstGeom>
          </p:spPr>
        </p:pic>
        <p:pic>
          <p:nvPicPr>
            <p:cNvPr id="16" name="图片 15" descr="图片包含 游戏机, 照片, 不同, 建筑&#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01651" y="-1"/>
              <a:ext cx="3202757" cy="6858000"/>
            </a:xfrm>
            <a:prstGeom prst="rect">
              <a:avLst/>
            </a:prstGeom>
          </p:spPr>
        </p:pic>
      </p:grpSp>
      <p:sp>
        <p:nvSpPr>
          <p:cNvPr id="6" name="矩形 5"/>
          <p:cNvSpPr/>
          <p:nvPr/>
        </p:nvSpPr>
        <p:spPr>
          <a:xfrm>
            <a:off x="-1" y="0"/>
            <a:ext cx="12192001" cy="6857997"/>
          </a:xfrm>
          <a:prstGeom prst="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descr="图片包含 游戏机, 房间, 食物, 画&#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2471" t="12395" r="12348" b="12794"/>
          <a:stretch>
            <a:fillRect/>
          </a:stretch>
        </p:blipFill>
        <p:spPr>
          <a:xfrm>
            <a:off x="10377714" y="412531"/>
            <a:ext cx="1318986" cy="1312482"/>
          </a:xfrm>
          <a:prstGeom prst="ellipse">
            <a:avLst/>
          </a:prstGeom>
        </p:spPr>
      </p:pic>
      <p:sp>
        <p:nvSpPr>
          <p:cNvPr id="3" name="灯片编号占位符 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21" name="矩形 20"/>
          <p:cNvSpPr/>
          <p:nvPr/>
        </p:nvSpPr>
        <p:spPr>
          <a:xfrm>
            <a:off x="0" y="1917290"/>
            <a:ext cx="12192000" cy="3023420"/>
          </a:xfrm>
          <a:prstGeom prst="rect">
            <a:avLst/>
          </a:prstGeom>
          <a:solidFill>
            <a:srgbClr val="9BB0A5">
              <a:alpha val="80000"/>
            </a:srgbClr>
          </a:solidFill>
          <a:ln>
            <a:noFill/>
          </a:ln>
          <a:effectLst>
            <a:outerShdw blurRad="3175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a:ea typeface="思源黑体 CN Light"/>
              <a:cs typeface="+mn-cs"/>
            </a:endParaRPr>
          </a:p>
        </p:txBody>
      </p:sp>
      <p:sp>
        <p:nvSpPr>
          <p:cNvPr id="27" name="文本框 26"/>
          <p:cNvSpPr txBox="1"/>
          <p:nvPr/>
        </p:nvSpPr>
        <p:spPr>
          <a:xfrm>
            <a:off x="1610995" y="2580640"/>
            <a:ext cx="9626600" cy="19380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rPr>
              <a:t>汇报完毕 </a:t>
            </a:r>
            <a:endPar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rPr>
              <a:t>请老师们批评指正</a:t>
            </a:r>
            <a:endPar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endParaRPr>
          </a:p>
        </p:txBody>
      </p:sp>
    </p:spTree>
  </p:cSld>
  <p:clrMapOvr>
    <a:masterClrMapping/>
  </p:clrMapOvr>
</p:sld>
</file>

<file path=ppt/tags/tag1.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2.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3.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4.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5.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6.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49_5*a*1"/>
  <p:tag name="KSO_WM_TEMPLATE_CATEGORY" val="diagram"/>
  <p:tag name="KSO_WM_TEMPLATE_INDEX" val="2023174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5"/>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749_1*l_i*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1749_1*l_i*1_2"/>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1749_1*l_i*1_3"/>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1749_1*l_i*1_5"/>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gradient&quot;:[{&quot;brightness&quot;:0.800000011920929,&quot;colorType&quot;:1,&quot;foreColorIndex&quot;:5,&quot;pos&quot;:0,&quot;transparency&quot;:0},{&quot;brightness&quot;:0,&quot;colorType&quot;:1,&quot;foreColorIndex&quot;:5,&quot;pos&quot;:0.660000026226043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1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749_1*l_h_f*1_1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正文，文字是您思想的提炼，请尽量言简意赅的阐述观点"/>
  <p:tag name="KSO_WM_UNIT_TEXT_FILL_FORE_SCHEMECOLOR_INDEX" val="1"/>
  <p:tag name="KSO_WM_UNIT_TEXT_FILL_TYPE" val="1"/>
  <p:tag name="KSO_WM_UNIT_USESOURCEFORMAT_APPLY" val="1"/>
</p:tagLst>
</file>

<file path=ppt/tags/tag1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749_1*l_h_a*1_1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1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749_1*l_h_f*1_2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1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749_1*l_h_a*1_2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16.xml><?xml version="1.0" encoding="utf-8"?>
<p:tagLst xmlns:p="http://schemas.openxmlformats.org/presentationml/2006/main">
  <p:tag name="KSO_WM_UNIT_VALUE" val="350*350"/>
  <p:tag name="KSO_WM_UNIT_HIGHLIGHT" val="0"/>
  <p:tag name="KSO_WM_UNIT_COMPATIBLE" val="0"/>
  <p:tag name="KSO_WM_UNIT_DIAGRAM_ISNUMVISUAL" val="0"/>
  <p:tag name="KSO_WM_UNIT_DIAGRAM_ISREFERUNIT" val="0"/>
  <p:tag name="KSO_WM_DIAGRAM_GROUP_CODE" val="l1-1"/>
  <p:tag name="KSO_WM_UNIT_TYPE" val="l_x"/>
  <p:tag name="KSO_WM_UNIT_INDEX" val="1_1"/>
  <p:tag name="KSO_WM_UNIT_ID" val="diagram20231749_1*l_x*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solid&quot;:{&quot;brightness&quot;:0,&quot;colorType&quot;:2,&quot;rgb&quot;:&quot;#ffffff&quot;,&quot;transparency&quot;:0},&quot;type&quot;:1},&quot;glow&quot;:{&quot;colorType&quot;:0},&quot;line&quot;:{&quot;type&quot;:0},&quot;shadow&quot;:{&quot;brightness&quot;:-0.5,&quot;colorType&quot;:1,&quot;foreColorIndex&quot;:5,&quot;transparency&quot;:0.6000000238418579},&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KSO_WM_UNIT_SHADOW_SCHEMECOLOR_INDEX" val="5"/>
  <p:tag name="KSO_WM_UNIT_USESOURCEFORMAT_APPLY" val="1"/>
</p:tagLst>
</file>

<file path=ppt/tags/tag1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749_1*l_h_f*1_1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415.6450672406342,&quot;left&quot;:58.625433070866144,&quot;top&quot;:79.25669291338582,&quot;width&quot;:842.77456692913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正文，文字是您思想的提炼，请尽量言简意赅的阐述观点"/>
  <p:tag name="KSO_WM_UNIT_TEXT_FILL_FORE_SCHEMECOLOR_INDEX" val="1"/>
  <p:tag name="KSO_WM_UNIT_TEXT_FILL_TYPE" val="1"/>
  <p:tag name="KSO_WM_UNIT_USESOURCEFORMAT_APPLY" val="1"/>
</p:tagLst>
</file>

<file path=ppt/tags/tag1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749_1*l_h_a*1_1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415.6450672406342,&quot;left&quot;:58.625433070866144,&quot;top&quot;:79.25669291338582,&quot;width&quot;:842.7745669291338}"/>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FILL_TYPE" val="3"/>
  <p:tag name="KSO_WM_UNIT_TEXT_FILL_FORE_SCHEMECOLOR_INDEX" val="1"/>
  <p:tag name="KSO_WM_UNIT_TEXT_FILL_TYPE" val="1"/>
  <p:tag name="KSO_WM_UNIT_USESOURCEFORMAT_APPLY" val="1"/>
</p:tagLst>
</file>

<file path=ppt/tags/tag19.xml><?xml version="1.0" encoding="utf-8"?>
<p:tagLst xmlns:p="http://schemas.openxmlformats.org/presentationml/2006/main">
  <p:tag name="KSO_WM_SLIDE_ID" val="diagram20231749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749"/>
  <p:tag name="KSO_WM_SLIDE_TYPE" val="text"/>
  <p:tag name="KSO_WM_SLIDE_SUBTYPE" val="diag"/>
  <p:tag name="KSO_WM_SLIDE_SIZE" val="803.95*342.241"/>
  <p:tag name="KSO_WM_SLIDE_POSITION" val="78.0026*154.326"/>
  <p:tag name="KSO_WM_SLIDE_LAYOUT" val="a_l"/>
  <p:tag name="KSO_WM_SLIDE_LAYOUT_CNT" val="1_1"/>
  <p:tag name="KSO_WM_SPECIAL_SOURCE" val="bdnull"/>
  <p:tag name="KSO_WM_DIAGRAM_GROUP_CODE" val="l1-1"/>
  <p:tag name="KSO_WM_SLIDE_DIAGTYPE" val="l"/>
</p:tagLst>
</file>

<file path=ppt/tags/tag2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49_5*a*1"/>
  <p:tag name="KSO_WM_TEMPLATE_CATEGORY" val="diagram"/>
  <p:tag name="KSO_WM_TEMPLATE_INDEX" val="2023174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5"/>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749_1*l_i*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1749_1*l_i*1_2"/>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1749_1*l_i*1_3"/>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1749_1*l_i*1_4"/>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gradient&quot;:[{&quot;brightness&quot;:0.800000011920929,&quot;colorType&quot;:1,&quot;foreColorIndex&quot;:5,&quot;pos&quot;:0.8399999737739563,&quot;transparency&quot;:1},{&quot;brightness&quot;:0.800000011920929,&quot;colorType&quot;:1,&quot;foreColorIndex&quot;:5,&quot;pos&quot;:0.1599999964237213,&quot;transparency&quot;:1},{&quot;brightness&quot;:0.4000000059604645,&quot;colorType&quot;:1,&quot;foreColorIndex&quot;:5,&quot;pos&quot;:1,&quot;transparency&quot;:0.5},{&quot;brightness&quot;:0.4000000059604645,&quot;colorType&quot;:1,&quot;foreColorIndex&quot;:5,&quot;pos&quot;:0,&quot;transparency&quot;:0.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1749_1*l_i*1_5"/>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gradient&quot;:[{&quot;brightness&quot;:0.800000011920929,&quot;colorType&quot;:1,&quot;foreColorIndex&quot;:5,&quot;pos&quot;:0,&quot;transparency&quot;:0},{&quot;brightness&quot;:0,&quot;colorType&quot;:1,&quot;foreColorIndex&quot;:5,&quot;pos&quot;:0.660000026226043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749_1*l_h_f*1_1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正文，文字是您思想的提炼，请尽量言简意赅的阐述观点"/>
  <p:tag name="KSO_WM_UNIT_TEXT_FILL_FORE_SCHEMECOLOR_INDEX" val="1"/>
  <p:tag name="KSO_WM_UNIT_TEXT_FILL_TYPE" val="1"/>
  <p:tag name="KSO_WM_UNIT_USESOURCEFORMAT_APPLY" val="1"/>
</p:tagLst>
</file>

<file path=ppt/tags/tag2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749_1*l_h_a*1_1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2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749_1*l_h_f*1_2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2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749_1*l_h_a*1_2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30.xml><?xml version="1.0" encoding="utf-8"?>
<p:tagLst xmlns:p="http://schemas.openxmlformats.org/presentationml/2006/main">
  <p:tag name="KSO_WM_UNIT_VALUE" val="350*350"/>
  <p:tag name="KSO_WM_UNIT_HIGHLIGHT" val="0"/>
  <p:tag name="KSO_WM_UNIT_COMPATIBLE" val="0"/>
  <p:tag name="KSO_WM_UNIT_DIAGRAM_ISNUMVISUAL" val="0"/>
  <p:tag name="KSO_WM_UNIT_DIAGRAM_ISREFERUNIT" val="0"/>
  <p:tag name="KSO_WM_DIAGRAM_GROUP_CODE" val="l1-1"/>
  <p:tag name="KSO_WM_UNIT_TYPE" val="l_x"/>
  <p:tag name="KSO_WM_UNIT_INDEX" val="1_1"/>
  <p:tag name="KSO_WM_UNIT_ID" val="diagram20231749_1*l_x*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solid&quot;:{&quot;brightness&quot;:0,&quot;colorType&quot;:2,&quot;rgb&quot;:&quot;#ffffff&quot;,&quot;transparency&quot;:0},&quot;type&quot;:1},&quot;glow&quot;:{&quot;colorType&quot;:0},&quot;line&quot;:{&quot;type&quot;:0},&quot;shadow&quot;:{&quot;brightness&quot;:-0.5,&quot;colorType&quot;:1,&quot;foreColorIndex&quot;:5,&quot;transparency&quot;:0.6000000238418579},&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KSO_WM_UNIT_SHADOW_SCHEMECOLOR_INDEX" val="5"/>
  <p:tag name="KSO_WM_UNIT_USESOURCEFORMAT_APPLY" val="1"/>
</p:tagLst>
</file>

<file path=ppt/tags/tag31.xml><?xml version="1.0" encoding="utf-8"?>
<p:tagLst xmlns:p="http://schemas.openxmlformats.org/presentationml/2006/main">
  <p:tag name="KSO_WM_SLIDE_ID" val="diagram20231749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749"/>
  <p:tag name="KSO_WM_SLIDE_TYPE" val="text"/>
  <p:tag name="KSO_WM_SLIDE_SUBTYPE" val="diag"/>
  <p:tag name="KSO_WM_SLIDE_SIZE" val="803.95*342.241"/>
  <p:tag name="KSO_WM_SLIDE_POSITION" val="78.0026*154.326"/>
  <p:tag name="KSO_WM_SLIDE_LAYOUT" val="a_l"/>
  <p:tag name="KSO_WM_SLIDE_LAYOUT_CNT" val="1_1"/>
  <p:tag name="KSO_WM_SPECIAL_SOURCE" val="bdnull"/>
  <p:tag name="KSO_WM_DIAGRAM_GROUP_CODE" val="l1-1"/>
  <p:tag name="KSO_WM_SLIDE_DIAGTYPE" val="l"/>
</p:tagLst>
</file>

<file path=ppt/tags/tag3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3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2*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2*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2*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2*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2*l_h_f*1_3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5146_2*l_h_i*1_3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9.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4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1_1"/>
  <p:tag name="KSO_WM_TEMPLATE_CATEGORY" val="diagram"/>
  <p:tag name="KSO_WM_TEMPLATE_INDEX" val="20235161"/>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1_1"/>
  <p:tag name="KSO_WM_TEMPLATE_CATEGORY" val="diagram"/>
  <p:tag name="KSO_WM_TEMPLATE_INDEX" val="20235161"/>
  <p:tag name="KSO_WM_UNIT_LAYERLEVEL" val="1_1_1"/>
  <p:tag name="KSO_WM_TAG_VERSION" val="3.0"/>
  <p:tag name="KSO_WM_BEAUTIFY_FLAG" val="#wm#"/>
  <p:tag name="KSO_WM_UNIT_VALUE" val="51*5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2_1"/>
  <p:tag name="KSO_WM_TEMPLATE_CATEGORY" val="diagram"/>
  <p:tag name="KSO_WM_TEMPLATE_INDEX" val="20235161"/>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3_1"/>
  <p:tag name="KSO_WM_TEMPLATE_CATEGORY" val="diagram"/>
  <p:tag name="KSO_WM_TEMPLATE_INDEX" val="20235161"/>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4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61_2*l_h_f*1_2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4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61_2*l_h_f*1_3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3_2"/>
  <p:tag name="KSO_WM_TEMPLATE_CATEGORY" val="diagram"/>
  <p:tag name="KSO_WM_TEMPLATE_INDEX" val="20235161"/>
  <p:tag name="KSO_WM_UNIT_LAYERLEVEL" val="1_1_1"/>
  <p:tag name="KSO_WM_TAG_VERSION" val="3.0"/>
  <p:tag name="KSO_WM_BEAUTIFY_FLAG" val="#wm#"/>
  <p:tag name="KSO_WM_UNIT_TYPE" val="l_h_i"/>
  <p:tag name="KSO_WM_UNIT_INDEX" val="1_3_2"/>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solidLine&quot;:{&quot;brightness&quot;:0.6000000238418579,&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2_2"/>
  <p:tag name="KSO_WM_TEMPLATE_CATEGORY" val="diagram"/>
  <p:tag name="KSO_WM_TEMPLATE_INDEX" val="20235161"/>
  <p:tag name="KSO_WM_UNIT_LAYERLEVEL" val="1_1_1"/>
  <p:tag name="KSO_WM_TAG_VERSION" val="3.0"/>
  <p:tag name="KSO_WM_BEAUTIFY_FLAG" val="#wm#"/>
  <p:tag name="KSO_WM_UNIT_TYPE" val="l_h_i"/>
  <p:tag name="KSO_WM_UNIT_INDEX" val="1_2_2"/>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solidLine&quot;:{&quot;brightness&quot;:0.6000000238418579,&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52.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5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54.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5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56.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5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58.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5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0.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2.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4.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6.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7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7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72.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7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7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77.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7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1.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8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5.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8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9.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9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93.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94.xml><?xml version="1.0" encoding="utf-8"?>
<p:tagLst xmlns:p="http://schemas.openxmlformats.org/presentationml/2006/main">
  <p:tag name="ISLIDE.ICON" val="#375991;#368956;"/>
  <p:tag name="ISLIDE.DIAGRAM" val="#307247;#3288;"/>
</p:tagLst>
</file>

<file path=ppt/tags/tag95.xml><?xml version="1.0" encoding="utf-8"?>
<p:tagLst xmlns:p="http://schemas.openxmlformats.org/presentationml/2006/main">
  <p:tag name="ISLIDE.ICON" val="#375991;#368956;"/>
  <p:tag name="ISLIDE.DIAGRAM" val="#307247;#3288;"/>
</p:tagLst>
</file>

<file path=ppt/tags/tag96.xml><?xml version="1.0" encoding="utf-8"?>
<p:tagLst xmlns:p="http://schemas.openxmlformats.org/presentationml/2006/main">
  <p:tag name="ISLIDE.ICON" val="#375991;#368956;"/>
  <p:tag name="ISLIDE.DIAGRAM" val="#307247;#3288;"/>
</p:tagLst>
</file>

<file path=ppt/tags/tag97.xml><?xml version="1.0" encoding="utf-8"?>
<p:tagLst xmlns:p="http://schemas.openxmlformats.org/presentationml/2006/main">
  <p:tag name="ISLIDE.ICON" val="#375991;#368956;"/>
  <p:tag name="ISLIDE.DIAGRAM" val="#307247;#3288;"/>
</p:tagLst>
</file>

<file path=ppt/tags/tag98.xml><?xml version="1.0" encoding="utf-8"?>
<p:tagLst xmlns:p="http://schemas.openxmlformats.org/presentationml/2006/main">
  <p:tag name="ISLIDE.ICON" val="#375991;#368956;"/>
  <p:tag name="ISLIDE.DIAGRAM" val="#307247;#3288;"/>
</p:tagLst>
</file>

<file path=ppt/tags/tag99.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0.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1.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2.xml><?xml version="1.0" encoding="utf-8"?>
<p:tagLst xmlns:p="http://schemas.openxmlformats.org/presentationml/2006/main">
  <p:tag name="ISLIDE.DIAGRAM" val="#246779;"/>
  <p:tag name="ISLIDE.ICON" val="#381827;#381818;"/>
</p:tagLst>
</file>

<file path=ppt/tags/tag103.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4.xml><?xml version="1.0" encoding="utf-8"?>
<p:tagLst xmlns:p="http://schemas.openxmlformats.org/presentationml/2006/main">
  <p:tag name="ISLIDE.DIAGRAM" val="#246779;"/>
  <p:tag name="ISLIDE.ICON" val="#381827;#381818;"/>
</p:tagLst>
</file>

<file path=ppt/tags/tag105.xml><?xml version="1.0" encoding="utf-8"?>
<p:tagLst xmlns:p="http://schemas.openxmlformats.org/presentationml/2006/main">
  <p:tag name="ISLIDE.GUIDESSETTING" val="{&quot;Id&quot;:null,&quot;Name&quot;:&quot;适中&quot;,&quot;HeaderHeight&quot;:13.0,&quot;FooterHeight&quot;:6.0,&quot;SideMargin&quot;:4.0,&quot;TopMargin&quot;:0.0,&quot;BottomMargin&quot;:0.0,&quot;IntervalMargin&quot;:1.5,&quot;SettingType&quot;:&quot;System&quot;}"/>
</p:tagLst>
</file>

<file path=ppt/theme/theme1.xml><?xml version="1.0" encoding="utf-8"?>
<a:theme xmlns:a="http://schemas.openxmlformats.org/drawingml/2006/main" name="Office 主题​​">
  <a:themeElements>
    <a:clrScheme name="母校模板">
      <a:dk1>
        <a:sysClr val="windowText" lastClr="000000"/>
      </a:dk1>
      <a:lt1>
        <a:sysClr val="window" lastClr="FFFFFF"/>
      </a:lt1>
      <a:dk2>
        <a:srgbClr val="44546A"/>
      </a:dk2>
      <a:lt2>
        <a:srgbClr val="E7E6E6"/>
      </a:lt2>
      <a:accent1>
        <a:srgbClr val="16583D"/>
      </a:accent1>
      <a:accent2>
        <a:srgbClr val="394B41"/>
      </a:accent2>
      <a:accent3>
        <a:srgbClr val="9BB0A5"/>
      </a:accent3>
      <a:accent4>
        <a:srgbClr val="005478"/>
      </a:accent4>
      <a:accent5>
        <a:srgbClr val="3C86AD"/>
      </a:accent5>
      <a:accent6>
        <a:srgbClr val="7F7F7F"/>
      </a:accent6>
      <a:hlink>
        <a:srgbClr val="0563C1"/>
      </a:hlink>
      <a:folHlink>
        <a:srgbClr val="954F72"/>
      </a:folHlink>
    </a:clrScheme>
    <a:fontScheme name="自定义 2">
      <a:majorFont>
        <a:latin typeface="Arial Black"/>
        <a:ea typeface="思源宋体 CN Heavy"/>
        <a:cs typeface=""/>
      </a:majorFont>
      <a:minorFont>
        <a:latin typeface="Ari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6251</Words>
  <Application>WPS 演示</Application>
  <PresentationFormat>宽屏</PresentationFormat>
  <Paragraphs>351</Paragraphs>
  <Slides>33</Slides>
  <Notes>25</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33</vt:i4>
      </vt:variant>
    </vt:vector>
  </HeadingPairs>
  <TitlesOfParts>
    <vt:vector size="59" baseType="lpstr">
      <vt:lpstr>Arial</vt:lpstr>
      <vt:lpstr>宋体</vt:lpstr>
      <vt:lpstr>Wingdings</vt:lpstr>
      <vt:lpstr>Source Han Sans Light</vt:lpstr>
      <vt:lpstr>思源黑体 CN Light</vt:lpstr>
      <vt:lpstr>思源黑体 CN Light</vt:lpstr>
      <vt:lpstr>黑体</vt:lpstr>
      <vt:lpstr>Times New Roman</vt:lpstr>
      <vt:lpstr>思源宋体 Heavy</vt:lpstr>
      <vt:lpstr>Calibri Light</vt:lpstr>
      <vt:lpstr>等线</vt:lpstr>
      <vt:lpstr>微软雅黑</vt:lpstr>
      <vt:lpstr>苹方 常规</vt:lpstr>
      <vt:lpstr>Roboto Condensed</vt:lpstr>
      <vt:lpstr>等线 Light</vt:lpstr>
      <vt:lpstr>Arial Unicode MS</vt:lpstr>
      <vt:lpstr>思源宋体 CN Heavy</vt:lpstr>
      <vt:lpstr>Arial Black</vt:lpstr>
      <vt:lpstr>思源黑体 CN Normal</vt:lpstr>
      <vt:lpstr>Arial (正文 CS 字体)</vt:lpstr>
      <vt:lpstr>FFont-Family</vt:lpstr>
      <vt:lpstr>KSOF954951BB</vt:lpstr>
      <vt:lpstr>KSOF9549C61A</vt:lpstr>
      <vt:lpstr>KSOFE22CBF3B</vt:lpstr>
      <vt:lpstr>Verdana</vt:lpstr>
      <vt:lpstr>Office 主题​​</vt:lpstr>
      <vt:lpstr>PowerPoint 演示文稿</vt:lpstr>
      <vt:lpstr>PowerPoint 演示文稿</vt:lpstr>
      <vt:lpstr>PowerPoint 演示文稿</vt:lpstr>
      <vt:lpstr>研究背景</vt:lpstr>
      <vt:lpstr>研究意义</vt:lpstr>
      <vt:lpstr>PowerPoint 演示文稿</vt:lpstr>
      <vt:lpstr>研究现状</vt:lpstr>
      <vt:lpstr> </vt:lpstr>
      <vt:lpstr>研究内容</vt:lpstr>
      <vt:lpstr>研究内容-技术路线</vt:lpstr>
      <vt:lpstr>研究内容-DHLM</vt:lpstr>
      <vt:lpstr>研究内容-DHLM</vt:lpstr>
      <vt:lpstr>研究内容-DHLM</vt:lpstr>
      <vt:lpstr>研究内容-DHLM</vt:lpstr>
      <vt:lpstr>研究内容-DHLM</vt:lpstr>
      <vt:lpstr>研究内容-DHLM</vt:lpstr>
      <vt:lpstr> </vt:lpstr>
      <vt:lpstr>实验设计与分析</vt:lpstr>
      <vt:lpstr>实验设计与分析</vt:lpstr>
      <vt:lpstr>实验设计与分析</vt:lpstr>
      <vt:lpstr>实验设计与分析</vt:lpstr>
      <vt:lpstr>实验设计与分析</vt:lpstr>
      <vt:lpstr>实验设计与分析</vt:lpstr>
      <vt:lpstr>PowerPoint 演示文稿</vt:lpstr>
      <vt:lpstr>系统设计与实现</vt:lpstr>
      <vt:lpstr>系统设计与实现</vt:lpstr>
      <vt:lpstr>系统设计与实现</vt:lpstr>
      <vt:lpstr>系统设计与实现</vt:lpstr>
      <vt:lpstr>系统设计与实现</vt:lpstr>
      <vt:lpstr>PowerPoint 演示文稿</vt:lpstr>
      <vt:lpstr>总结</vt:lpstr>
      <vt:lpstr>展望</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P界达人</dc:title>
  <dc:creator>小美</dc:creator>
  <cp:keywords>51PPT模板网</cp:keywords>
  <dc:description>www.51pptmoban.com</dc:description>
  <cp:lastModifiedBy>小宋</cp:lastModifiedBy>
  <cp:revision>611</cp:revision>
  <dcterms:created xsi:type="dcterms:W3CDTF">2020-03-28T08:42:00Z</dcterms:created>
  <dcterms:modified xsi:type="dcterms:W3CDTF">2026-07-10T03:41:28Z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A53A87410F794C1996B39B90D4518223_13</vt:lpwstr>
  </property>
  <property fmtid="{D5CDD505-2E9C-101B-9397-08002B2CF9AE}" pid="3" name="KSOProductBuildVer">
    <vt:lpwstr>2052-12.1.0.26895</vt:lpwstr>
  </property>
</Properties>
</file>